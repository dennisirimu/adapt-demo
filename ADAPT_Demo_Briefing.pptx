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224E"/>
        </a:solidFill>
        <a:effectLst/>
      </p:bgPr>
    </p:bg>
    <p:spTree>
      <p:nvGrpSpPr>
        <p:cNvPr id="1" name=""/>
        <p:cNvGrpSpPr/>
        <p:nvPr/>
      </p:nvGrpSpPr>
      <p:grpSpPr/>
      <p:sp>
        <p:nvSpPr>
          <p:cNvPr id="2" name="Rectangle 1"/>
          <p:cNvSpPr/>
          <p:nvPr/>
        </p:nvSpPr>
        <p:spPr>
          <a:xfrm>
            <a:off x="411480" y="274320"/>
            <a:ext cx="384048" cy="384048"/>
          </a:xfrm>
          <a:prstGeom prst="roundRect">
            <a:avLst>
              <a:gd name="adj" fmla="val 20000"/>
            </a:avLst>
          </a:prstGeom>
          <a:solidFill>
            <a:srgbClr val="2B1A08"/>
          </a:solidFill>
          <a:ln w="1270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6888"/>
            <a:ext cx="384048" cy="384048"/>
          </a:xfrm>
          <a:prstGeom prst="rect">
            <a:avLst/>
          </a:prstGeom>
          <a:noFill/>
        </p:spPr>
        <p:txBody>
          <a:bodyPr wrap="square">
            <a:spAutoFit/>
          </a:bodyPr>
          <a:lstStyle/>
          <a:p>
            <a:pPr algn="ctr"/>
            <a:r>
              <a:rPr sz="1400" b="0">
                <a:solidFill>
                  <a:srgbClr val="FFFFFF"/>
                </a:solidFill>
                <a:latin typeface="DM Sans"/>
              </a:rPr>
              <a:t>🌍</a:t>
            </a:r>
          </a:p>
        </p:txBody>
      </p:sp>
      <p:sp>
        <p:nvSpPr>
          <p:cNvPr id="4" name="TextBox 3"/>
          <p:cNvSpPr txBox="1"/>
          <p:nvPr/>
        </p:nvSpPr>
        <p:spPr>
          <a:xfrm>
            <a:off x="850392" y="256032"/>
            <a:ext cx="1280160" cy="228600"/>
          </a:xfrm>
          <a:prstGeom prst="rect">
            <a:avLst/>
          </a:prstGeom>
          <a:noFill/>
        </p:spPr>
        <p:txBody>
          <a:bodyPr wrap="square">
            <a:spAutoFit/>
          </a:bodyPr>
          <a:lstStyle/>
          <a:p>
            <a:pPr algn="l"/>
            <a:r>
              <a:rPr sz="1300" b="1">
                <a:solidFill>
                  <a:srgbClr val="FFFFFF"/>
                </a:solidFill>
                <a:latin typeface="DM Sans"/>
              </a:rPr>
              <a:t>ADAPT</a:t>
            </a:r>
          </a:p>
        </p:txBody>
      </p:sp>
      <p:sp>
        <p:nvSpPr>
          <p:cNvPr id="5" name="TextBox 4"/>
          <p:cNvSpPr txBox="1"/>
          <p:nvPr/>
        </p:nvSpPr>
        <p:spPr>
          <a:xfrm>
            <a:off x="11155680" y="274320"/>
            <a:ext cx="822960" cy="274320"/>
          </a:xfrm>
          <a:prstGeom prst="rect">
            <a:avLst/>
          </a:prstGeom>
          <a:noFill/>
        </p:spPr>
        <p:txBody>
          <a:bodyPr wrap="none">
            <a:spAutoFit/>
          </a:bodyPr>
          <a:lstStyle/>
          <a:p>
            <a:pPr algn="r"/>
            <a:r>
              <a:rPr sz="1100" b="1">
                <a:solidFill>
                  <a:srgbClr val="FF7200"/>
                </a:solidFill>
                <a:latin typeface="DM Sans"/>
              </a:rPr>
              <a:t>01</a:t>
            </a:r>
            <a:r>
              <a:rPr sz="1100">
                <a:solidFill>
                  <a:srgbClr val="708299"/>
                </a:solidFill>
                <a:latin typeface="DM Sans"/>
              </a:rPr>
              <a:t xml:space="preserve"> / 12</a:t>
            </a:r>
          </a:p>
        </p:txBody>
      </p:sp>
      <p:sp>
        <p:nvSpPr>
          <p:cNvPr id="6" name="Rectangle 5"/>
          <p:cNvSpPr/>
          <p:nvPr/>
        </p:nvSpPr>
        <p:spPr>
          <a:xfrm>
            <a:off x="411480" y="804672"/>
            <a:ext cx="1918411" cy="256032"/>
          </a:xfrm>
          <a:prstGeom prst="roundRect">
            <a:avLst>
              <a:gd name="adj" fmla="val 40000"/>
            </a:avLst>
          </a:prstGeom>
          <a:solidFill>
            <a:srgbClr val="2B1A08"/>
          </a:solidFill>
          <a:ln w="9525">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4632" y="832104"/>
            <a:ext cx="1918411" cy="219456"/>
          </a:xfrm>
          <a:prstGeom prst="rect">
            <a:avLst/>
          </a:prstGeom>
          <a:noFill/>
        </p:spPr>
        <p:txBody>
          <a:bodyPr wrap="square">
            <a:spAutoFit/>
          </a:bodyPr>
          <a:lstStyle/>
          <a:p>
            <a:pPr algn="l"/>
            <a:r>
              <a:rPr sz="850" b="1">
                <a:solidFill>
                  <a:srgbClr val="FF7200"/>
                </a:solidFill>
                <a:latin typeface="DM Sans"/>
              </a:rPr>
              <a:t>● THE CURRENT REALITY</a:t>
            </a:r>
          </a:p>
        </p:txBody>
      </p:sp>
      <p:sp>
        <p:nvSpPr>
          <p:cNvPr id="8" name="TextBox 7"/>
          <p:cNvSpPr txBox="1"/>
          <p:nvPr/>
        </p:nvSpPr>
        <p:spPr>
          <a:xfrm>
            <a:off x="411480" y="1170432"/>
            <a:ext cx="11338560" cy="1280160"/>
          </a:xfrm>
          <a:prstGeom prst="rect">
            <a:avLst/>
          </a:prstGeom>
          <a:noFill/>
        </p:spPr>
        <p:txBody>
          <a:bodyPr wrap="square">
            <a:spAutoFit/>
          </a:bodyPr>
          <a:lstStyle/>
          <a:p>
            <a:r>
              <a:rPr sz="3200" b="1">
                <a:solidFill>
                  <a:srgbClr val="FFFFFF"/>
                </a:solidFill>
                <a:latin typeface="DM Sans"/>
              </a:rPr>
              <a:t xml:space="preserve">The data exists. </a:t>
            </a:r>
            <a:r>
              <a:rPr sz="3200" b="1">
                <a:solidFill>
                  <a:srgbClr val="FF7200"/>
                </a:solidFill>
                <a:latin typeface="DM Sans"/>
              </a:rPr>
              <a:t>It just isn't shared.</a:t>
            </a:r>
          </a:p>
        </p:txBody>
      </p:sp>
      <p:sp>
        <p:nvSpPr>
          <p:cNvPr id="9" name="TextBox 8"/>
          <p:cNvSpPr txBox="1"/>
          <p:nvPr/>
        </p:nvSpPr>
        <p:spPr>
          <a:xfrm>
            <a:off x="411480" y="2331720"/>
            <a:ext cx="11338560" cy="731520"/>
          </a:xfrm>
          <a:prstGeom prst="rect">
            <a:avLst/>
          </a:prstGeom>
          <a:noFill/>
        </p:spPr>
        <p:txBody>
          <a:bodyPr wrap="square">
            <a:spAutoFit/>
          </a:bodyPr>
          <a:lstStyle/>
          <a:p>
            <a:pPr algn="l"/>
            <a:r>
              <a:rPr sz="1150" b="0">
                <a:solidFill>
                  <a:srgbClr val="B0BDCC"/>
                </a:solidFill>
                <a:latin typeface="DM Sans"/>
              </a:rPr>
              <a:t>Every organisation in this demo already holds the data needed to execute cross-border trade. Identities are registered with national authorities. Documents live in government systems. Payments are processed through banks. But none of these systems talk to each other — creating delays, duplication and disputes at every handoff.</a:t>
            </a:r>
          </a:p>
        </p:txBody>
      </p:sp>
      <p:sp>
        <p:nvSpPr>
          <p:cNvPr id="10" name="Rectangle 9"/>
          <p:cNvSpPr/>
          <p:nvPr/>
        </p:nvSpPr>
        <p:spPr>
          <a:xfrm>
            <a:off x="411480" y="3200400"/>
            <a:ext cx="3566160" cy="2331720"/>
          </a:xfrm>
          <a:prstGeom prst="roundRect">
            <a:avLst>
              <a:gd name="adj" fmla="val 12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3328416"/>
            <a:ext cx="3566160" cy="384048"/>
          </a:xfrm>
          <a:prstGeom prst="rect">
            <a:avLst/>
          </a:prstGeom>
          <a:noFill/>
        </p:spPr>
        <p:txBody>
          <a:bodyPr wrap="square">
            <a:spAutoFit/>
          </a:bodyPr>
          <a:lstStyle/>
          <a:p>
            <a:pPr algn="ctr"/>
            <a:r>
              <a:rPr sz="2200" b="0">
                <a:solidFill>
                  <a:srgbClr val="FFFFFF"/>
                </a:solidFill>
                <a:latin typeface="DM Sans"/>
              </a:rPr>
              <a:t>🪪</a:t>
            </a:r>
          </a:p>
        </p:txBody>
      </p:sp>
      <p:sp>
        <p:nvSpPr>
          <p:cNvPr id="12" name="TextBox 11"/>
          <p:cNvSpPr txBox="1"/>
          <p:nvPr/>
        </p:nvSpPr>
        <p:spPr>
          <a:xfrm>
            <a:off x="502920" y="3767328"/>
            <a:ext cx="3383280" cy="274320"/>
          </a:xfrm>
          <a:prstGeom prst="rect">
            <a:avLst/>
          </a:prstGeom>
          <a:noFill/>
        </p:spPr>
        <p:txBody>
          <a:bodyPr wrap="square">
            <a:spAutoFit/>
          </a:bodyPr>
          <a:lstStyle/>
          <a:p>
            <a:pPr algn="ctr"/>
            <a:r>
              <a:rPr sz="1200" b="1">
                <a:solidFill>
                  <a:srgbClr val="FFFFFF"/>
                </a:solidFill>
                <a:latin typeface="DM Sans"/>
              </a:rPr>
              <a:t>Identities Exist</a:t>
            </a:r>
          </a:p>
        </p:txBody>
      </p:sp>
      <p:sp>
        <p:nvSpPr>
          <p:cNvPr id="13" name="TextBox 12"/>
          <p:cNvSpPr txBox="1"/>
          <p:nvPr/>
        </p:nvSpPr>
        <p:spPr>
          <a:xfrm>
            <a:off x="548640" y="4096512"/>
            <a:ext cx="3291840" cy="1097280"/>
          </a:xfrm>
          <a:prstGeom prst="rect">
            <a:avLst/>
          </a:prstGeom>
          <a:noFill/>
        </p:spPr>
        <p:txBody>
          <a:bodyPr wrap="square">
            <a:spAutoFit/>
          </a:bodyPr>
          <a:lstStyle/>
          <a:p>
            <a:pPr algn="l"/>
            <a:r>
              <a:rPr sz="950" b="0">
                <a:solidFill>
                  <a:srgbClr val="B0BDCC"/>
                </a:solidFill>
                <a:latin typeface="DM Sans"/>
              </a:rPr>
              <a:t>Every exporter, importer and customs authority has a legal registration — Business Registration Numbers, Tax IDs, licences — recorded in national government databases. But these registries are siloed. A Moroccan exporter cannot verify a Nigerian importer's credentials without going through manual, paper-based checks.</a:t>
            </a:r>
          </a:p>
        </p:txBody>
      </p:sp>
      <p:sp>
        <p:nvSpPr>
          <p:cNvPr id="14" name="Rectangle 13"/>
          <p:cNvSpPr/>
          <p:nvPr/>
        </p:nvSpPr>
        <p:spPr>
          <a:xfrm>
            <a:off x="548640" y="5239512"/>
            <a:ext cx="1371600" cy="219456"/>
          </a:xfrm>
          <a:prstGeom prst="roundRect">
            <a:avLst>
              <a:gd name="adj" fmla="val 10000"/>
            </a:avLst>
          </a:prstGeom>
          <a:solidFill>
            <a:srgbClr val="2B1010"/>
          </a:solidFill>
          <a:ln w="7620">
            <a:solidFill>
              <a:srgbClr val="7F1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 y="5257800"/>
            <a:ext cx="1325880" cy="201168"/>
          </a:xfrm>
          <a:prstGeom prst="rect">
            <a:avLst/>
          </a:prstGeom>
          <a:noFill/>
        </p:spPr>
        <p:txBody>
          <a:bodyPr wrap="square">
            <a:spAutoFit/>
          </a:bodyPr>
          <a:lstStyle/>
          <a:p>
            <a:pPr algn="l"/>
            <a:r>
              <a:rPr sz="800" b="1">
                <a:solidFill>
                  <a:srgbClr val="EF4444"/>
                </a:solidFill>
                <a:latin typeface="DM Sans"/>
              </a:rPr>
              <a:t>✕  Not shared</a:t>
            </a:r>
          </a:p>
        </p:txBody>
      </p:sp>
      <p:sp>
        <p:nvSpPr>
          <p:cNvPr id="16" name="Rectangle 15"/>
          <p:cNvSpPr/>
          <p:nvPr/>
        </p:nvSpPr>
        <p:spPr>
          <a:xfrm>
            <a:off x="4315968" y="3200400"/>
            <a:ext cx="3566160" cy="2331720"/>
          </a:xfrm>
          <a:prstGeom prst="roundRect">
            <a:avLst>
              <a:gd name="adj" fmla="val 12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15968" y="3328416"/>
            <a:ext cx="3566160" cy="384048"/>
          </a:xfrm>
          <a:prstGeom prst="rect">
            <a:avLst/>
          </a:prstGeom>
          <a:noFill/>
        </p:spPr>
        <p:txBody>
          <a:bodyPr wrap="square">
            <a:spAutoFit/>
          </a:bodyPr>
          <a:lstStyle/>
          <a:p>
            <a:pPr algn="ctr"/>
            <a:r>
              <a:rPr sz="2200" b="0">
                <a:solidFill>
                  <a:srgbClr val="FFFFFF"/>
                </a:solidFill>
                <a:latin typeface="DM Sans"/>
              </a:rPr>
              <a:t>📄</a:t>
            </a:r>
          </a:p>
        </p:txBody>
      </p:sp>
      <p:sp>
        <p:nvSpPr>
          <p:cNvPr id="18" name="TextBox 17"/>
          <p:cNvSpPr txBox="1"/>
          <p:nvPr/>
        </p:nvSpPr>
        <p:spPr>
          <a:xfrm>
            <a:off x="4407408" y="3767328"/>
            <a:ext cx="3383280" cy="274320"/>
          </a:xfrm>
          <a:prstGeom prst="rect">
            <a:avLst/>
          </a:prstGeom>
          <a:noFill/>
        </p:spPr>
        <p:txBody>
          <a:bodyPr wrap="square">
            <a:spAutoFit/>
          </a:bodyPr>
          <a:lstStyle/>
          <a:p>
            <a:pPr algn="ctr"/>
            <a:r>
              <a:rPr sz="1200" b="1">
                <a:solidFill>
                  <a:srgbClr val="FFFFFF"/>
                </a:solidFill>
                <a:latin typeface="DM Sans"/>
              </a:rPr>
              <a:t>Documents Exist</a:t>
            </a:r>
          </a:p>
        </p:txBody>
      </p:sp>
      <p:sp>
        <p:nvSpPr>
          <p:cNvPr id="19" name="TextBox 18"/>
          <p:cNvSpPr txBox="1"/>
          <p:nvPr/>
        </p:nvSpPr>
        <p:spPr>
          <a:xfrm>
            <a:off x="4453128" y="4096512"/>
            <a:ext cx="3291840" cy="1097280"/>
          </a:xfrm>
          <a:prstGeom prst="rect">
            <a:avLst/>
          </a:prstGeom>
          <a:noFill/>
        </p:spPr>
        <p:txBody>
          <a:bodyPr wrap="square">
            <a:spAutoFit/>
          </a:bodyPr>
          <a:lstStyle/>
          <a:p>
            <a:pPr algn="l"/>
            <a:r>
              <a:rPr sz="950" b="0">
                <a:solidFill>
                  <a:srgbClr val="B0BDCC"/>
                </a:solidFill>
                <a:latin typeface="DM Sans"/>
              </a:rPr>
              <a:t>Certificates of Origin, Export Declarations, Bills of Lading and Commercial Invoices are issued by government agencies and shipping lines every day. But each document lives in a different system — emailed as PDFs, re-keyed into portals, re-verified by every party in the chain independently.</a:t>
            </a:r>
          </a:p>
        </p:txBody>
      </p:sp>
      <p:sp>
        <p:nvSpPr>
          <p:cNvPr id="20" name="Rectangle 19"/>
          <p:cNvSpPr/>
          <p:nvPr/>
        </p:nvSpPr>
        <p:spPr>
          <a:xfrm>
            <a:off x="4453128" y="5239512"/>
            <a:ext cx="1371600" cy="219456"/>
          </a:xfrm>
          <a:prstGeom prst="roundRect">
            <a:avLst>
              <a:gd name="adj" fmla="val 10000"/>
            </a:avLst>
          </a:prstGeom>
          <a:solidFill>
            <a:srgbClr val="2B1010"/>
          </a:solidFill>
          <a:ln w="7620">
            <a:solidFill>
              <a:srgbClr val="7F1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5257800"/>
            <a:ext cx="1325880" cy="201168"/>
          </a:xfrm>
          <a:prstGeom prst="rect">
            <a:avLst/>
          </a:prstGeom>
          <a:noFill/>
        </p:spPr>
        <p:txBody>
          <a:bodyPr wrap="square">
            <a:spAutoFit/>
          </a:bodyPr>
          <a:lstStyle/>
          <a:p>
            <a:pPr algn="l"/>
            <a:r>
              <a:rPr sz="800" b="1">
                <a:solidFill>
                  <a:srgbClr val="EF4444"/>
                </a:solidFill>
                <a:latin typeface="DM Sans"/>
              </a:rPr>
              <a:t>✕  Not shared</a:t>
            </a:r>
          </a:p>
        </p:txBody>
      </p:sp>
      <p:sp>
        <p:nvSpPr>
          <p:cNvPr id="22" name="Rectangle 21"/>
          <p:cNvSpPr/>
          <p:nvPr/>
        </p:nvSpPr>
        <p:spPr>
          <a:xfrm>
            <a:off x="8211312" y="3200400"/>
            <a:ext cx="3566160" cy="2331720"/>
          </a:xfrm>
          <a:prstGeom prst="roundRect">
            <a:avLst>
              <a:gd name="adj" fmla="val 12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11312" y="3328416"/>
            <a:ext cx="3566160" cy="384048"/>
          </a:xfrm>
          <a:prstGeom prst="rect">
            <a:avLst/>
          </a:prstGeom>
          <a:noFill/>
        </p:spPr>
        <p:txBody>
          <a:bodyPr wrap="square">
            <a:spAutoFit/>
          </a:bodyPr>
          <a:lstStyle/>
          <a:p>
            <a:pPr algn="ctr"/>
            <a:r>
              <a:rPr sz="2200" b="0">
                <a:solidFill>
                  <a:srgbClr val="FFFFFF"/>
                </a:solidFill>
                <a:latin typeface="DM Sans"/>
              </a:rPr>
              <a:t>💳</a:t>
            </a:r>
          </a:p>
        </p:txBody>
      </p:sp>
      <p:sp>
        <p:nvSpPr>
          <p:cNvPr id="24" name="TextBox 23"/>
          <p:cNvSpPr txBox="1"/>
          <p:nvPr/>
        </p:nvSpPr>
        <p:spPr>
          <a:xfrm>
            <a:off x="8302752" y="3767328"/>
            <a:ext cx="3383280" cy="274320"/>
          </a:xfrm>
          <a:prstGeom prst="rect">
            <a:avLst/>
          </a:prstGeom>
          <a:noFill/>
        </p:spPr>
        <p:txBody>
          <a:bodyPr wrap="square">
            <a:spAutoFit/>
          </a:bodyPr>
          <a:lstStyle/>
          <a:p>
            <a:pPr algn="ctr"/>
            <a:r>
              <a:rPr sz="1200" b="1">
                <a:solidFill>
                  <a:srgbClr val="FFFFFF"/>
                </a:solidFill>
                <a:latin typeface="DM Sans"/>
              </a:rPr>
              <a:t>Finance Exists</a:t>
            </a:r>
          </a:p>
        </p:txBody>
      </p:sp>
      <p:sp>
        <p:nvSpPr>
          <p:cNvPr id="25" name="TextBox 24"/>
          <p:cNvSpPr txBox="1"/>
          <p:nvPr/>
        </p:nvSpPr>
        <p:spPr>
          <a:xfrm>
            <a:off x="8348472" y="4096512"/>
            <a:ext cx="3291840" cy="1097280"/>
          </a:xfrm>
          <a:prstGeom prst="rect">
            <a:avLst/>
          </a:prstGeom>
          <a:noFill/>
        </p:spPr>
        <p:txBody>
          <a:bodyPr wrap="square">
            <a:spAutoFit/>
          </a:bodyPr>
          <a:lstStyle/>
          <a:p>
            <a:pPr algn="l"/>
            <a:r>
              <a:rPr sz="950" b="0">
                <a:solidFill>
                  <a:srgbClr val="B0BDCC"/>
                </a:solidFill>
                <a:latin typeface="DM Sans"/>
              </a:rPr>
              <a:t>Letters of Credit, payment terms and trade finance instruments are already in use — processed through correspondent banking networks. But banks cannot automatically verify document compliance or trigger conditional release because they have no trusted access to the underlying trade documents.</a:t>
            </a:r>
          </a:p>
        </p:txBody>
      </p:sp>
      <p:sp>
        <p:nvSpPr>
          <p:cNvPr id="26" name="Rectangle 25"/>
          <p:cNvSpPr/>
          <p:nvPr/>
        </p:nvSpPr>
        <p:spPr>
          <a:xfrm>
            <a:off x="8348472" y="5239512"/>
            <a:ext cx="1371600" cy="219456"/>
          </a:xfrm>
          <a:prstGeom prst="roundRect">
            <a:avLst>
              <a:gd name="adj" fmla="val 10000"/>
            </a:avLst>
          </a:prstGeom>
          <a:solidFill>
            <a:srgbClr val="2B1010"/>
          </a:solidFill>
          <a:ln w="7620">
            <a:solidFill>
              <a:srgbClr val="7F1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75904" y="5257800"/>
            <a:ext cx="1325880" cy="201168"/>
          </a:xfrm>
          <a:prstGeom prst="rect">
            <a:avLst/>
          </a:prstGeom>
          <a:noFill/>
        </p:spPr>
        <p:txBody>
          <a:bodyPr wrap="square">
            <a:spAutoFit/>
          </a:bodyPr>
          <a:lstStyle/>
          <a:p>
            <a:pPr algn="l"/>
            <a:r>
              <a:rPr sz="800" b="1">
                <a:solidFill>
                  <a:srgbClr val="EF4444"/>
                </a:solidFill>
                <a:latin typeface="DM Sans"/>
              </a:rPr>
              <a:t>✕  Not shared</a:t>
            </a:r>
          </a:p>
        </p:txBody>
      </p:sp>
      <p:sp>
        <p:nvSpPr>
          <p:cNvPr id="28" name="Rectangle 27"/>
          <p:cNvSpPr/>
          <p:nvPr/>
        </p:nvSpPr>
        <p:spPr>
          <a:xfrm>
            <a:off x="411480" y="5650992"/>
            <a:ext cx="11365992" cy="713232"/>
          </a:xfrm>
          <a:prstGeom prst="roundRect">
            <a:avLst>
              <a:gd name="adj" fmla="val 10000"/>
            </a:avLst>
          </a:prstGeom>
          <a:solidFill>
            <a:srgbClr val="2B1A08"/>
          </a:solidFill>
          <a:ln w="9525">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 y="5705856"/>
            <a:ext cx="274320" cy="603504"/>
          </a:xfrm>
          <a:prstGeom prst="rect">
            <a:avLst/>
          </a:prstGeom>
          <a:noFill/>
        </p:spPr>
        <p:txBody>
          <a:bodyPr wrap="square">
            <a:spAutoFit/>
          </a:bodyPr>
          <a:lstStyle/>
          <a:p>
            <a:pPr algn="l"/>
            <a:r>
              <a:rPr sz="1600" b="0">
                <a:solidFill>
                  <a:srgbClr val="FFFFFF"/>
                </a:solidFill>
                <a:latin typeface="DM Sans"/>
              </a:rPr>
              <a:t>→</a:t>
            </a:r>
          </a:p>
        </p:txBody>
      </p:sp>
      <p:sp>
        <p:nvSpPr>
          <p:cNvPr id="30" name="TextBox 29"/>
          <p:cNvSpPr txBox="1"/>
          <p:nvPr/>
        </p:nvSpPr>
        <p:spPr>
          <a:xfrm>
            <a:off x="914400" y="5705856"/>
            <a:ext cx="10771632" cy="603504"/>
          </a:xfrm>
          <a:prstGeom prst="rect">
            <a:avLst/>
          </a:prstGeom>
          <a:noFill/>
        </p:spPr>
        <p:txBody>
          <a:bodyPr wrap="square">
            <a:spAutoFit/>
          </a:bodyPr>
          <a:lstStyle/>
          <a:p>
            <a:pPr algn="l"/>
            <a:r>
              <a:rPr sz="1000" b="0">
                <a:solidFill>
                  <a:srgbClr val="B0BDCC"/>
                </a:solidFill>
                <a:latin typeface="DM Sans"/>
              </a:rPr>
              <a:t>ADAPT does not create new data. It creates the permissioned, verified channel through which existing data can be shared — on the terms of the organisation that owns it, with a distributed ledger as the trust anchor.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224E"/>
        </a:solidFill>
        <a:effectLst/>
      </p:bgPr>
    </p:bg>
    <p:spTree>
      <p:nvGrpSpPr>
        <p:cNvPr id="1" name=""/>
        <p:cNvGrpSpPr/>
        <p:nvPr/>
      </p:nvGrpSpPr>
      <p:grpSpPr/>
      <p:sp>
        <p:nvSpPr>
          <p:cNvPr id="2" name="Rectangle 1"/>
          <p:cNvSpPr/>
          <p:nvPr/>
        </p:nvSpPr>
        <p:spPr>
          <a:xfrm>
            <a:off x="411480" y="274320"/>
            <a:ext cx="384048" cy="384048"/>
          </a:xfrm>
          <a:prstGeom prst="roundRect">
            <a:avLst>
              <a:gd name="adj" fmla="val 20000"/>
            </a:avLst>
          </a:prstGeom>
          <a:solidFill>
            <a:srgbClr val="2B1A08"/>
          </a:solidFill>
          <a:ln w="1270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6888"/>
            <a:ext cx="384048" cy="384048"/>
          </a:xfrm>
          <a:prstGeom prst="rect">
            <a:avLst/>
          </a:prstGeom>
          <a:noFill/>
        </p:spPr>
        <p:txBody>
          <a:bodyPr wrap="square">
            <a:spAutoFit/>
          </a:bodyPr>
          <a:lstStyle/>
          <a:p>
            <a:pPr algn="ctr"/>
            <a:r>
              <a:rPr sz="1400" b="0">
                <a:solidFill>
                  <a:srgbClr val="FFFFFF"/>
                </a:solidFill>
                <a:latin typeface="DM Sans"/>
              </a:rPr>
              <a:t>🌍</a:t>
            </a:r>
          </a:p>
        </p:txBody>
      </p:sp>
      <p:sp>
        <p:nvSpPr>
          <p:cNvPr id="4" name="TextBox 3"/>
          <p:cNvSpPr txBox="1"/>
          <p:nvPr/>
        </p:nvSpPr>
        <p:spPr>
          <a:xfrm>
            <a:off x="850392" y="256032"/>
            <a:ext cx="1280160" cy="228600"/>
          </a:xfrm>
          <a:prstGeom prst="rect">
            <a:avLst/>
          </a:prstGeom>
          <a:noFill/>
        </p:spPr>
        <p:txBody>
          <a:bodyPr wrap="square">
            <a:spAutoFit/>
          </a:bodyPr>
          <a:lstStyle/>
          <a:p>
            <a:pPr algn="l"/>
            <a:r>
              <a:rPr sz="1300" b="1">
                <a:solidFill>
                  <a:srgbClr val="FFFFFF"/>
                </a:solidFill>
                <a:latin typeface="DM Sans"/>
              </a:rPr>
              <a:t>ADAPT</a:t>
            </a:r>
          </a:p>
        </p:txBody>
      </p:sp>
      <p:sp>
        <p:nvSpPr>
          <p:cNvPr id="5" name="TextBox 4"/>
          <p:cNvSpPr txBox="1"/>
          <p:nvPr/>
        </p:nvSpPr>
        <p:spPr>
          <a:xfrm>
            <a:off x="11155680" y="274320"/>
            <a:ext cx="822960" cy="274320"/>
          </a:xfrm>
          <a:prstGeom prst="rect">
            <a:avLst/>
          </a:prstGeom>
          <a:noFill/>
        </p:spPr>
        <p:txBody>
          <a:bodyPr wrap="none">
            <a:spAutoFit/>
          </a:bodyPr>
          <a:lstStyle/>
          <a:p>
            <a:pPr algn="r"/>
            <a:r>
              <a:rPr sz="1100" b="1">
                <a:solidFill>
                  <a:srgbClr val="FF7200"/>
                </a:solidFill>
                <a:latin typeface="DM Sans"/>
              </a:rPr>
              <a:t>02</a:t>
            </a:r>
            <a:r>
              <a:rPr sz="1100">
                <a:solidFill>
                  <a:srgbClr val="708299"/>
                </a:solidFill>
                <a:latin typeface="DM Sans"/>
              </a:rPr>
              <a:t xml:space="preserve"> / 12</a:t>
            </a:r>
          </a:p>
        </p:txBody>
      </p:sp>
      <p:sp>
        <p:nvSpPr>
          <p:cNvPr id="6" name="Rectangle 5"/>
          <p:cNvSpPr/>
          <p:nvPr/>
        </p:nvSpPr>
        <p:spPr>
          <a:xfrm>
            <a:off x="411480" y="804672"/>
            <a:ext cx="1834286" cy="256032"/>
          </a:xfrm>
          <a:prstGeom prst="roundRect">
            <a:avLst>
              <a:gd name="adj" fmla="val 40000"/>
            </a:avLst>
          </a:prstGeom>
          <a:solidFill>
            <a:srgbClr val="2B1A08"/>
          </a:solidFill>
          <a:ln w="9525">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4632" y="832104"/>
            <a:ext cx="1834286" cy="219456"/>
          </a:xfrm>
          <a:prstGeom prst="rect">
            <a:avLst/>
          </a:prstGeom>
          <a:noFill/>
        </p:spPr>
        <p:txBody>
          <a:bodyPr wrap="square">
            <a:spAutoFit/>
          </a:bodyPr>
          <a:lstStyle/>
          <a:p>
            <a:pPr algn="l"/>
            <a:r>
              <a:rPr sz="850" b="1">
                <a:solidFill>
                  <a:srgbClr val="FF7200"/>
                </a:solidFill>
                <a:latin typeface="DM Sans"/>
              </a:rPr>
              <a:t>● FRAMEWORK OVERVIEW</a:t>
            </a:r>
          </a:p>
        </p:txBody>
      </p:sp>
      <p:sp>
        <p:nvSpPr>
          <p:cNvPr id="8" name="TextBox 7"/>
          <p:cNvSpPr txBox="1"/>
          <p:nvPr/>
        </p:nvSpPr>
        <p:spPr>
          <a:xfrm>
            <a:off x="411480" y="1170432"/>
            <a:ext cx="11338560" cy="1280160"/>
          </a:xfrm>
          <a:prstGeom prst="rect">
            <a:avLst/>
          </a:prstGeom>
          <a:noFill/>
        </p:spPr>
        <p:txBody>
          <a:bodyPr wrap="square">
            <a:spAutoFit/>
          </a:bodyPr>
          <a:lstStyle/>
          <a:p>
            <a:r>
              <a:rPr sz="3200" b="1">
                <a:solidFill>
                  <a:srgbClr val="FFFFFF"/>
                </a:solidFill>
                <a:latin typeface="DM Sans"/>
              </a:rPr>
              <a:t xml:space="preserve">ADAPT is a </a:t>
            </a:r>
            <a:r>
              <a:rPr sz="3200" b="1">
                <a:solidFill>
                  <a:srgbClr val="FF7200"/>
                </a:solidFill>
                <a:latin typeface="DM Sans"/>
              </a:rPr>
              <a:t>framework</a:t>
            </a:r>
            <a:r>
              <a:rPr sz="3200" b="1">
                <a:solidFill>
                  <a:srgbClr val="FFFFFF"/>
                </a:solidFill>
                <a:latin typeface="DM Sans"/>
              </a:rPr>
              <a:t>,
not a replacement for what exists.</a:t>
            </a:r>
          </a:p>
        </p:txBody>
      </p:sp>
      <p:sp>
        <p:nvSpPr>
          <p:cNvPr id="9" name="TextBox 8"/>
          <p:cNvSpPr txBox="1"/>
          <p:nvPr/>
        </p:nvSpPr>
        <p:spPr>
          <a:xfrm>
            <a:off x="411480" y="2542032"/>
            <a:ext cx="11338560" cy="594360"/>
          </a:xfrm>
          <a:prstGeom prst="rect">
            <a:avLst/>
          </a:prstGeom>
          <a:noFill/>
        </p:spPr>
        <p:txBody>
          <a:bodyPr wrap="square">
            <a:spAutoFit/>
          </a:bodyPr>
          <a:lstStyle/>
          <a:p>
            <a:pPr algn="l"/>
            <a:r>
              <a:rPr sz="1150" b="0">
                <a:solidFill>
                  <a:srgbClr val="B0BDCC"/>
                </a:solidFill>
                <a:latin typeface="DM Sans"/>
              </a:rPr>
              <a:t>ADAPT — Africa Digital Access and Public Infrastructure for Trade — is an open interoperability layer that connects governments, traders and financiers, enabling the data that already exists to flow securely between parties — with permission, with proof, and with full data sovereignty.</a:t>
            </a:r>
          </a:p>
        </p:txBody>
      </p:sp>
      <p:sp>
        <p:nvSpPr>
          <p:cNvPr id="10" name="Rectangle 9"/>
          <p:cNvSpPr/>
          <p:nvPr/>
        </p:nvSpPr>
        <p:spPr>
          <a:xfrm>
            <a:off x="411480" y="3291840"/>
            <a:ext cx="3749039" cy="2487168"/>
          </a:xfrm>
          <a:prstGeom prst="roundRect">
            <a:avLst>
              <a:gd name="adj" fmla="val 12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6072" y="3456432"/>
            <a:ext cx="347472" cy="347472"/>
          </a:xfrm>
          <a:prstGeom prst="roundRect">
            <a:avLst>
              <a:gd name="adj" fmla="val 15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3419856"/>
            <a:ext cx="347472" cy="347472"/>
          </a:xfrm>
          <a:prstGeom prst="rect">
            <a:avLst/>
          </a:prstGeom>
          <a:noFill/>
        </p:spPr>
        <p:txBody>
          <a:bodyPr wrap="square">
            <a:spAutoFit/>
          </a:bodyPr>
          <a:lstStyle/>
          <a:p>
            <a:pPr algn="ctr"/>
            <a:r>
              <a:rPr sz="1600" b="0">
                <a:solidFill>
                  <a:srgbClr val="FFFFFF"/>
                </a:solidFill>
                <a:latin typeface="DM Sans"/>
              </a:rPr>
              <a:t>🏛️</a:t>
            </a:r>
          </a:p>
        </p:txBody>
      </p:sp>
      <p:sp>
        <p:nvSpPr>
          <p:cNvPr id="13" name="TextBox 12"/>
          <p:cNvSpPr txBox="1"/>
          <p:nvPr/>
        </p:nvSpPr>
        <p:spPr>
          <a:xfrm>
            <a:off x="576072" y="3858768"/>
            <a:ext cx="3419855" cy="256032"/>
          </a:xfrm>
          <a:prstGeom prst="rect">
            <a:avLst/>
          </a:prstGeom>
          <a:noFill/>
        </p:spPr>
        <p:txBody>
          <a:bodyPr wrap="square">
            <a:spAutoFit/>
          </a:bodyPr>
          <a:lstStyle/>
          <a:p>
            <a:pPr algn="l"/>
            <a:r>
              <a:rPr sz="1050" b="1">
                <a:solidFill>
                  <a:srgbClr val="FFFFFF"/>
                </a:solidFill>
                <a:latin typeface="DM Sans"/>
              </a:rPr>
              <a:t>Government Systems Stay</a:t>
            </a:r>
          </a:p>
        </p:txBody>
      </p:sp>
      <p:sp>
        <p:nvSpPr>
          <p:cNvPr id="14" name="TextBox 13"/>
          <p:cNvSpPr txBox="1"/>
          <p:nvPr/>
        </p:nvSpPr>
        <p:spPr>
          <a:xfrm>
            <a:off x="576072" y="4133088"/>
            <a:ext cx="3419855" cy="1408176"/>
          </a:xfrm>
          <a:prstGeom prst="rect">
            <a:avLst/>
          </a:prstGeom>
          <a:noFill/>
        </p:spPr>
        <p:txBody>
          <a:bodyPr wrap="square">
            <a:spAutoFit/>
          </a:bodyPr>
          <a:lstStyle/>
          <a:p>
            <a:r>
              <a:rPr sz="900">
                <a:solidFill>
                  <a:srgbClr val="B0BDCC"/>
                </a:solidFill>
                <a:latin typeface="DM Sans"/>
              </a:rPr>
              <a:t>ADAPT connects to national trade portals, customs systems and identity registries via API. Nothing is replaced — data flows out of existing systems and is presented through a shared, permissioned layer.</a:t>
            </a:r>
          </a:p>
        </p:txBody>
      </p:sp>
      <p:sp>
        <p:nvSpPr>
          <p:cNvPr id="15" name="Rectangle 14"/>
          <p:cNvSpPr/>
          <p:nvPr/>
        </p:nvSpPr>
        <p:spPr>
          <a:xfrm>
            <a:off x="576072" y="5504688"/>
            <a:ext cx="1234440" cy="201168"/>
          </a:xfrm>
          <a:prstGeom prst="roundRect">
            <a:avLst>
              <a:gd name="adj" fmla="val 10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5522976"/>
            <a:ext cx="1234440" cy="182880"/>
          </a:xfrm>
          <a:prstGeom prst="rect">
            <a:avLst/>
          </a:prstGeom>
          <a:noFill/>
        </p:spPr>
        <p:txBody>
          <a:bodyPr wrap="square">
            <a:spAutoFit/>
          </a:bodyPr>
          <a:lstStyle/>
          <a:p>
            <a:pPr algn="l"/>
            <a:r>
              <a:rPr sz="800" b="1">
                <a:solidFill>
                  <a:srgbClr val="FF7200"/>
                </a:solidFill>
                <a:latin typeface="DM Sans"/>
              </a:rPr>
              <a:t>Non-disruptive</a:t>
            </a:r>
          </a:p>
        </p:txBody>
      </p:sp>
      <p:sp>
        <p:nvSpPr>
          <p:cNvPr id="17" name="Rectangle 16"/>
          <p:cNvSpPr/>
          <p:nvPr/>
        </p:nvSpPr>
        <p:spPr>
          <a:xfrm>
            <a:off x="4215384" y="3291840"/>
            <a:ext cx="3749039" cy="2487168"/>
          </a:xfrm>
          <a:prstGeom prst="roundRect">
            <a:avLst>
              <a:gd name="adj" fmla="val 12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79976" y="3456432"/>
            <a:ext cx="347472" cy="347472"/>
          </a:xfrm>
          <a:prstGeom prst="roundRect">
            <a:avLst>
              <a:gd name="adj" fmla="val 15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9976" y="3419856"/>
            <a:ext cx="347472" cy="347472"/>
          </a:xfrm>
          <a:prstGeom prst="rect">
            <a:avLst/>
          </a:prstGeom>
          <a:noFill/>
        </p:spPr>
        <p:txBody>
          <a:bodyPr wrap="square">
            <a:spAutoFit/>
          </a:bodyPr>
          <a:lstStyle/>
          <a:p>
            <a:pPr algn="ctr"/>
            <a:r>
              <a:rPr sz="1600" b="0">
                <a:solidFill>
                  <a:srgbClr val="FFFFFF"/>
                </a:solidFill>
                <a:latin typeface="DM Sans"/>
              </a:rPr>
              <a:t>🔗</a:t>
            </a:r>
          </a:p>
        </p:txBody>
      </p:sp>
      <p:sp>
        <p:nvSpPr>
          <p:cNvPr id="20" name="TextBox 19"/>
          <p:cNvSpPr txBox="1"/>
          <p:nvPr/>
        </p:nvSpPr>
        <p:spPr>
          <a:xfrm>
            <a:off x="4379976" y="3858768"/>
            <a:ext cx="3419855" cy="256032"/>
          </a:xfrm>
          <a:prstGeom prst="rect">
            <a:avLst/>
          </a:prstGeom>
          <a:noFill/>
        </p:spPr>
        <p:txBody>
          <a:bodyPr wrap="square">
            <a:spAutoFit/>
          </a:bodyPr>
          <a:lstStyle/>
          <a:p>
            <a:pPr algn="l"/>
            <a:r>
              <a:rPr sz="1050" b="1">
                <a:solidFill>
                  <a:srgbClr val="FFFFFF"/>
                </a:solidFill>
                <a:latin typeface="DM Sans"/>
              </a:rPr>
              <a:t>Distributed Ledger as Trust Anchor</a:t>
            </a:r>
          </a:p>
        </p:txBody>
      </p:sp>
      <p:sp>
        <p:nvSpPr>
          <p:cNvPr id="21" name="TextBox 20"/>
          <p:cNvSpPr txBox="1"/>
          <p:nvPr/>
        </p:nvSpPr>
        <p:spPr>
          <a:xfrm>
            <a:off x="4379976" y="4133088"/>
            <a:ext cx="3419855" cy="1408176"/>
          </a:xfrm>
          <a:prstGeom prst="rect">
            <a:avLst/>
          </a:prstGeom>
          <a:noFill/>
        </p:spPr>
        <p:txBody>
          <a:bodyPr wrap="square">
            <a:spAutoFit/>
          </a:bodyPr>
          <a:lstStyle/>
          <a:p>
            <a:r>
              <a:rPr sz="900">
                <a:solidFill>
                  <a:srgbClr val="B0BDCC"/>
                </a:solidFill>
                <a:latin typeface="DM Sans"/>
              </a:rPr>
              <a:t>Every document, status change and transaction is anchored on a distributed ledger — creating an immutable, tamper-evident audit trail shared only with parties who have been explicitly granted access.</a:t>
            </a:r>
          </a:p>
        </p:txBody>
      </p:sp>
      <p:sp>
        <p:nvSpPr>
          <p:cNvPr id="22" name="Rectangle 21"/>
          <p:cNvSpPr/>
          <p:nvPr/>
        </p:nvSpPr>
        <p:spPr>
          <a:xfrm>
            <a:off x="4379976" y="5504688"/>
            <a:ext cx="1097280" cy="201168"/>
          </a:xfrm>
          <a:prstGeom prst="roundRect">
            <a:avLst>
              <a:gd name="adj" fmla="val 10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16552" y="5522976"/>
            <a:ext cx="1097280" cy="182880"/>
          </a:xfrm>
          <a:prstGeom prst="rect">
            <a:avLst/>
          </a:prstGeom>
          <a:noFill/>
        </p:spPr>
        <p:txBody>
          <a:bodyPr wrap="square">
            <a:spAutoFit/>
          </a:bodyPr>
          <a:lstStyle/>
          <a:p>
            <a:pPr algn="l"/>
            <a:r>
              <a:rPr sz="800" b="1">
                <a:solidFill>
                  <a:srgbClr val="FF7200"/>
                </a:solidFill>
                <a:latin typeface="DM Sans"/>
              </a:rPr>
              <a:t>Permissioned</a:t>
            </a:r>
          </a:p>
        </p:txBody>
      </p:sp>
      <p:sp>
        <p:nvSpPr>
          <p:cNvPr id="24" name="Rectangle 23"/>
          <p:cNvSpPr/>
          <p:nvPr/>
        </p:nvSpPr>
        <p:spPr>
          <a:xfrm>
            <a:off x="8028431" y="3291840"/>
            <a:ext cx="3749039" cy="2487168"/>
          </a:xfrm>
          <a:prstGeom prst="roundRect">
            <a:avLst>
              <a:gd name="adj" fmla="val 12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93023" y="3456432"/>
            <a:ext cx="347472" cy="347472"/>
          </a:xfrm>
          <a:prstGeom prst="roundRect">
            <a:avLst>
              <a:gd name="adj" fmla="val 15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93023" y="3419856"/>
            <a:ext cx="347472" cy="347472"/>
          </a:xfrm>
          <a:prstGeom prst="rect">
            <a:avLst/>
          </a:prstGeom>
          <a:noFill/>
        </p:spPr>
        <p:txBody>
          <a:bodyPr wrap="square">
            <a:spAutoFit/>
          </a:bodyPr>
          <a:lstStyle/>
          <a:p>
            <a:pPr algn="ctr"/>
            <a:r>
              <a:rPr sz="1600" b="0">
                <a:solidFill>
                  <a:srgbClr val="FFFFFF"/>
                </a:solidFill>
                <a:latin typeface="DM Sans"/>
              </a:rPr>
              <a:t>🌍</a:t>
            </a:r>
          </a:p>
        </p:txBody>
      </p:sp>
      <p:sp>
        <p:nvSpPr>
          <p:cNvPr id="27" name="TextBox 26"/>
          <p:cNvSpPr txBox="1"/>
          <p:nvPr/>
        </p:nvSpPr>
        <p:spPr>
          <a:xfrm>
            <a:off x="8193023" y="3858768"/>
            <a:ext cx="3419855" cy="256032"/>
          </a:xfrm>
          <a:prstGeom prst="rect">
            <a:avLst/>
          </a:prstGeom>
          <a:noFill/>
        </p:spPr>
        <p:txBody>
          <a:bodyPr wrap="square">
            <a:spAutoFit/>
          </a:bodyPr>
          <a:lstStyle/>
          <a:p>
            <a:pPr algn="l"/>
            <a:r>
              <a:rPr sz="1050" b="1">
                <a:solidFill>
                  <a:srgbClr val="FFFFFF"/>
                </a:solidFill>
                <a:latin typeface="DM Sans"/>
              </a:rPr>
              <a:t>Node Sovereignty</a:t>
            </a:r>
          </a:p>
        </p:txBody>
      </p:sp>
      <p:sp>
        <p:nvSpPr>
          <p:cNvPr id="28" name="TextBox 27"/>
          <p:cNvSpPr txBox="1"/>
          <p:nvPr/>
        </p:nvSpPr>
        <p:spPr>
          <a:xfrm>
            <a:off x="8193023" y="4133088"/>
            <a:ext cx="3419855" cy="1408176"/>
          </a:xfrm>
          <a:prstGeom prst="rect">
            <a:avLst/>
          </a:prstGeom>
          <a:noFill/>
        </p:spPr>
        <p:txBody>
          <a:bodyPr wrap="square">
            <a:spAutoFit/>
          </a:bodyPr>
          <a:lstStyle/>
          <a:p>
            <a:r>
              <a:rPr sz="900">
                <a:solidFill>
                  <a:srgbClr val="B0BDCC"/>
                </a:solidFill>
                <a:latin typeface="DM Sans"/>
              </a:rPr>
              <a:t>Each participating country or institution runs its own node. Data never leaves a node without the owner's explicit permission — sovereignty and data protection are built into the architecture.</a:t>
            </a:r>
          </a:p>
        </p:txBody>
      </p:sp>
      <p:sp>
        <p:nvSpPr>
          <p:cNvPr id="29" name="Rectangle 28"/>
          <p:cNvSpPr/>
          <p:nvPr/>
        </p:nvSpPr>
        <p:spPr>
          <a:xfrm>
            <a:off x="8193023" y="5504688"/>
            <a:ext cx="1371600" cy="201168"/>
          </a:xfrm>
          <a:prstGeom prst="roundRect">
            <a:avLst>
              <a:gd name="adj" fmla="val 10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599" y="5522976"/>
            <a:ext cx="1371600" cy="182880"/>
          </a:xfrm>
          <a:prstGeom prst="rect">
            <a:avLst/>
          </a:prstGeom>
          <a:noFill/>
        </p:spPr>
        <p:txBody>
          <a:bodyPr wrap="square">
            <a:spAutoFit/>
          </a:bodyPr>
          <a:lstStyle/>
          <a:p>
            <a:pPr algn="l"/>
            <a:r>
              <a:rPr sz="800" b="1">
                <a:solidFill>
                  <a:srgbClr val="FF7200"/>
                </a:solidFill>
                <a:latin typeface="DM Sans"/>
              </a:rPr>
              <a:t>Data Sovereignty</a:t>
            </a:r>
          </a:p>
        </p:txBody>
      </p:sp>
      <p:sp>
        <p:nvSpPr>
          <p:cNvPr id="31" name="Rectangle 30"/>
          <p:cNvSpPr/>
          <p:nvPr/>
        </p:nvSpPr>
        <p:spPr>
          <a:xfrm>
            <a:off x="411480" y="5897880"/>
            <a:ext cx="11365992" cy="749808"/>
          </a:xfrm>
          <a:prstGeom prst="roundRect">
            <a:avLst>
              <a:gd name="adj" fmla="val 10000"/>
            </a:avLst>
          </a:prstGeom>
          <a:solidFill>
            <a:srgbClr val="2B1A08"/>
          </a:solidFill>
          <a:ln w="9525">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6072" y="5952744"/>
            <a:ext cx="274320" cy="640080"/>
          </a:xfrm>
          <a:prstGeom prst="rect">
            <a:avLst/>
          </a:prstGeom>
          <a:noFill/>
        </p:spPr>
        <p:txBody>
          <a:bodyPr wrap="square">
            <a:spAutoFit/>
          </a:bodyPr>
          <a:lstStyle/>
          <a:p>
            <a:pPr algn="l"/>
            <a:r>
              <a:rPr sz="1600" b="0">
                <a:solidFill>
                  <a:srgbClr val="FFFFFF"/>
                </a:solidFill>
                <a:latin typeface="DM Sans"/>
              </a:rPr>
              <a:t>💡</a:t>
            </a:r>
          </a:p>
        </p:txBody>
      </p:sp>
      <p:sp>
        <p:nvSpPr>
          <p:cNvPr id="33" name="TextBox 32"/>
          <p:cNvSpPr txBox="1"/>
          <p:nvPr/>
        </p:nvSpPr>
        <p:spPr>
          <a:xfrm>
            <a:off x="914400" y="5952744"/>
            <a:ext cx="10771632" cy="640080"/>
          </a:xfrm>
          <a:prstGeom prst="rect">
            <a:avLst/>
          </a:prstGeom>
          <a:noFill/>
        </p:spPr>
        <p:txBody>
          <a:bodyPr wrap="square">
            <a:spAutoFit/>
          </a:bodyPr>
          <a:lstStyle/>
          <a:p>
            <a:pPr algn="l"/>
            <a:r>
              <a:rPr sz="1000" b="0">
                <a:solidFill>
                  <a:srgbClr val="B0BDCC"/>
                </a:solidFill>
                <a:latin typeface="DM Sans"/>
              </a:rPr>
              <a:t>What you're watching in this demo: two nodes (exporters &amp; customs + importers) communicating in real time — sharing consignment data, documents and financial records only when permission is explicitly granted. Every action is anchored on the distributed ledger as proof.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224E"/>
        </a:solidFill>
        <a:effectLst/>
      </p:bgPr>
    </p:bg>
    <p:spTree>
      <p:nvGrpSpPr>
        <p:cNvPr id="1" name=""/>
        <p:cNvGrpSpPr/>
        <p:nvPr/>
      </p:nvGrpSpPr>
      <p:grpSpPr/>
      <p:sp>
        <p:nvSpPr>
          <p:cNvPr id="2" name="Rectangle 1"/>
          <p:cNvSpPr/>
          <p:nvPr/>
        </p:nvSpPr>
        <p:spPr>
          <a:xfrm>
            <a:off x="411480" y="274320"/>
            <a:ext cx="384048" cy="384048"/>
          </a:xfrm>
          <a:prstGeom prst="roundRect">
            <a:avLst>
              <a:gd name="adj" fmla="val 20000"/>
            </a:avLst>
          </a:prstGeom>
          <a:solidFill>
            <a:srgbClr val="2B1A08"/>
          </a:solidFill>
          <a:ln w="1270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6888"/>
            <a:ext cx="384048" cy="384048"/>
          </a:xfrm>
          <a:prstGeom prst="rect">
            <a:avLst/>
          </a:prstGeom>
          <a:noFill/>
        </p:spPr>
        <p:txBody>
          <a:bodyPr wrap="square">
            <a:spAutoFit/>
          </a:bodyPr>
          <a:lstStyle/>
          <a:p>
            <a:pPr algn="ctr"/>
            <a:r>
              <a:rPr sz="1400" b="0">
                <a:solidFill>
                  <a:srgbClr val="FFFFFF"/>
                </a:solidFill>
                <a:latin typeface="DM Sans"/>
              </a:rPr>
              <a:t>🌍</a:t>
            </a:r>
          </a:p>
        </p:txBody>
      </p:sp>
      <p:sp>
        <p:nvSpPr>
          <p:cNvPr id="4" name="TextBox 3"/>
          <p:cNvSpPr txBox="1"/>
          <p:nvPr/>
        </p:nvSpPr>
        <p:spPr>
          <a:xfrm>
            <a:off x="850392" y="256032"/>
            <a:ext cx="1280160" cy="228600"/>
          </a:xfrm>
          <a:prstGeom prst="rect">
            <a:avLst/>
          </a:prstGeom>
          <a:noFill/>
        </p:spPr>
        <p:txBody>
          <a:bodyPr wrap="square">
            <a:spAutoFit/>
          </a:bodyPr>
          <a:lstStyle/>
          <a:p>
            <a:pPr algn="l"/>
            <a:r>
              <a:rPr sz="1300" b="1">
                <a:solidFill>
                  <a:srgbClr val="FFFFFF"/>
                </a:solidFill>
                <a:latin typeface="DM Sans"/>
              </a:rPr>
              <a:t>ADAPT</a:t>
            </a:r>
          </a:p>
        </p:txBody>
      </p:sp>
      <p:sp>
        <p:nvSpPr>
          <p:cNvPr id="5" name="TextBox 4"/>
          <p:cNvSpPr txBox="1"/>
          <p:nvPr/>
        </p:nvSpPr>
        <p:spPr>
          <a:xfrm>
            <a:off x="11155680" y="274320"/>
            <a:ext cx="822960" cy="274320"/>
          </a:xfrm>
          <a:prstGeom prst="rect">
            <a:avLst/>
          </a:prstGeom>
          <a:noFill/>
        </p:spPr>
        <p:txBody>
          <a:bodyPr wrap="none">
            <a:spAutoFit/>
          </a:bodyPr>
          <a:lstStyle/>
          <a:p>
            <a:pPr algn="r"/>
            <a:r>
              <a:rPr sz="1100" b="1">
                <a:solidFill>
                  <a:srgbClr val="FF7200"/>
                </a:solidFill>
                <a:latin typeface="DM Sans"/>
              </a:rPr>
              <a:t>03</a:t>
            </a:r>
            <a:r>
              <a:rPr sz="1100">
                <a:solidFill>
                  <a:srgbClr val="708299"/>
                </a:solidFill>
                <a:latin typeface="DM Sans"/>
              </a:rPr>
              <a:t xml:space="preserve"> / 12</a:t>
            </a:r>
          </a:p>
        </p:txBody>
      </p:sp>
      <p:sp>
        <p:nvSpPr>
          <p:cNvPr id="6" name="Rectangle 5"/>
          <p:cNvSpPr/>
          <p:nvPr/>
        </p:nvSpPr>
        <p:spPr>
          <a:xfrm>
            <a:off x="411480" y="804672"/>
            <a:ext cx="2759659" cy="256032"/>
          </a:xfrm>
          <a:prstGeom prst="roundRect">
            <a:avLst>
              <a:gd name="adj" fmla="val 40000"/>
            </a:avLst>
          </a:prstGeom>
          <a:solidFill>
            <a:srgbClr val="2B1A08"/>
          </a:solidFill>
          <a:ln w="9525">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4632" y="832104"/>
            <a:ext cx="2759659" cy="219456"/>
          </a:xfrm>
          <a:prstGeom prst="rect">
            <a:avLst/>
          </a:prstGeom>
          <a:noFill/>
        </p:spPr>
        <p:txBody>
          <a:bodyPr wrap="square">
            <a:spAutoFit/>
          </a:bodyPr>
          <a:lstStyle/>
          <a:p>
            <a:pPr algn="l"/>
            <a:r>
              <a:rPr sz="850" b="1">
                <a:solidFill>
                  <a:srgbClr val="FF7200"/>
                </a:solidFill>
                <a:latin typeface="DM Sans"/>
              </a:rPr>
              <a:t>● IDENTITY · DOCUMENTS · LEDGER</a:t>
            </a:r>
          </a:p>
        </p:txBody>
      </p:sp>
      <p:sp>
        <p:nvSpPr>
          <p:cNvPr id="8" name="TextBox 7"/>
          <p:cNvSpPr txBox="1"/>
          <p:nvPr/>
        </p:nvSpPr>
        <p:spPr>
          <a:xfrm>
            <a:off x="411480" y="1170432"/>
            <a:ext cx="11338560" cy="1280160"/>
          </a:xfrm>
          <a:prstGeom prst="rect">
            <a:avLst/>
          </a:prstGeom>
          <a:noFill/>
        </p:spPr>
        <p:txBody>
          <a:bodyPr wrap="square">
            <a:spAutoFit/>
          </a:bodyPr>
          <a:lstStyle/>
          <a:p>
            <a:r>
              <a:rPr sz="2800" b="1">
                <a:solidFill>
                  <a:srgbClr val="FFFFFF"/>
                </a:solidFill>
                <a:latin typeface="DM Sans"/>
              </a:rPr>
              <a:t xml:space="preserve">Trust begins with </a:t>
            </a:r>
            <a:r>
              <a:rPr sz="2800" b="1">
                <a:solidFill>
                  <a:srgbClr val="FF7200"/>
                </a:solidFill>
                <a:latin typeface="DM Sans"/>
              </a:rPr>
              <a:t>verified identity</a:t>
            </a:r>
            <a:r>
              <a:rPr sz="2800" b="1">
                <a:solidFill>
                  <a:srgbClr val="FFFFFF"/>
                </a:solidFill>
                <a:latin typeface="DM Sans"/>
              </a:rPr>
              <a:t>
and government-issued data.</a:t>
            </a:r>
          </a:p>
        </p:txBody>
      </p:sp>
      <p:sp>
        <p:nvSpPr>
          <p:cNvPr id="9" name="Rectangle 8"/>
          <p:cNvSpPr/>
          <p:nvPr/>
        </p:nvSpPr>
        <p:spPr>
          <a:xfrm>
            <a:off x="411480" y="2331720"/>
            <a:ext cx="5577840" cy="1920240"/>
          </a:xfrm>
          <a:prstGeom prst="roundRect">
            <a:avLst>
              <a:gd name="adj" fmla="val 12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6072" y="2496312"/>
            <a:ext cx="347472" cy="347472"/>
          </a:xfrm>
          <a:prstGeom prst="roundRect">
            <a:avLst>
              <a:gd name="adj" fmla="val 15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2459736"/>
            <a:ext cx="347472" cy="347472"/>
          </a:xfrm>
          <a:prstGeom prst="rect">
            <a:avLst/>
          </a:prstGeom>
          <a:noFill/>
        </p:spPr>
        <p:txBody>
          <a:bodyPr wrap="square">
            <a:spAutoFit/>
          </a:bodyPr>
          <a:lstStyle/>
          <a:p>
            <a:pPr algn="ctr"/>
            <a:r>
              <a:rPr sz="1600" b="0">
                <a:solidFill>
                  <a:srgbClr val="FFFFFF"/>
                </a:solidFill>
                <a:latin typeface="DM Sans"/>
              </a:rPr>
              <a:t>🪪</a:t>
            </a:r>
          </a:p>
        </p:txBody>
      </p:sp>
      <p:sp>
        <p:nvSpPr>
          <p:cNvPr id="12" name="TextBox 11"/>
          <p:cNvSpPr txBox="1"/>
          <p:nvPr/>
        </p:nvSpPr>
        <p:spPr>
          <a:xfrm>
            <a:off x="576072" y="2898648"/>
            <a:ext cx="5248656" cy="256032"/>
          </a:xfrm>
          <a:prstGeom prst="rect">
            <a:avLst/>
          </a:prstGeom>
          <a:noFill/>
        </p:spPr>
        <p:txBody>
          <a:bodyPr wrap="square">
            <a:spAutoFit/>
          </a:bodyPr>
          <a:lstStyle/>
          <a:p>
            <a:pPr algn="l"/>
            <a:r>
              <a:rPr sz="1050" b="1">
                <a:solidFill>
                  <a:srgbClr val="FFFFFF"/>
                </a:solidFill>
                <a:latin typeface="DM Sans"/>
              </a:rPr>
              <a:t>Identity Interoperability</a:t>
            </a:r>
          </a:p>
        </p:txBody>
      </p:sp>
      <p:sp>
        <p:nvSpPr>
          <p:cNvPr id="13" name="TextBox 12"/>
          <p:cNvSpPr txBox="1"/>
          <p:nvPr/>
        </p:nvSpPr>
        <p:spPr>
          <a:xfrm>
            <a:off x="576072" y="3172968"/>
            <a:ext cx="5248656" cy="841248"/>
          </a:xfrm>
          <a:prstGeom prst="rect">
            <a:avLst/>
          </a:prstGeom>
          <a:noFill/>
        </p:spPr>
        <p:txBody>
          <a:bodyPr wrap="square">
            <a:spAutoFit/>
          </a:bodyPr>
          <a:lstStyle/>
          <a:p>
            <a:r>
              <a:rPr sz="900">
                <a:solidFill>
                  <a:srgbClr val="B0BDCC"/>
                </a:solidFill>
                <a:latin typeface="DM Sans"/>
              </a:rPr>
              <a:t>Each organisation registers with a national credential — Business Registration Number, Tax ID or Legal Entity Identifier. ADAPT validates against the national registry (e.g. Nigeria's CAC, Morocco's RC) and issues a Decentralised Identifier (DID) anchored on the ledger. A Nigerian importer's identity can be cryptographically verified by a Moroccan exporter — without any shared intermediary system.</a:t>
            </a:r>
          </a:p>
        </p:txBody>
      </p:sp>
      <p:sp>
        <p:nvSpPr>
          <p:cNvPr id="14" name="Rectangle 13"/>
          <p:cNvSpPr/>
          <p:nvPr/>
        </p:nvSpPr>
        <p:spPr>
          <a:xfrm>
            <a:off x="576072" y="3977640"/>
            <a:ext cx="1920239" cy="201168"/>
          </a:xfrm>
          <a:prstGeom prst="roundRect">
            <a:avLst>
              <a:gd name="adj" fmla="val 10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995928"/>
            <a:ext cx="1920239" cy="182880"/>
          </a:xfrm>
          <a:prstGeom prst="rect">
            <a:avLst/>
          </a:prstGeom>
          <a:noFill/>
        </p:spPr>
        <p:txBody>
          <a:bodyPr wrap="square">
            <a:spAutoFit/>
          </a:bodyPr>
          <a:lstStyle/>
          <a:p>
            <a:pPr algn="l"/>
            <a:r>
              <a:rPr sz="800" b="1">
                <a:solidFill>
                  <a:srgbClr val="FF7200"/>
                </a:solidFill>
                <a:latin typeface="DM Sans"/>
              </a:rPr>
              <a:t>Verified · DID on ledger</a:t>
            </a:r>
          </a:p>
        </p:txBody>
      </p:sp>
      <p:sp>
        <p:nvSpPr>
          <p:cNvPr id="16" name="Rectangle 15"/>
          <p:cNvSpPr/>
          <p:nvPr/>
        </p:nvSpPr>
        <p:spPr>
          <a:xfrm>
            <a:off x="411480" y="4361688"/>
            <a:ext cx="5577840" cy="1920240"/>
          </a:xfrm>
          <a:prstGeom prst="roundRect">
            <a:avLst>
              <a:gd name="adj" fmla="val 12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6072" y="4526280"/>
            <a:ext cx="347472" cy="347472"/>
          </a:xfrm>
          <a:prstGeom prst="roundRect">
            <a:avLst>
              <a:gd name="adj" fmla="val 15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72" y="4489704"/>
            <a:ext cx="347472" cy="347472"/>
          </a:xfrm>
          <a:prstGeom prst="rect">
            <a:avLst/>
          </a:prstGeom>
          <a:noFill/>
        </p:spPr>
        <p:txBody>
          <a:bodyPr wrap="square">
            <a:spAutoFit/>
          </a:bodyPr>
          <a:lstStyle/>
          <a:p>
            <a:pPr algn="ctr"/>
            <a:r>
              <a:rPr sz="1600" b="0">
                <a:solidFill>
                  <a:srgbClr val="FFFFFF"/>
                </a:solidFill>
                <a:latin typeface="DM Sans"/>
              </a:rPr>
              <a:t>📡</a:t>
            </a:r>
          </a:p>
        </p:txBody>
      </p:sp>
      <p:sp>
        <p:nvSpPr>
          <p:cNvPr id="19" name="TextBox 18"/>
          <p:cNvSpPr txBox="1"/>
          <p:nvPr/>
        </p:nvSpPr>
        <p:spPr>
          <a:xfrm>
            <a:off x="576072" y="4928616"/>
            <a:ext cx="5248656" cy="256032"/>
          </a:xfrm>
          <a:prstGeom prst="rect">
            <a:avLst/>
          </a:prstGeom>
          <a:noFill/>
        </p:spPr>
        <p:txBody>
          <a:bodyPr wrap="square">
            <a:spAutoFit/>
          </a:bodyPr>
          <a:lstStyle/>
          <a:p>
            <a:pPr algn="l"/>
            <a:r>
              <a:rPr sz="1050" b="1">
                <a:solidFill>
                  <a:srgbClr val="FFFFFF"/>
                </a:solidFill>
                <a:latin typeface="DM Sans"/>
              </a:rPr>
              <a:t>Documents from Government APIs</a:t>
            </a:r>
          </a:p>
        </p:txBody>
      </p:sp>
      <p:sp>
        <p:nvSpPr>
          <p:cNvPr id="20" name="TextBox 19"/>
          <p:cNvSpPr txBox="1"/>
          <p:nvPr/>
        </p:nvSpPr>
        <p:spPr>
          <a:xfrm>
            <a:off x="576072" y="5202936"/>
            <a:ext cx="5248656" cy="841248"/>
          </a:xfrm>
          <a:prstGeom prst="rect">
            <a:avLst/>
          </a:prstGeom>
          <a:noFill/>
        </p:spPr>
        <p:txBody>
          <a:bodyPr wrap="square">
            <a:spAutoFit/>
          </a:bodyPr>
          <a:lstStyle/>
          <a:p>
            <a:r>
              <a:rPr sz="900">
                <a:solidFill>
                  <a:srgbClr val="B0BDCC"/>
                </a:solidFill>
                <a:latin typeface="DM Sans"/>
              </a:rPr>
              <a:t>Export Declarations, Certificates of Origin and Customs Clearances are not uploaded manually. They are pulled directly from government systems via API — Nigeria Customs, Morocco MAEX, AfCFTA origin portals — and attached to the consignment's digital twin. ADAPT is a conduit, not a repository.</a:t>
            </a:r>
          </a:p>
        </p:txBody>
      </p:sp>
      <p:sp>
        <p:nvSpPr>
          <p:cNvPr id="21" name="Rectangle 20"/>
          <p:cNvSpPr/>
          <p:nvPr/>
        </p:nvSpPr>
        <p:spPr>
          <a:xfrm>
            <a:off x="576072" y="6007608"/>
            <a:ext cx="2194560" cy="201168"/>
          </a:xfrm>
          <a:prstGeom prst="roundRect">
            <a:avLst>
              <a:gd name="adj" fmla="val 10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6025896"/>
            <a:ext cx="2194560" cy="182880"/>
          </a:xfrm>
          <a:prstGeom prst="rect">
            <a:avLst/>
          </a:prstGeom>
          <a:noFill/>
        </p:spPr>
        <p:txBody>
          <a:bodyPr wrap="square">
            <a:spAutoFit/>
          </a:bodyPr>
          <a:lstStyle/>
          <a:p>
            <a:pPr algn="l"/>
            <a:r>
              <a:rPr sz="800" b="1">
                <a:solidFill>
                  <a:srgbClr val="FF7200"/>
                </a:solidFill>
                <a:latin typeface="DM Sans"/>
              </a:rPr>
              <a:t>API-native · Source-verified</a:t>
            </a:r>
          </a:p>
        </p:txBody>
      </p:sp>
      <p:sp>
        <p:nvSpPr>
          <p:cNvPr id="23" name="Rectangle 22"/>
          <p:cNvSpPr/>
          <p:nvPr/>
        </p:nvSpPr>
        <p:spPr>
          <a:xfrm>
            <a:off x="6144768" y="2331720"/>
            <a:ext cx="5632704" cy="3017520"/>
          </a:xfrm>
          <a:prstGeom prst="roundRect">
            <a:avLst>
              <a:gd name="adj" fmla="val 12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0" y="2496312"/>
            <a:ext cx="347472" cy="347472"/>
          </a:xfrm>
          <a:prstGeom prst="roundRect">
            <a:avLst>
              <a:gd name="adj" fmla="val 15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2459736"/>
            <a:ext cx="347472" cy="347472"/>
          </a:xfrm>
          <a:prstGeom prst="rect">
            <a:avLst/>
          </a:prstGeom>
          <a:noFill/>
        </p:spPr>
        <p:txBody>
          <a:bodyPr wrap="square">
            <a:spAutoFit/>
          </a:bodyPr>
          <a:lstStyle/>
          <a:p>
            <a:pPr algn="ctr"/>
            <a:r>
              <a:rPr sz="1600" b="0">
                <a:solidFill>
                  <a:srgbClr val="FFFFFF"/>
                </a:solidFill>
                <a:latin typeface="DM Sans"/>
              </a:rPr>
              <a:t>⛓️</a:t>
            </a:r>
          </a:p>
        </p:txBody>
      </p:sp>
      <p:sp>
        <p:nvSpPr>
          <p:cNvPr id="26" name="TextBox 25"/>
          <p:cNvSpPr txBox="1"/>
          <p:nvPr/>
        </p:nvSpPr>
        <p:spPr>
          <a:xfrm>
            <a:off x="6309360" y="2898648"/>
            <a:ext cx="5303520" cy="256032"/>
          </a:xfrm>
          <a:prstGeom prst="rect">
            <a:avLst/>
          </a:prstGeom>
          <a:noFill/>
        </p:spPr>
        <p:txBody>
          <a:bodyPr wrap="square">
            <a:spAutoFit/>
          </a:bodyPr>
          <a:lstStyle/>
          <a:p>
            <a:pPr algn="l"/>
            <a:r>
              <a:rPr sz="1050" b="1">
                <a:solidFill>
                  <a:srgbClr val="FFFFFF"/>
                </a:solidFill>
                <a:latin typeface="DM Sans"/>
              </a:rPr>
              <a:t>Distributed Ledger — The Trust Layer</a:t>
            </a:r>
          </a:p>
        </p:txBody>
      </p:sp>
      <p:sp>
        <p:nvSpPr>
          <p:cNvPr id="27" name="TextBox 26"/>
          <p:cNvSpPr txBox="1"/>
          <p:nvPr/>
        </p:nvSpPr>
        <p:spPr>
          <a:xfrm>
            <a:off x="6309360" y="3172968"/>
            <a:ext cx="5303520" cy="1938528"/>
          </a:xfrm>
          <a:prstGeom prst="rect">
            <a:avLst/>
          </a:prstGeom>
          <a:noFill/>
        </p:spPr>
        <p:txBody>
          <a:bodyPr wrap="square">
            <a:spAutoFit/>
          </a:bodyPr>
          <a:lstStyle/>
          <a:p>
            <a:r>
              <a:rPr sz="900">
                <a:solidFill>
                  <a:srgbClr val="B0BDCC"/>
                </a:solidFill>
                <a:latin typeface="DM Sans"/>
              </a:rPr>
              <a:t>The ledger serves one purpose in ADAPT: proof of event.
Every time a document is issued, a status changes, a permission is granted or a payment is released, a cryptographic hash of that event is written to the distributed ledger.
No single party controls it — not any government, bank or technology vendor. This makes the audit trail trustworthy to all parties without requiring a central authority.
This eliminates disputes over "was this document presented?" or "when did customs clear?" — the answer is on the ledger, timestamped and tamper-proof.</a:t>
            </a:r>
          </a:p>
        </p:txBody>
      </p:sp>
      <p:sp>
        <p:nvSpPr>
          <p:cNvPr id="28" name="Rectangle 27"/>
          <p:cNvSpPr/>
          <p:nvPr/>
        </p:nvSpPr>
        <p:spPr>
          <a:xfrm>
            <a:off x="6309360" y="5074920"/>
            <a:ext cx="3017520" cy="201168"/>
          </a:xfrm>
          <a:prstGeom prst="roundRect">
            <a:avLst>
              <a:gd name="adj" fmla="val 10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5093208"/>
            <a:ext cx="3017520" cy="182880"/>
          </a:xfrm>
          <a:prstGeom prst="rect">
            <a:avLst/>
          </a:prstGeom>
          <a:noFill/>
        </p:spPr>
        <p:txBody>
          <a:bodyPr wrap="square">
            <a:spAutoFit/>
          </a:bodyPr>
          <a:lstStyle/>
          <a:p>
            <a:pPr algn="l"/>
            <a:r>
              <a:rPr sz="800" b="1">
                <a:solidFill>
                  <a:srgbClr val="FF7200"/>
                </a:solidFill>
                <a:latin typeface="DM Sans"/>
              </a:rPr>
              <a:t>Immutable · Decentralised · Permissioned</a:t>
            </a:r>
          </a:p>
        </p:txBody>
      </p:sp>
      <p:sp>
        <p:nvSpPr>
          <p:cNvPr id="30" name="Rectangle 29"/>
          <p:cNvSpPr/>
          <p:nvPr/>
        </p:nvSpPr>
        <p:spPr>
          <a:xfrm>
            <a:off x="6144768" y="5458968"/>
            <a:ext cx="5632704" cy="804672"/>
          </a:xfrm>
          <a:prstGeom prst="roundRect">
            <a:avLst>
              <a:gd name="adj" fmla="val 10000"/>
            </a:avLst>
          </a:prstGeom>
          <a:solidFill>
            <a:srgbClr val="2B1A08"/>
          </a:solidFill>
          <a:ln w="9525">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5513832"/>
            <a:ext cx="274320" cy="694944"/>
          </a:xfrm>
          <a:prstGeom prst="rect">
            <a:avLst/>
          </a:prstGeom>
          <a:noFill/>
        </p:spPr>
        <p:txBody>
          <a:bodyPr wrap="square">
            <a:spAutoFit/>
          </a:bodyPr>
          <a:lstStyle/>
          <a:p>
            <a:pPr algn="l"/>
            <a:r>
              <a:rPr sz="1600" b="0">
                <a:solidFill>
                  <a:srgbClr val="FFFFFF"/>
                </a:solidFill>
                <a:latin typeface="DM Sans"/>
              </a:rPr>
              <a:t>🔑</a:t>
            </a:r>
          </a:p>
        </p:txBody>
      </p:sp>
      <p:sp>
        <p:nvSpPr>
          <p:cNvPr id="32" name="TextBox 31"/>
          <p:cNvSpPr txBox="1"/>
          <p:nvPr/>
        </p:nvSpPr>
        <p:spPr>
          <a:xfrm>
            <a:off x="6647688" y="5513832"/>
            <a:ext cx="5038344" cy="694944"/>
          </a:xfrm>
          <a:prstGeom prst="rect">
            <a:avLst/>
          </a:prstGeom>
          <a:noFill/>
        </p:spPr>
        <p:txBody>
          <a:bodyPr wrap="square">
            <a:spAutoFit/>
          </a:bodyPr>
          <a:lstStyle/>
          <a:p>
            <a:pPr algn="l"/>
            <a:r>
              <a:rPr sz="1000" b="0">
                <a:solidFill>
                  <a:srgbClr val="B0BDCC"/>
                </a:solidFill>
                <a:latin typeface="DM Sans"/>
              </a:rPr>
              <a:t>Key distinction: The ledger does not store documents or personal data. It stores only cryptographic proofs — so sensitive trade data never leaves the node that owns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224E"/>
        </a:solidFill>
        <a:effectLst/>
      </p:bgPr>
    </p:bg>
    <p:spTree>
      <p:nvGrpSpPr>
        <p:cNvPr id="1" name=""/>
        <p:cNvGrpSpPr/>
        <p:nvPr/>
      </p:nvGrpSpPr>
      <p:grpSpPr/>
      <p:sp>
        <p:nvSpPr>
          <p:cNvPr id="2" name="Rectangle 1"/>
          <p:cNvSpPr/>
          <p:nvPr/>
        </p:nvSpPr>
        <p:spPr>
          <a:xfrm>
            <a:off x="411480" y="274320"/>
            <a:ext cx="384048" cy="384048"/>
          </a:xfrm>
          <a:prstGeom prst="roundRect">
            <a:avLst>
              <a:gd name="adj" fmla="val 20000"/>
            </a:avLst>
          </a:prstGeom>
          <a:solidFill>
            <a:srgbClr val="2B1A08"/>
          </a:solidFill>
          <a:ln w="1270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6888"/>
            <a:ext cx="384048" cy="384048"/>
          </a:xfrm>
          <a:prstGeom prst="rect">
            <a:avLst/>
          </a:prstGeom>
          <a:noFill/>
        </p:spPr>
        <p:txBody>
          <a:bodyPr wrap="square">
            <a:spAutoFit/>
          </a:bodyPr>
          <a:lstStyle/>
          <a:p>
            <a:pPr algn="ctr"/>
            <a:r>
              <a:rPr sz="1400" b="0">
                <a:solidFill>
                  <a:srgbClr val="FFFFFF"/>
                </a:solidFill>
                <a:latin typeface="DM Sans"/>
              </a:rPr>
              <a:t>🌍</a:t>
            </a:r>
          </a:p>
        </p:txBody>
      </p:sp>
      <p:sp>
        <p:nvSpPr>
          <p:cNvPr id="4" name="TextBox 3"/>
          <p:cNvSpPr txBox="1"/>
          <p:nvPr/>
        </p:nvSpPr>
        <p:spPr>
          <a:xfrm>
            <a:off x="850392" y="256032"/>
            <a:ext cx="1280160" cy="228600"/>
          </a:xfrm>
          <a:prstGeom prst="rect">
            <a:avLst/>
          </a:prstGeom>
          <a:noFill/>
        </p:spPr>
        <p:txBody>
          <a:bodyPr wrap="square">
            <a:spAutoFit/>
          </a:bodyPr>
          <a:lstStyle/>
          <a:p>
            <a:pPr algn="l"/>
            <a:r>
              <a:rPr sz="1300" b="1">
                <a:solidFill>
                  <a:srgbClr val="FFFFFF"/>
                </a:solidFill>
                <a:latin typeface="DM Sans"/>
              </a:rPr>
              <a:t>ADAPT</a:t>
            </a:r>
          </a:p>
        </p:txBody>
      </p:sp>
      <p:sp>
        <p:nvSpPr>
          <p:cNvPr id="5" name="TextBox 4"/>
          <p:cNvSpPr txBox="1"/>
          <p:nvPr/>
        </p:nvSpPr>
        <p:spPr>
          <a:xfrm>
            <a:off x="11155680" y="274320"/>
            <a:ext cx="822960" cy="274320"/>
          </a:xfrm>
          <a:prstGeom prst="rect">
            <a:avLst/>
          </a:prstGeom>
          <a:noFill/>
        </p:spPr>
        <p:txBody>
          <a:bodyPr wrap="none">
            <a:spAutoFit/>
          </a:bodyPr>
          <a:lstStyle/>
          <a:p>
            <a:pPr algn="r"/>
            <a:r>
              <a:rPr sz="1100" b="1">
                <a:solidFill>
                  <a:srgbClr val="FF7200"/>
                </a:solidFill>
                <a:latin typeface="DM Sans"/>
              </a:rPr>
              <a:t>04</a:t>
            </a:r>
            <a:r>
              <a:rPr sz="1100">
                <a:solidFill>
                  <a:srgbClr val="708299"/>
                </a:solidFill>
                <a:latin typeface="DM Sans"/>
              </a:rPr>
              <a:t xml:space="preserve"> / 12</a:t>
            </a:r>
          </a:p>
        </p:txBody>
      </p:sp>
      <p:sp>
        <p:nvSpPr>
          <p:cNvPr id="6" name="Rectangle 5"/>
          <p:cNvSpPr/>
          <p:nvPr/>
        </p:nvSpPr>
        <p:spPr>
          <a:xfrm>
            <a:off x="411480" y="804672"/>
            <a:ext cx="3012033" cy="256032"/>
          </a:xfrm>
          <a:prstGeom prst="roundRect">
            <a:avLst>
              <a:gd name="adj" fmla="val 40000"/>
            </a:avLst>
          </a:prstGeom>
          <a:solidFill>
            <a:srgbClr val="2B1A08"/>
          </a:solidFill>
          <a:ln w="9525">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4632" y="832104"/>
            <a:ext cx="3012033" cy="219456"/>
          </a:xfrm>
          <a:prstGeom prst="rect">
            <a:avLst/>
          </a:prstGeom>
          <a:noFill/>
        </p:spPr>
        <p:txBody>
          <a:bodyPr wrap="square">
            <a:spAutoFit/>
          </a:bodyPr>
          <a:lstStyle/>
          <a:p>
            <a:pPr algn="l"/>
            <a:r>
              <a:rPr sz="850" b="1">
                <a:solidFill>
                  <a:srgbClr val="FF7200"/>
                </a:solidFill>
                <a:latin typeface="DM Sans"/>
              </a:rPr>
              <a:t>● PAYMENTS · TRADE FINANCE · NODES</a:t>
            </a:r>
          </a:p>
        </p:txBody>
      </p:sp>
      <p:sp>
        <p:nvSpPr>
          <p:cNvPr id="8" name="TextBox 7"/>
          <p:cNvSpPr txBox="1"/>
          <p:nvPr/>
        </p:nvSpPr>
        <p:spPr>
          <a:xfrm>
            <a:off x="411480" y="1170432"/>
            <a:ext cx="11338560" cy="1280160"/>
          </a:xfrm>
          <a:prstGeom prst="rect">
            <a:avLst/>
          </a:prstGeom>
          <a:noFill/>
        </p:spPr>
        <p:txBody>
          <a:bodyPr wrap="square">
            <a:spAutoFit/>
          </a:bodyPr>
          <a:lstStyle/>
          <a:p>
            <a:r>
              <a:rPr sz="3000" b="1">
                <a:solidFill>
                  <a:srgbClr val="FFFFFF"/>
                </a:solidFill>
                <a:latin typeface="DM Sans"/>
              </a:rPr>
              <a:t xml:space="preserve">From shipment to </a:t>
            </a:r>
            <a:r>
              <a:rPr sz="3000" b="1">
                <a:solidFill>
                  <a:srgbClr val="FF7200"/>
                </a:solidFill>
                <a:latin typeface="DM Sans"/>
              </a:rPr>
              <a:t>settlement</a:t>
            </a:r>
            <a:r>
              <a:rPr sz="3000" b="1">
                <a:solidFill>
                  <a:srgbClr val="FFFFFF"/>
                </a:solidFill>
                <a:latin typeface="DM Sans"/>
              </a:rPr>
              <a:t xml:space="preserve"> — on one permissioned rail.</a:t>
            </a:r>
          </a:p>
        </p:txBody>
      </p:sp>
      <p:sp>
        <p:nvSpPr>
          <p:cNvPr id="9" name="Rectangle 8"/>
          <p:cNvSpPr/>
          <p:nvPr/>
        </p:nvSpPr>
        <p:spPr>
          <a:xfrm>
            <a:off x="411480" y="2103120"/>
            <a:ext cx="2788920" cy="2240280"/>
          </a:xfrm>
          <a:prstGeom prst="roundRect">
            <a:avLst>
              <a:gd name="adj" fmla="val 12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6072" y="2267712"/>
            <a:ext cx="347472" cy="347472"/>
          </a:xfrm>
          <a:prstGeom prst="roundRect">
            <a:avLst>
              <a:gd name="adj" fmla="val 15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2231136"/>
            <a:ext cx="347472" cy="347472"/>
          </a:xfrm>
          <a:prstGeom prst="rect">
            <a:avLst/>
          </a:prstGeom>
          <a:noFill/>
        </p:spPr>
        <p:txBody>
          <a:bodyPr wrap="square">
            <a:spAutoFit/>
          </a:bodyPr>
          <a:lstStyle/>
          <a:p>
            <a:pPr algn="ctr"/>
            <a:r>
              <a:rPr sz="1600" b="0">
                <a:solidFill>
                  <a:srgbClr val="FFFFFF"/>
                </a:solidFill>
                <a:latin typeface="DM Sans"/>
              </a:rPr>
              <a:t>💳</a:t>
            </a:r>
          </a:p>
        </p:txBody>
      </p:sp>
      <p:sp>
        <p:nvSpPr>
          <p:cNvPr id="12" name="TextBox 11"/>
          <p:cNvSpPr txBox="1"/>
          <p:nvPr/>
        </p:nvSpPr>
        <p:spPr>
          <a:xfrm>
            <a:off x="576072" y="2670048"/>
            <a:ext cx="2459736" cy="256032"/>
          </a:xfrm>
          <a:prstGeom prst="rect">
            <a:avLst/>
          </a:prstGeom>
          <a:noFill/>
        </p:spPr>
        <p:txBody>
          <a:bodyPr wrap="square">
            <a:spAutoFit/>
          </a:bodyPr>
          <a:lstStyle/>
          <a:p>
            <a:pPr algn="l"/>
            <a:r>
              <a:rPr sz="1050" b="1">
                <a:solidFill>
                  <a:srgbClr val="FFFFFF"/>
                </a:solidFill>
                <a:latin typeface="DM Sans"/>
              </a:rPr>
              <a:t>Payment Tracking</a:t>
            </a:r>
          </a:p>
        </p:txBody>
      </p:sp>
      <p:sp>
        <p:nvSpPr>
          <p:cNvPr id="13" name="TextBox 12"/>
          <p:cNvSpPr txBox="1"/>
          <p:nvPr/>
        </p:nvSpPr>
        <p:spPr>
          <a:xfrm>
            <a:off x="576072" y="2944368"/>
            <a:ext cx="2459736" cy="1161288"/>
          </a:xfrm>
          <a:prstGeom prst="rect">
            <a:avLst/>
          </a:prstGeom>
          <a:noFill/>
        </p:spPr>
        <p:txBody>
          <a:bodyPr wrap="square">
            <a:spAutoFit/>
          </a:bodyPr>
          <a:lstStyle/>
          <a:p>
            <a:r>
              <a:rPr sz="900">
                <a:solidFill>
                  <a:srgbClr val="B0BDCC"/>
                </a:solidFill>
                <a:latin typeface="DM Sans"/>
              </a:rPr>
              <a:t>Exporters raise payment records linked to commercial invoices. Status moves Unpaid → Partially Paid → Paid, with every confirmation anchored on the ledger. All parties with finance access see a live, tamper-proof payment trail.</a:t>
            </a:r>
          </a:p>
        </p:txBody>
      </p:sp>
      <p:sp>
        <p:nvSpPr>
          <p:cNvPr id="14" name="Rectangle 13"/>
          <p:cNvSpPr/>
          <p:nvPr/>
        </p:nvSpPr>
        <p:spPr>
          <a:xfrm>
            <a:off x="576072" y="4069080"/>
            <a:ext cx="1234440" cy="201168"/>
          </a:xfrm>
          <a:prstGeom prst="roundRect">
            <a:avLst>
              <a:gd name="adj" fmla="val 10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4087368"/>
            <a:ext cx="1234440" cy="182880"/>
          </a:xfrm>
          <a:prstGeom prst="rect">
            <a:avLst/>
          </a:prstGeom>
          <a:noFill/>
        </p:spPr>
        <p:txBody>
          <a:bodyPr wrap="square">
            <a:spAutoFit/>
          </a:bodyPr>
          <a:lstStyle/>
          <a:p>
            <a:pPr algn="l"/>
            <a:r>
              <a:rPr sz="800" b="1">
                <a:solidFill>
                  <a:srgbClr val="FF7200"/>
                </a:solidFill>
                <a:latin typeface="DM Sans"/>
              </a:rPr>
              <a:t>Invoice-linked</a:t>
            </a:r>
          </a:p>
        </p:txBody>
      </p:sp>
      <p:sp>
        <p:nvSpPr>
          <p:cNvPr id="16" name="Rectangle 15"/>
          <p:cNvSpPr/>
          <p:nvPr/>
        </p:nvSpPr>
        <p:spPr>
          <a:xfrm>
            <a:off x="3264408" y="2103120"/>
            <a:ext cx="2788920" cy="2240280"/>
          </a:xfrm>
          <a:prstGeom prst="roundRect">
            <a:avLst>
              <a:gd name="adj" fmla="val 12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29000" y="2267712"/>
            <a:ext cx="347472" cy="347472"/>
          </a:xfrm>
          <a:prstGeom prst="roundRect">
            <a:avLst>
              <a:gd name="adj" fmla="val 15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29000" y="2231136"/>
            <a:ext cx="347472" cy="347472"/>
          </a:xfrm>
          <a:prstGeom prst="rect">
            <a:avLst/>
          </a:prstGeom>
          <a:noFill/>
        </p:spPr>
        <p:txBody>
          <a:bodyPr wrap="square">
            <a:spAutoFit/>
          </a:bodyPr>
          <a:lstStyle/>
          <a:p>
            <a:pPr algn="ctr"/>
            <a:r>
              <a:rPr sz="1600" b="0">
                <a:solidFill>
                  <a:srgbClr val="FFFFFF"/>
                </a:solidFill>
                <a:latin typeface="DM Sans"/>
              </a:rPr>
              <a:t>🏦</a:t>
            </a:r>
          </a:p>
        </p:txBody>
      </p:sp>
      <p:sp>
        <p:nvSpPr>
          <p:cNvPr id="19" name="TextBox 18"/>
          <p:cNvSpPr txBox="1"/>
          <p:nvPr/>
        </p:nvSpPr>
        <p:spPr>
          <a:xfrm>
            <a:off x="3429000" y="2670048"/>
            <a:ext cx="2459736" cy="256032"/>
          </a:xfrm>
          <a:prstGeom prst="rect">
            <a:avLst/>
          </a:prstGeom>
          <a:noFill/>
        </p:spPr>
        <p:txBody>
          <a:bodyPr wrap="square">
            <a:spAutoFit/>
          </a:bodyPr>
          <a:lstStyle/>
          <a:p>
            <a:pPr algn="l"/>
            <a:r>
              <a:rPr sz="1050" b="1">
                <a:solidFill>
                  <a:srgbClr val="FFFFFF"/>
                </a:solidFill>
                <a:latin typeface="DM Sans"/>
              </a:rPr>
              <a:t>Letters of Credit</a:t>
            </a:r>
          </a:p>
        </p:txBody>
      </p:sp>
      <p:sp>
        <p:nvSpPr>
          <p:cNvPr id="20" name="TextBox 19"/>
          <p:cNvSpPr txBox="1"/>
          <p:nvPr/>
        </p:nvSpPr>
        <p:spPr>
          <a:xfrm>
            <a:off x="3429000" y="2944368"/>
            <a:ext cx="2459736" cy="1161288"/>
          </a:xfrm>
          <a:prstGeom prst="rect">
            <a:avLst/>
          </a:prstGeom>
          <a:noFill/>
        </p:spPr>
        <p:txBody>
          <a:bodyPr wrap="square">
            <a:spAutoFit/>
          </a:bodyPr>
          <a:lstStyle/>
          <a:p>
            <a:r>
              <a:rPr sz="900">
                <a:solidFill>
                  <a:srgbClr val="B0BDCC"/>
                </a:solidFill>
                <a:latin typeface="DM Sans"/>
              </a:rPr>
              <a:t>LCs are created on-framework, linked to the consignment's document set. Each stage — Draft through to Drawn — is progressed by the relevant party and anchored. Document compliance is checked automatically against submitted docs.</a:t>
            </a:r>
          </a:p>
        </p:txBody>
      </p:sp>
      <p:sp>
        <p:nvSpPr>
          <p:cNvPr id="21" name="Rectangle 20"/>
          <p:cNvSpPr/>
          <p:nvPr/>
        </p:nvSpPr>
        <p:spPr>
          <a:xfrm>
            <a:off x="3429000" y="4069080"/>
            <a:ext cx="1097280" cy="201168"/>
          </a:xfrm>
          <a:prstGeom prst="roundRect">
            <a:avLst>
              <a:gd name="adj" fmla="val 10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65576" y="4087368"/>
            <a:ext cx="1097280" cy="182880"/>
          </a:xfrm>
          <a:prstGeom prst="rect">
            <a:avLst/>
          </a:prstGeom>
          <a:noFill/>
        </p:spPr>
        <p:txBody>
          <a:bodyPr wrap="square">
            <a:spAutoFit/>
          </a:bodyPr>
          <a:lstStyle/>
          <a:p>
            <a:pPr algn="l"/>
            <a:r>
              <a:rPr sz="800" b="1">
                <a:solidFill>
                  <a:srgbClr val="FF7200"/>
                </a:solidFill>
                <a:latin typeface="DM Sans"/>
              </a:rPr>
              <a:t>Bank-bridged</a:t>
            </a:r>
          </a:p>
        </p:txBody>
      </p:sp>
      <p:sp>
        <p:nvSpPr>
          <p:cNvPr id="23" name="Rectangle 22"/>
          <p:cNvSpPr/>
          <p:nvPr/>
        </p:nvSpPr>
        <p:spPr>
          <a:xfrm>
            <a:off x="6117336" y="2103120"/>
            <a:ext cx="2788920" cy="2240280"/>
          </a:xfrm>
          <a:prstGeom prst="roundRect">
            <a:avLst>
              <a:gd name="adj" fmla="val 12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81928" y="2267712"/>
            <a:ext cx="347472" cy="347472"/>
          </a:xfrm>
          <a:prstGeom prst="roundRect">
            <a:avLst>
              <a:gd name="adj" fmla="val 15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81928" y="2231136"/>
            <a:ext cx="347472" cy="347472"/>
          </a:xfrm>
          <a:prstGeom prst="rect">
            <a:avLst/>
          </a:prstGeom>
          <a:noFill/>
        </p:spPr>
        <p:txBody>
          <a:bodyPr wrap="square">
            <a:spAutoFit/>
          </a:bodyPr>
          <a:lstStyle/>
          <a:p>
            <a:pPr algn="ctr"/>
            <a:r>
              <a:rPr sz="1600" b="0">
                <a:solidFill>
                  <a:srgbClr val="FFFFFF"/>
                </a:solidFill>
                <a:latin typeface="DM Sans"/>
              </a:rPr>
              <a:t>⚡</a:t>
            </a:r>
          </a:p>
        </p:txBody>
      </p:sp>
      <p:sp>
        <p:nvSpPr>
          <p:cNvPr id="26" name="TextBox 25"/>
          <p:cNvSpPr txBox="1"/>
          <p:nvPr/>
        </p:nvSpPr>
        <p:spPr>
          <a:xfrm>
            <a:off x="6281928" y="2670048"/>
            <a:ext cx="2459736" cy="256032"/>
          </a:xfrm>
          <a:prstGeom prst="rect">
            <a:avLst/>
          </a:prstGeom>
          <a:noFill/>
        </p:spPr>
        <p:txBody>
          <a:bodyPr wrap="square">
            <a:spAutoFit/>
          </a:bodyPr>
          <a:lstStyle/>
          <a:p>
            <a:pPr algn="l"/>
            <a:r>
              <a:rPr sz="1050" b="1">
                <a:solidFill>
                  <a:srgbClr val="FFFFFF"/>
                </a:solidFill>
                <a:latin typeface="DM Sans"/>
              </a:rPr>
              <a:t>Smart Contract Simulation</a:t>
            </a:r>
          </a:p>
        </p:txBody>
      </p:sp>
      <p:sp>
        <p:nvSpPr>
          <p:cNvPr id="27" name="TextBox 26"/>
          <p:cNvSpPr txBox="1"/>
          <p:nvPr/>
        </p:nvSpPr>
        <p:spPr>
          <a:xfrm>
            <a:off x="6281928" y="2944368"/>
            <a:ext cx="2459736" cy="1161288"/>
          </a:xfrm>
          <a:prstGeom prst="rect">
            <a:avLst/>
          </a:prstGeom>
          <a:noFill/>
        </p:spPr>
        <p:txBody>
          <a:bodyPr wrap="square">
            <a:spAutoFit/>
          </a:bodyPr>
          <a:lstStyle/>
          <a:p>
            <a:r>
              <a:rPr sz="900">
                <a:solidFill>
                  <a:srgbClr val="B0BDCC"/>
                </a:solidFill>
                <a:latin typeface="DM Sans"/>
              </a:rPr>
              <a:t>Payment release conditions are encoded in a contract. When all conditions are met — e.g. Bill of Lading and Certificate of Origin verified — payment is automatically released and anchored with the contract hash.</a:t>
            </a:r>
          </a:p>
        </p:txBody>
      </p:sp>
      <p:sp>
        <p:nvSpPr>
          <p:cNvPr id="28" name="Rectangle 27"/>
          <p:cNvSpPr/>
          <p:nvPr/>
        </p:nvSpPr>
        <p:spPr>
          <a:xfrm>
            <a:off x="6281928" y="4069080"/>
            <a:ext cx="1097280" cy="201168"/>
          </a:xfrm>
          <a:prstGeom prst="roundRect">
            <a:avLst>
              <a:gd name="adj" fmla="val 10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18504" y="4087368"/>
            <a:ext cx="1097280" cy="182880"/>
          </a:xfrm>
          <a:prstGeom prst="rect">
            <a:avLst/>
          </a:prstGeom>
          <a:noFill/>
        </p:spPr>
        <p:txBody>
          <a:bodyPr wrap="square">
            <a:spAutoFit/>
          </a:bodyPr>
          <a:lstStyle/>
          <a:p>
            <a:pPr algn="l"/>
            <a:r>
              <a:rPr sz="800" b="1">
                <a:solidFill>
                  <a:srgbClr val="FF7200"/>
                </a:solidFill>
                <a:latin typeface="DM Sans"/>
              </a:rPr>
              <a:t>Auto-release</a:t>
            </a:r>
          </a:p>
        </p:txBody>
      </p:sp>
      <p:sp>
        <p:nvSpPr>
          <p:cNvPr id="30" name="Rectangle 29"/>
          <p:cNvSpPr/>
          <p:nvPr/>
        </p:nvSpPr>
        <p:spPr>
          <a:xfrm>
            <a:off x="8970264" y="2103120"/>
            <a:ext cx="2788920" cy="2240280"/>
          </a:xfrm>
          <a:prstGeom prst="roundRect">
            <a:avLst>
              <a:gd name="adj" fmla="val 12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34856" y="2267712"/>
            <a:ext cx="347472" cy="347472"/>
          </a:xfrm>
          <a:prstGeom prst="roundRect">
            <a:avLst>
              <a:gd name="adj" fmla="val 15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34856" y="2231136"/>
            <a:ext cx="347472" cy="347472"/>
          </a:xfrm>
          <a:prstGeom prst="rect">
            <a:avLst/>
          </a:prstGeom>
          <a:noFill/>
        </p:spPr>
        <p:txBody>
          <a:bodyPr wrap="square">
            <a:spAutoFit/>
          </a:bodyPr>
          <a:lstStyle/>
          <a:p>
            <a:pPr algn="ctr"/>
            <a:r>
              <a:rPr sz="1600" b="0">
                <a:solidFill>
                  <a:srgbClr val="FFFFFF"/>
                </a:solidFill>
                <a:latin typeface="DM Sans"/>
              </a:rPr>
              <a:t>🛡️</a:t>
            </a:r>
          </a:p>
        </p:txBody>
      </p:sp>
      <p:sp>
        <p:nvSpPr>
          <p:cNvPr id="33" name="TextBox 32"/>
          <p:cNvSpPr txBox="1"/>
          <p:nvPr/>
        </p:nvSpPr>
        <p:spPr>
          <a:xfrm>
            <a:off x="9134856" y="2670048"/>
            <a:ext cx="2459736" cy="256032"/>
          </a:xfrm>
          <a:prstGeom prst="rect">
            <a:avLst/>
          </a:prstGeom>
          <a:noFill/>
        </p:spPr>
        <p:txBody>
          <a:bodyPr wrap="square">
            <a:spAutoFit/>
          </a:bodyPr>
          <a:lstStyle/>
          <a:p>
            <a:pPr algn="l"/>
            <a:r>
              <a:rPr sz="1050" b="1">
                <a:solidFill>
                  <a:srgbClr val="FFFFFF"/>
                </a:solidFill>
                <a:latin typeface="DM Sans"/>
              </a:rPr>
              <a:t>Finance Permissions Layer</a:t>
            </a:r>
          </a:p>
        </p:txBody>
      </p:sp>
      <p:sp>
        <p:nvSpPr>
          <p:cNvPr id="34" name="TextBox 33"/>
          <p:cNvSpPr txBox="1"/>
          <p:nvPr/>
        </p:nvSpPr>
        <p:spPr>
          <a:xfrm>
            <a:off x="9134856" y="2944368"/>
            <a:ext cx="2459736" cy="1161288"/>
          </a:xfrm>
          <a:prstGeom prst="rect">
            <a:avLst/>
          </a:prstGeom>
          <a:noFill/>
        </p:spPr>
        <p:txBody>
          <a:bodyPr wrap="square">
            <a:spAutoFit/>
          </a:bodyPr>
          <a:lstStyle/>
          <a:p>
            <a:r>
              <a:rPr sz="900">
                <a:solidFill>
                  <a:srgbClr val="B0BDCC"/>
                </a:solidFill>
                <a:latin typeface="DM Sans"/>
              </a:rPr>
              <a:t>Financial data has its own separate permission layer from trade data. A customs officer who can see a consignment cannot see its payment records unless the exporter explicitly shares finance access.</a:t>
            </a:r>
          </a:p>
        </p:txBody>
      </p:sp>
      <p:sp>
        <p:nvSpPr>
          <p:cNvPr id="35" name="Rectangle 34"/>
          <p:cNvSpPr/>
          <p:nvPr/>
        </p:nvSpPr>
        <p:spPr>
          <a:xfrm>
            <a:off x="9134856" y="4069080"/>
            <a:ext cx="1234440" cy="201168"/>
          </a:xfrm>
          <a:prstGeom prst="roundRect">
            <a:avLst>
              <a:gd name="adj" fmla="val 10000"/>
            </a:avLst>
          </a:prstGeom>
          <a:solidFill>
            <a:srgbClr val="2B1A08"/>
          </a:solidFill>
          <a:ln w="762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71432" y="4087368"/>
            <a:ext cx="1234440" cy="182880"/>
          </a:xfrm>
          <a:prstGeom prst="rect">
            <a:avLst/>
          </a:prstGeom>
          <a:noFill/>
        </p:spPr>
        <p:txBody>
          <a:bodyPr wrap="square">
            <a:spAutoFit/>
          </a:bodyPr>
          <a:lstStyle/>
          <a:p>
            <a:pPr algn="l"/>
            <a:r>
              <a:rPr sz="800" b="1">
                <a:solidFill>
                  <a:srgbClr val="FF7200"/>
                </a:solidFill>
                <a:latin typeface="DM Sans"/>
              </a:rPr>
              <a:t>Separate layer</a:t>
            </a:r>
          </a:p>
        </p:txBody>
      </p:sp>
      <p:sp>
        <p:nvSpPr>
          <p:cNvPr id="37" name="Rectangle 36"/>
          <p:cNvSpPr/>
          <p:nvPr/>
        </p:nvSpPr>
        <p:spPr>
          <a:xfrm>
            <a:off x="411480" y="4480560"/>
            <a:ext cx="11365992" cy="2103120"/>
          </a:xfrm>
          <a:prstGeom prst="roundRect">
            <a:avLst>
              <a:gd name="adj" fmla="val 10000"/>
            </a:avLst>
          </a:prstGeom>
          <a:solidFill>
            <a:srgbClr val="1C3055"/>
          </a:solidFill>
          <a:ln w="9525">
            <a:solidFill>
              <a:srgbClr val="2A4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4617720"/>
            <a:ext cx="10972800" cy="274320"/>
          </a:xfrm>
          <a:prstGeom prst="rect">
            <a:avLst/>
          </a:prstGeom>
          <a:noFill/>
        </p:spPr>
        <p:txBody>
          <a:bodyPr wrap="square">
            <a:spAutoFit/>
          </a:bodyPr>
          <a:lstStyle/>
          <a:p>
            <a:pPr algn="l"/>
            <a:r>
              <a:rPr sz="1100" b="1">
                <a:solidFill>
                  <a:srgbClr val="FFFFFF"/>
                </a:solidFill>
                <a:latin typeface="DM Sans"/>
              </a:rPr>
              <a:t>🖥️  Node Architecture — Data Stays Where It Belongs</a:t>
            </a:r>
          </a:p>
        </p:txBody>
      </p:sp>
      <p:sp>
        <p:nvSpPr>
          <p:cNvPr id="39" name="TextBox 38"/>
          <p:cNvSpPr txBox="1"/>
          <p:nvPr/>
        </p:nvSpPr>
        <p:spPr>
          <a:xfrm>
            <a:off x="594360" y="4956048"/>
            <a:ext cx="3566160" cy="201168"/>
          </a:xfrm>
          <a:prstGeom prst="rect">
            <a:avLst/>
          </a:prstGeom>
          <a:noFill/>
        </p:spPr>
        <p:txBody>
          <a:bodyPr wrap="square">
            <a:spAutoFit/>
          </a:bodyPr>
          <a:lstStyle/>
          <a:p>
            <a:pPr algn="l"/>
            <a:r>
              <a:rPr sz="950" b="1">
                <a:solidFill>
                  <a:srgbClr val="FF7200"/>
                </a:solidFill>
                <a:latin typeface="DM Sans"/>
              </a:rPr>
              <a:t>Ownership</a:t>
            </a:r>
          </a:p>
        </p:txBody>
      </p:sp>
      <p:sp>
        <p:nvSpPr>
          <p:cNvPr id="40" name="TextBox 39"/>
          <p:cNvSpPr txBox="1"/>
          <p:nvPr/>
        </p:nvSpPr>
        <p:spPr>
          <a:xfrm>
            <a:off x="594360" y="5175504"/>
            <a:ext cx="3566160" cy="1234440"/>
          </a:xfrm>
          <a:prstGeom prst="rect">
            <a:avLst/>
          </a:prstGeom>
          <a:noFill/>
        </p:spPr>
        <p:txBody>
          <a:bodyPr wrap="square">
            <a:spAutoFit/>
          </a:bodyPr>
          <a:lstStyle/>
          <a:p>
            <a:pPr algn="l"/>
            <a:r>
              <a:rPr sz="950" b="0">
                <a:solidFill>
                  <a:srgbClr val="B0BDCC"/>
                </a:solidFill>
                <a:latin typeface="DM Sans"/>
              </a:rPr>
              <a:t>Each node is operated by its owner — a government ministry, customs authority or trade institution. They control what data enters, who can see it and when access is revoked.</a:t>
            </a:r>
          </a:p>
        </p:txBody>
      </p:sp>
      <p:sp>
        <p:nvSpPr>
          <p:cNvPr id="41" name="Rectangle 40"/>
          <p:cNvSpPr/>
          <p:nvPr/>
        </p:nvSpPr>
        <p:spPr>
          <a:xfrm>
            <a:off x="4215384" y="4892040"/>
            <a:ext cx="9144" cy="1554480"/>
          </a:xfrm>
          <a:prstGeom prst="rect">
            <a:avLst/>
          </a:prstGeom>
          <a:solidFill>
            <a:srgbClr val="2A4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61688" y="4956048"/>
            <a:ext cx="3566160" cy="201168"/>
          </a:xfrm>
          <a:prstGeom prst="rect">
            <a:avLst/>
          </a:prstGeom>
          <a:noFill/>
        </p:spPr>
        <p:txBody>
          <a:bodyPr wrap="square">
            <a:spAutoFit/>
          </a:bodyPr>
          <a:lstStyle/>
          <a:p>
            <a:pPr algn="l"/>
            <a:r>
              <a:rPr sz="950" b="1">
                <a:solidFill>
                  <a:srgbClr val="FF7200"/>
                </a:solidFill>
                <a:latin typeface="DM Sans"/>
              </a:rPr>
              <a:t>Peer Sync</a:t>
            </a:r>
          </a:p>
        </p:txBody>
      </p:sp>
      <p:sp>
        <p:nvSpPr>
          <p:cNvPr id="43" name="TextBox 42"/>
          <p:cNvSpPr txBox="1"/>
          <p:nvPr/>
        </p:nvSpPr>
        <p:spPr>
          <a:xfrm>
            <a:off x="4361688" y="5175504"/>
            <a:ext cx="3566160" cy="1234440"/>
          </a:xfrm>
          <a:prstGeom prst="rect">
            <a:avLst/>
          </a:prstGeom>
          <a:noFill/>
        </p:spPr>
        <p:txBody>
          <a:bodyPr wrap="square">
            <a:spAutoFit/>
          </a:bodyPr>
          <a:lstStyle/>
          <a:p>
            <a:pPr algn="l"/>
            <a:r>
              <a:rPr sz="950" b="0">
                <a:solidFill>
                  <a:srgbClr val="B0BDCC"/>
                </a:solidFill>
                <a:latin typeface="DM Sans"/>
              </a:rPr>
              <a:t>Nodes connect peer-to-peer to share organisation directories and permitted data. In this demo, Node Alpha (exporters &amp; customs) connects to Node Beta (importers) to enable cross-party visibility.</a:t>
            </a:r>
          </a:p>
        </p:txBody>
      </p:sp>
      <p:sp>
        <p:nvSpPr>
          <p:cNvPr id="44" name="Rectangle 43"/>
          <p:cNvSpPr/>
          <p:nvPr/>
        </p:nvSpPr>
        <p:spPr>
          <a:xfrm>
            <a:off x="7982712" y="4892040"/>
            <a:ext cx="9144" cy="1554480"/>
          </a:xfrm>
          <a:prstGeom prst="rect">
            <a:avLst/>
          </a:prstGeom>
          <a:solidFill>
            <a:srgbClr val="2A4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29016" y="4956048"/>
            <a:ext cx="3566160" cy="201168"/>
          </a:xfrm>
          <a:prstGeom prst="rect">
            <a:avLst/>
          </a:prstGeom>
          <a:noFill/>
        </p:spPr>
        <p:txBody>
          <a:bodyPr wrap="square">
            <a:spAutoFit/>
          </a:bodyPr>
          <a:lstStyle/>
          <a:p>
            <a:pPr algn="l"/>
            <a:r>
              <a:rPr sz="950" b="1">
                <a:solidFill>
                  <a:srgbClr val="FF7200"/>
                </a:solidFill>
                <a:latin typeface="DM Sans"/>
              </a:rPr>
              <a:t>Data Protection</a:t>
            </a:r>
          </a:p>
        </p:txBody>
      </p:sp>
      <p:sp>
        <p:nvSpPr>
          <p:cNvPr id="46" name="TextBox 45"/>
          <p:cNvSpPr txBox="1"/>
          <p:nvPr/>
        </p:nvSpPr>
        <p:spPr>
          <a:xfrm>
            <a:off x="8129016" y="5175504"/>
            <a:ext cx="3566160" cy="1234440"/>
          </a:xfrm>
          <a:prstGeom prst="rect">
            <a:avLst/>
          </a:prstGeom>
          <a:noFill/>
        </p:spPr>
        <p:txBody>
          <a:bodyPr wrap="square">
            <a:spAutoFit/>
          </a:bodyPr>
          <a:lstStyle/>
          <a:p>
            <a:pPr algn="l"/>
            <a:r>
              <a:rPr sz="950" b="0">
                <a:solidFill>
                  <a:srgbClr val="B0BDCC"/>
                </a:solidFill>
                <a:latin typeface="DM Sans"/>
              </a:rPr>
              <a:t>A consignment's documents, payments and contracts are visible only to organisations that have been granted explicit access. No party sees data they have not been invited to — even on the same node.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224E"/>
        </a:solidFill>
        <a:effectLst/>
      </p:bgPr>
    </p:bg>
    <p:spTree>
      <p:nvGrpSpPr>
        <p:cNvPr id="1" name=""/>
        <p:cNvGrpSpPr/>
        <p:nvPr/>
      </p:nvGrpSpPr>
      <p:grpSpPr/>
      <p:sp>
        <p:nvSpPr>
          <p:cNvPr id="2" name="Rectangle 1"/>
          <p:cNvSpPr/>
          <p:nvPr/>
        </p:nvSpPr>
        <p:spPr>
          <a:xfrm>
            <a:off x="411480" y="246888"/>
            <a:ext cx="384048" cy="384048"/>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46888"/>
            <a:ext cx="384048" cy="384048"/>
          </a:xfrm>
          <a:prstGeom prst="rect">
            <a:avLst/>
          </a:prstGeom>
          <a:noFill/>
        </p:spPr>
        <p:txBody>
          <a:bodyPr wrap="square"/>
          <a:lstStyle/>
          <a:p>
            <a:pPr algn="ctr"/>
            <a:r>
              <a:rPr sz="1400" b="0">
                <a:solidFill>
                  <a:srgbClr val="FFFFFF"/>
                </a:solidFill>
                <a:latin typeface="DM Sans"/>
              </a:rPr>
              <a:t>🌍</a:t>
            </a:r>
          </a:p>
        </p:txBody>
      </p:sp>
      <p:sp>
        <p:nvSpPr>
          <p:cNvPr id="4" name="TextBox 3"/>
          <p:cNvSpPr txBox="1"/>
          <p:nvPr/>
        </p:nvSpPr>
        <p:spPr>
          <a:xfrm>
            <a:off x="850392" y="256032"/>
            <a:ext cx="1280160" cy="228600"/>
          </a:xfrm>
          <a:prstGeom prst="rect">
            <a:avLst/>
          </a:prstGeom>
          <a:noFill/>
        </p:spPr>
        <p:txBody>
          <a:bodyPr wrap="square"/>
          <a:lstStyle/>
          <a:p>
            <a:pPr algn="l"/>
            <a:r>
              <a:rPr sz="1150" b="1">
                <a:solidFill>
                  <a:srgbClr val="FFFFFF"/>
                </a:solidFill>
                <a:latin typeface="DM Sans"/>
              </a:rPr>
              <a:t>ADAPT</a:t>
            </a:r>
          </a:p>
        </p:txBody>
      </p:sp>
      <p:sp>
        <p:nvSpPr>
          <p:cNvPr id="5" name="TextBox 4"/>
          <p:cNvSpPr txBox="1"/>
          <p:nvPr/>
        </p:nvSpPr>
        <p:spPr>
          <a:xfrm>
            <a:off x="11064240" y="274320"/>
            <a:ext cx="914400" cy="274320"/>
          </a:xfrm>
          <a:prstGeom prst="rect">
            <a:avLst/>
          </a:prstGeom>
          <a:noFill/>
        </p:spPr>
        <p:txBody>
          <a:bodyPr wrap="none">
            <a:spAutoFit/>
          </a:bodyPr>
          <a:lstStyle/>
          <a:p>
            <a:pPr algn="r"/>
            <a:r>
              <a:rPr sz="1100" b="1">
                <a:solidFill>
                  <a:srgbClr val="FF7200"/>
                </a:solidFill>
                <a:latin typeface="DM Sans"/>
              </a:rPr>
              <a:t>05</a:t>
            </a:r>
            <a:r>
              <a:rPr sz="1100">
                <a:solidFill>
                  <a:srgbClr val="708299"/>
                </a:solidFill>
                <a:latin typeface="DM Sans"/>
              </a:rPr>
              <a:t xml:space="preserve"> / 12</a:t>
            </a:r>
          </a:p>
        </p:txBody>
      </p:sp>
      <p:sp>
        <p:nvSpPr>
          <p:cNvPr id="6" name="Rectangle 5"/>
          <p:cNvSpPr/>
          <p:nvPr/>
        </p:nvSpPr>
        <p:spPr>
          <a:xfrm>
            <a:off x="411480" y="804672"/>
            <a:ext cx="2286000" cy="2560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4632" y="832104"/>
            <a:ext cx="2286000" cy="219456"/>
          </a:xfrm>
          <a:prstGeom prst="rect">
            <a:avLst/>
          </a:prstGeom>
          <a:noFill/>
        </p:spPr>
        <p:txBody>
          <a:bodyPr wrap="square"/>
          <a:lstStyle/>
          <a:p>
            <a:pPr algn="l"/>
            <a:r>
              <a:rPr sz="950" b="1">
                <a:solidFill>
                  <a:srgbClr val="FF7200"/>
                </a:solidFill>
                <a:latin typeface="DM Sans"/>
              </a:rPr>
              <a:t>● HOW TO PARTICIPATE</a:t>
            </a:r>
          </a:p>
        </p:txBody>
      </p:sp>
      <p:sp>
        <p:nvSpPr>
          <p:cNvPr id="8" name="TextBox 7"/>
          <p:cNvSpPr txBox="1"/>
          <p:nvPr/>
        </p:nvSpPr>
        <p:spPr>
          <a:xfrm>
            <a:off x="411480" y="1170432"/>
            <a:ext cx="11338560" cy="548640"/>
          </a:xfrm>
          <a:prstGeom prst="rect">
            <a:avLst/>
          </a:prstGeom>
          <a:noFill/>
        </p:spPr>
        <p:txBody>
          <a:bodyPr wrap="square"/>
          <a:lstStyle/>
          <a:p>
            <a:pPr algn="l"/>
            <a:r>
              <a:rPr sz="2800" b="1">
                <a:solidFill>
                  <a:srgbClr val="FFFFFF"/>
                </a:solidFill>
                <a:latin typeface="DM Sans"/>
              </a:rPr>
              <a:t>Three ways to connect your organisation to ADAPT.</a:t>
            </a:r>
          </a:p>
        </p:txBody>
      </p:sp>
      <p:sp>
        <p:nvSpPr>
          <p:cNvPr id="9" name="TextBox 8"/>
          <p:cNvSpPr txBox="1"/>
          <p:nvPr/>
        </p:nvSpPr>
        <p:spPr>
          <a:xfrm>
            <a:off x="411480" y="1783080"/>
            <a:ext cx="11338560" cy="384048"/>
          </a:xfrm>
          <a:prstGeom prst="rect">
            <a:avLst/>
          </a:prstGeom>
          <a:noFill/>
        </p:spPr>
        <p:txBody>
          <a:bodyPr wrap="square"/>
          <a:lstStyle/>
          <a:p>
            <a:pPr algn="l"/>
            <a:r>
              <a:rPr sz="1200" b="0">
                <a:solidFill>
                  <a:srgbClr val="B0BDCC"/>
                </a:solidFill>
                <a:latin typeface="DM Sans"/>
              </a:rPr>
              <a:t>Whether you're a government authority, a large trader, or a small importer — there is an integration path that fits your capacity.</a:t>
            </a:r>
          </a:p>
        </p:txBody>
      </p:sp>
      <p:sp>
        <p:nvSpPr>
          <p:cNvPr id="10" name="Rectangle 9"/>
          <p:cNvSpPr/>
          <p:nvPr/>
        </p:nvSpPr>
        <p:spPr>
          <a:xfrm>
            <a:off x="411480" y="2450592"/>
            <a:ext cx="3566160" cy="3108960"/>
          </a:xfrm>
          <a:prstGeom prst="rect">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2560320"/>
            <a:ext cx="3566160" cy="384048"/>
          </a:xfrm>
          <a:prstGeom prst="rect">
            <a:avLst/>
          </a:prstGeom>
          <a:noFill/>
        </p:spPr>
        <p:txBody>
          <a:bodyPr wrap="square"/>
          <a:lstStyle/>
          <a:p>
            <a:pPr algn="l"/>
            <a:r>
              <a:rPr sz="2000" b="0">
                <a:solidFill>
                  <a:srgbClr val="FFFFFF"/>
                </a:solidFill>
                <a:latin typeface="DM Sans"/>
              </a:rPr>
              <a:t>🖥️</a:t>
            </a:r>
          </a:p>
        </p:txBody>
      </p:sp>
      <p:sp>
        <p:nvSpPr>
          <p:cNvPr id="12" name="TextBox 11"/>
          <p:cNvSpPr txBox="1"/>
          <p:nvPr/>
        </p:nvSpPr>
        <p:spPr>
          <a:xfrm>
            <a:off x="521208" y="3017520"/>
            <a:ext cx="3383279" cy="329184"/>
          </a:xfrm>
          <a:prstGeom prst="rect">
            <a:avLst/>
          </a:prstGeom>
          <a:noFill/>
        </p:spPr>
        <p:txBody>
          <a:bodyPr wrap="square"/>
          <a:lstStyle/>
          <a:p>
            <a:pPr algn="l"/>
            <a:r>
              <a:rPr sz="1400" b="1">
                <a:solidFill>
                  <a:srgbClr val="FFFFFF"/>
                </a:solidFill>
                <a:latin typeface="DM Sans"/>
              </a:rPr>
              <a:t>Host a Node</a:t>
            </a:r>
          </a:p>
        </p:txBody>
      </p:sp>
      <p:sp>
        <p:nvSpPr>
          <p:cNvPr id="13" name="TextBox 12"/>
          <p:cNvSpPr txBox="1"/>
          <p:nvPr/>
        </p:nvSpPr>
        <p:spPr>
          <a:xfrm>
            <a:off x="521208" y="3383280"/>
            <a:ext cx="3346704" cy="1417320"/>
          </a:xfrm>
          <a:prstGeom prst="rect">
            <a:avLst/>
          </a:prstGeom>
          <a:noFill/>
        </p:spPr>
        <p:txBody>
          <a:bodyPr wrap="square"/>
          <a:lstStyle/>
          <a:p>
            <a:pPr algn="l"/>
            <a:r>
              <a:rPr sz="1100" b="0">
                <a:solidFill>
                  <a:srgbClr val="B0BDCC"/>
                </a:solidFill>
                <a:latin typeface="DM Sans"/>
              </a:rPr>
              <a:t>Run your own ADAPT node on your infrastructure. Publish and manage your organisation's data locally — consignments, identities, documents. Sync automatically with peer nodes via P2P when you grant permission.</a:t>
            </a:r>
          </a:p>
        </p:txBody>
      </p:sp>
      <p:sp>
        <p:nvSpPr>
          <p:cNvPr id="14" name="Rectangle 13"/>
          <p:cNvSpPr/>
          <p:nvPr/>
        </p:nvSpPr>
        <p:spPr>
          <a:xfrm>
            <a:off x="521208" y="5175504"/>
            <a:ext cx="3346704" cy="274320"/>
          </a:xfrm>
          <a:prstGeom prst="rect">
            <a:avLst/>
          </a:prstGeom>
          <a:solidFill>
            <a:srgbClr val="0F2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 y="5184648"/>
            <a:ext cx="3310128" cy="256032"/>
          </a:xfrm>
          <a:prstGeom prst="rect">
            <a:avLst/>
          </a:prstGeom>
          <a:noFill/>
        </p:spPr>
        <p:txBody>
          <a:bodyPr wrap="square"/>
          <a:lstStyle/>
          <a:p>
            <a:pPr algn="l"/>
            <a:r>
              <a:rPr sz="900" b="0">
                <a:solidFill>
                  <a:srgbClr val="708299"/>
                </a:solidFill>
                <a:latin typeface="DM Sans"/>
              </a:rPr>
              <a:t>Best for: governments, customs authorities, major trade institutions</a:t>
            </a:r>
          </a:p>
        </p:txBody>
      </p:sp>
      <p:sp>
        <p:nvSpPr>
          <p:cNvPr id="16" name="Rectangle 15"/>
          <p:cNvSpPr/>
          <p:nvPr/>
        </p:nvSpPr>
        <p:spPr>
          <a:xfrm>
            <a:off x="4315968" y="2450592"/>
            <a:ext cx="3566160" cy="3108960"/>
          </a:xfrm>
          <a:prstGeom prst="rect">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15968" y="2560320"/>
            <a:ext cx="3566160" cy="384048"/>
          </a:xfrm>
          <a:prstGeom prst="rect">
            <a:avLst/>
          </a:prstGeom>
          <a:noFill/>
        </p:spPr>
        <p:txBody>
          <a:bodyPr wrap="square"/>
          <a:lstStyle/>
          <a:p>
            <a:pPr algn="l"/>
            <a:r>
              <a:rPr sz="2000" b="0">
                <a:solidFill>
                  <a:srgbClr val="FFFFFF"/>
                </a:solidFill>
                <a:latin typeface="DM Sans"/>
              </a:rPr>
              <a:t>🔌</a:t>
            </a:r>
          </a:p>
        </p:txBody>
      </p:sp>
      <p:sp>
        <p:nvSpPr>
          <p:cNvPr id="18" name="TextBox 17"/>
          <p:cNvSpPr txBox="1"/>
          <p:nvPr/>
        </p:nvSpPr>
        <p:spPr>
          <a:xfrm>
            <a:off x="4425696" y="3017520"/>
            <a:ext cx="3383279" cy="329184"/>
          </a:xfrm>
          <a:prstGeom prst="rect">
            <a:avLst/>
          </a:prstGeom>
          <a:noFill/>
        </p:spPr>
        <p:txBody>
          <a:bodyPr wrap="square"/>
          <a:lstStyle/>
          <a:p>
            <a:pPr algn="l"/>
            <a:r>
              <a:rPr sz="1400" b="1">
                <a:solidFill>
                  <a:srgbClr val="FFFFFF"/>
                </a:solidFill>
                <a:latin typeface="DM Sans"/>
              </a:rPr>
              <a:t>API Integration</a:t>
            </a:r>
          </a:p>
        </p:txBody>
      </p:sp>
      <p:sp>
        <p:nvSpPr>
          <p:cNvPr id="19" name="TextBox 18"/>
          <p:cNvSpPr txBox="1"/>
          <p:nvPr/>
        </p:nvSpPr>
        <p:spPr>
          <a:xfrm>
            <a:off x="4425696" y="3383280"/>
            <a:ext cx="3346704" cy="1417320"/>
          </a:xfrm>
          <a:prstGeom prst="rect">
            <a:avLst/>
          </a:prstGeom>
          <a:noFill/>
        </p:spPr>
        <p:txBody>
          <a:bodyPr wrap="square"/>
          <a:lstStyle/>
          <a:p>
            <a:pPr algn="l"/>
            <a:r>
              <a:rPr sz="1100" b="0">
                <a:solidFill>
                  <a:srgbClr val="B0BDCC"/>
                </a:solidFill>
                <a:latin typeface="DM Sans"/>
              </a:rPr>
              <a:t>Connect your existing ERP, customs portal, or port management system directly to the framework via REST API. Push and pull consignment data, documents, and events programmatically — no UI required.</a:t>
            </a:r>
          </a:p>
        </p:txBody>
      </p:sp>
      <p:sp>
        <p:nvSpPr>
          <p:cNvPr id="20" name="Rectangle 19"/>
          <p:cNvSpPr/>
          <p:nvPr/>
        </p:nvSpPr>
        <p:spPr>
          <a:xfrm>
            <a:off x="4425696" y="5175504"/>
            <a:ext cx="3346704" cy="274320"/>
          </a:xfrm>
          <a:prstGeom prst="rect">
            <a:avLst/>
          </a:prstGeom>
          <a:solidFill>
            <a:srgbClr val="0F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43983" y="5184648"/>
            <a:ext cx="3310128" cy="256032"/>
          </a:xfrm>
          <a:prstGeom prst="rect">
            <a:avLst/>
          </a:prstGeom>
          <a:noFill/>
        </p:spPr>
        <p:txBody>
          <a:bodyPr wrap="square"/>
          <a:lstStyle/>
          <a:p>
            <a:pPr algn="l"/>
            <a:r>
              <a:rPr sz="900" b="0">
                <a:solidFill>
                  <a:srgbClr val="708299"/>
                </a:solidFill>
                <a:latin typeface="DM Sans"/>
              </a:rPr>
              <a:t>Best for: national agencies, banks, logistics platforms with existing systems</a:t>
            </a:r>
          </a:p>
        </p:txBody>
      </p:sp>
      <p:sp>
        <p:nvSpPr>
          <p:cNvPr id="22" name="Rectangle 21"/>
          <p:cNvSpPr/>
          <p:nvPr/>
        </p:nvSpPr>
        <p:spPr>
          <a:xfrm>
            <a:off x="8211312" y="2450592"/>
            <a:ext cx="3566160" cy="3108960"/>
          </a:xfrm>
          <a:prstGeom prst="rect">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11312" y="2560320"/>
            <a:ext cx="3566160" cy="384048"/>
          </a:xfrm>
          <a:prstGeom prst="rect">
            <a:avLst/>
          </a:prstGeom>
          <a:noFill/>
        </p:spPr>
        <p:txBody>
          <a:bodyPr wrap="square"/>
          <a:lstStyle/>
          <a:p>
            <a:pPr algn="l"/>
            <a:r>
              <a:rPr sz="2000" b="0">
                <a:solidFill>
                  <a:srgbClr val="FFFFFF"/>
                </a:solidFill>
                <a:latin typeface="DM Sans"/>
              </a:rPr>
              <a:t>📤</a:t>
            </a:r>
          </a:p>
        </p:txBody>
      </p:sp>
      <p:sp>
        <p:nvSpPr>
          <p:cNvPr id="24" name="TextBox 23"/>
          <p:cNvSpPr txBox="1"/>
          <p:nvPr/>
        </p:nvSpPr>
        <p:spPr>
          <a:xfrm>
            <a:off x="8321040" y="3017520"/>
            <a:ext cx="3383279" cy="329184"/>
          </a:xfrm>
          <a:prstGeom prst="rect">
            <a:avLst/>
          </a:prstGeom>
          <a:noFill/>
        </p:spPr>
        <p:txBody>
          <a:bodyPr wrap="square"/>
          <a:lstStyle/>
          <a:p>
            <a:pPr algn="l"/>
            <a:r>
              <a:rPr sz="1400" b="1">
                <a:solidFill>
                  <a:srgbClr val="FFFFFF"/>
                </a:solidFill>
                <a:latin typeface="DM Sans"/>
              </a:rPr>
              <a:t>Upload via UI</a:t>
            </a:r>
          </a:p>
        </p:txBody>
      </p:sp>
      <p:sp>
        <p:nvSpPr>
          <p:cNvPr id="25" name="TextBox 24"/>
          <p:cNvSpPr txBox="1"/>
          <p:nvPr/>
        </p:nvSpPr>
        <p:spPr>
          <a:xfrm>
            <a:off x="8321040" y="3383280"/>
            <a:ext cx="3346704" cy="1417320"/>
          </a:xfrm>
          <a:prstGeom prst="rect">
            <a:avLst/>
          </a:prstGeom>
          <a:noFill/>
        </p:spPr>
        <p:txBody>
          <a:bodyPr wrap="square"/>
          <a:lstStyle/>
          <a:p>
            <a:pPr algn="l"/>
            <a:r>
              <a:rPr sz="1100" b="0">
                <a:solidFill>
                  <a:srgbClr val="B0BDCC"/>
                </a:solidFill>
                <a:latin typeface="DM Sans"/>
              </a:rPr>
              <a:t>Use the web interface directly. Upload documents, register your organisation's DID, create consignments, and share trade data with partners — all from a browser. No technical integration needed.</a:t>
            </a:r>
          </a:p>
        </p:txBody>
      </p:sp>
      <p:sp>
        <p:nvSpPr>
          <p:cNvPr id="26" name="Rectangle 25"/>
          <p:cNvSpPr/>
          <p:nvPr/>
        </p:nvSpPr>
        <p:spPr>
          <a:xfrm>
            <a:off x="8321040" y="5175504"/>
            <a:ext cx="3346704" cy="274320"/>
          </a:xfrm>
          <a:prstGeom prst="rect">
            <a:avLst/>
          </a:prstGeom>
          <a:solidFill>
            <a:srgbClr val="1E1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9328" y="5184648"/>
            <a:ext cx="3310128" cy="256032"/>
          </a:xfrm>
          <a:prstGeom prst="rect">
            <a:avLst/>
          </a:prstGeom>
          <a:noFill/>
        </p:spPr>
        <p:txBody>
          <a:bodyPr wrap="square"/>
          <a:lstStyle/>
          <a:p>
            <a:pPr algn="l"/>
            <a:r>
              <a:rPr sz="900" b="0">
                <a:solidFill>
                  <a:srgbClr val="708299"/>
                </a:solidFill>
                <a:latin typeface="DM Sans"/>
              </a:rPr>
              <a:t>Best for: SMEs, importers, exporters with no dedicated IT team</a:t>
            </a:r>
          </a:p>
        </p:txBody>
      </p:sp>
      <p:sp>
        <p:nvSpPr>
          <p:cNvPr id="28" name="Rectangle 27"/>
          <p:cNvSpPr/>
          <p:nvPr/>
        </p:nvSpPr>
        <p:spPr>
          <a:xfrm>
            <a:off x="411480" y="5742432"/>
            <a:ext cx="11365992" cy="7132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 y="5797296"/>
            <a:ext cx="274320" cy="603504"/>
          </a:xfrm>
          <a:prstGeom prst="rect">
            <a:avLst/>
          </a:prstGeom>
          <a:noFill/>
        </p:spPr>
        <p:txBody>
          <a:bodyPr wrap="square"/>
          <a:lstStyle/>
          <a:p>
            <a:pPr algn="l"/>
            <a:r>
              <a:rPr sz="1300" b="1">
                <a:solidFill>
                  <a:srgbClr val="FF7200"/>
                </a:solidFill>
                <a:latin typeface="DM Sans"/>
              </a:rPr>
              <a:t>→</a:t>
            </a:r>
          </a:p>
        </p:txBody>
      </p:sp>
      <p:sp>
        <p:nvSpPr>
          <p:cNvPr id="30" name="TextBox 29"/>
          <p:cNvSpPr txBox="1"/>
          <p:nvPr/>
        </p:nvSpPr>
        <p:spPr>
          <a:xfrm>
            <a:off x="914400" y="5797296"/>
            <a:ext cx="10771632" cy="603504"/>
          </a:xfrm>
          <a:prstGeom prst="rect">
            <a:avLst/>
          </a:prstGeom>
          <a:noFill/>
        </p:spPr>
        <p:txBody>
          <a:bodyPr wrap="square"/>
          <a:lstStyle/>
          <a:p>
            <a:pPr algn="l"/>
            <a:r>
              <a:rPr sz="1150" b="0">
                <a:solidFill>
                  <a:srgbClr val="B0BDCC"/>
                </a:solidFill>
                <a:latin typeface="DM Sans"/>
              </a:rPr>
              <a:t>All three paths produce the same result: your data on the ADAPT network, permissioned, verified, and anchored on the distributed ledger.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224E"/>
        </a:solidFill>
        <a:effectLst/>
      </p:bgPr>
    </p:bg>
    <p:spTree>
      <p:nvGrpSpPr>
        <p:cNvPr id="1" name=""/>
        <p:cNvGrpSpPr/>
        <p:nvPr/>
      </p:nvGrpSpPr>
      <p:grpSpPr/>
      <p:sp>
        <p:nvSpPr>
          <p:cNvPr id="2" name="LogoBg"/>
          <p:cNvSpPr/>
          <p:nvPr/>
        </p:nvSpPr>
        <p:spPr>
          <a:xfrm>
            <a:off x="411480" y="246888"/>
            <a:ext cx="384048" cy="384048"/>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ogoEmoji"/>
          <p:cNvSpPr txBox="1"/>
          <p:nvPr/>
        </p:nvSpPr>
        <p:spPr>
          <a:xfrm>
            <a:off x="411480" y="246888"/>
            <a:ext cx="384048" cy="384048"/>
          </a:xfrm>
          <a:prstGeom prst="rect">
            <a:avLst/>
          </a:prstGeom>
          <a:noFill/>
        </p:spPr>
        <p:txBody>
          <a:bodyPr wrap="square" anchor="ctr"/>
          <a:lstStyle/>
          <a:p>
            <a:pPr algn="c"/>
            <a:r>
              <a:rPr sz="1400" b="0">
                <a:solidFill>
                  <a:srgbClr val="FFFFFF"/>
                </a:solidFill>
                <a:latin typeface="DM Sans"/>
              </a:rPr>
              <a:t>🌍</a:t>
            </a:r>
          </a:p>
        </p:txBody>
      </p:sp>
      <p:sp>
        <p:nvSpPr>
          <p:cNvPr id="4" name="BrandText"/>
          <p:cNvSpPr txBox="1"/>
          <p:nvPr/>
        </p:nvSpPr>
        <p:spPr>
          <a:xfrm>
            <a:off x="850392" y="256032"/>
            <a:ext cx="1280160" cy="228600"/>
          </a:xfrm>
          <a:prstGeom prst="rect">
            <a:avLst/>
          </a:prstGeom>
          <a:noFill/>
        </p:spPr>
        <p:txBody>
          <a:bodyPr wrap="square" anchor="t"/>
          <a:lstStyle/>
          <a:p>
            <a:pPr algn="l"/>
            <a:r>
              <a:rPr sz="1150" b="1">
                <a:solidFill>
                  <a:srgbClr val="FFFFFF"/>
                </a:solidFill>
                <a:latin typeface="DM Sans"/>
              </a:rPr>
              <a:t>ADAPT</a:t>
            </a:r>
          </a:p>
        </p:txBody>
      </p:sp>
      <p:sp>
        <p:nvSpPr>
          <p:cNvPr id="5" name="PageNum"/>
          <p:cNvSpPr txBox="1"/>
          <p:nvPr/>
        </p:nvSpPr>
        <p:spPr>
          <a:xfrm>
            <a:off x="11064240" y="274320"/>
            <a:ext cx="914400" cy="274320"/>
          </a:xfrm>
          <a:prstGeom prst="rect">
            <a:avLst/>
          </a:prstGeom>
          <a:noFill/>
        </p:spPr>
        <p:txBody>
          <a:bodyPr wrap="none" anchor="t">
            <a:spAutoFit/>
          </a:bodyPr>
          <a:lstStyle/>
          <a:p>
            <a:pPr algn="r"/>
            <a:r>
              <a:rPr sz="1100" b="1">
                <a:solidFill>
                  <a:srgbClr val="FF7200"/>
                </a:solidFill>
                <a:latin typeface="DM Sans"/>
              </a:rPr>
              <a:t>06</a:t>
            </a:r>
            <a:r>
              <a:rPr sz="1100" b="0">
                <a:solidFill>
                  <a:srgbClr val="708299"/>
                </a:solidFill>
                <a:latin typeface="DM Sans"/>
              </a:rPr>
              <a:t xml:space="preserve"> / 12</a:t>
            </a:r>
          </a:p>
        </p:txBody>
      </p:sp>
      <p:sp>
        <p:nvSpPr>
          <p:cNvPr id="6" name="SectionBg"/>
          <p:cNvSpPr/>
          <p:nvPr/>
        </p:nvSpPr>
        <p:spPr>
          <a:xfrm>
            <a:off x="411480" y="804672"/>
            <a:ext cx="2286000" cy="2560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onLabel"/>
          <p:cNvSpPr txBox="1"/>
          <p:nvPr/>
        </p:nvSpPr>
        <p:spPr>
          <a:xfrm>
            <a:off x="484632" y="832104"/>
            <a:ext cx="2286000" cy="219456"/>
          </a:xfrm>
          <a:prstGeom prst="rect">
            <a:avLst/>
          </a:prstGeom>
          <a:noFill/>
        </p:spPr>
        <p:txBody>
          <a:bodyPr wrap="square" anchor="t"/>
          <a:lstStyle/>
          <a:p>
            <a:pPr algn="l"/>
            <a:r>
              <a:rPr sz="950" b="1">
                <a:solidFill>
                  <a:srgbClr val="FF7200"/>
                </a:solidFill>
                <a:latin typeface="DM Sans"/>
              </a:rPr>
              <a:t>● JOURNEY 1A — URBAN MSME EXPORTER</a:t>
            </a:r>
          </a:p>
        </p:txBody>
      </p:sp>
      <p:sp>
        <p:nvSpPr>
          <p:cNvPr id="8" name="Title"/>
          <p:cNvSpPr txBox="1"/>
          <p:nvPr/>
        </p:nvSpPr>
        <p:spPr>
          <a:xfrm>
            <a:off x="411480" y="1135000"/>
            <a:ext cx="11338560" cy="440000"/>
          </a:xfrm>
          <a:prstGeom prst="rect">
            <a:avLst/>
          </a:prstGeom>
          <a:noFill/>
        </p:spPr>
        <p:txBody>
          <a:bodyPr wrap="square" anchor="t"/>
          <a:lstStyle/>
          <a:p>
            <a:pPr algn="l"/>
            <a:r>
              <a:rPr sz="2400" b="1">
                <a:solidFill>
                  <a:srgbClr val="FFFFFF"/>
                </a:solidFill>
                <a:latin typeface="DM Sans"/>
              </a:rPr>
              <a:t>Vestline Apparel Ltd — Urban MSME Exporter</a:t>
            </a:r>
          </a:p>
        </p:txBody>
      </p:sp>
      <p:sp>
        <p:nvSpPr>
          <p:cNvPr id="9" name="Subtitle"/>
          <p:cNvSpPr txBox="1"/>
          <p:nvPr/>
        </p:nvSpPr>
        <p:spPr>
          <a:xfrm>
            <a:off x="411480" y="1600000"/>
            <a:ext cx="9000000" cy="240000"/>
          </a:xfrm>
          <a:prstGeom prst="rect">
            <a:avLst/>
          </a:prstGeom>
          <a:noFill/>
        </p:spPr>
        <p:txBody>
          <a:bodyPr wrap="square" anchor="t"/>
          <a:lstStyle/>
          <a:p>
            <a:pPr algn="l"/>
            <a:r>
              <a:rPr sz="1050" b="0">
                <a:solidFill>
                  <a:srgbClr val="B0BDCC"/>
                </a:solidFill>
                <a:latin typeface="DM Sans"/>
              </a:rPr>
              <a:t>Nigeria · Textile &amp; Garment Manufacturing · Org on Alpha Node</a:t>
            </a:r>
          </a:p>
        </p:txBody>
      </p:sp>
      <p:sp>
        <p:nvSpPr>
          <p:cNvPr id="10" name="ProblemBg"/>
          <p:cNvSpPr/>
          <p:nvPr/>
        </p:nvSpPr>
        <p:spPr>
          <a:xfrm>
            <a:off x="411480" y="1920000"/>
            <a:ext cx="5609280" cy="700000"/>
          </a:xfrm>
          <a:prstGeom prst="rect">
            <a:avLst/>
          </a:prstGeom>
          <a:solidFill>
            <a:srgbClr val="0D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blemAccent"/>
          <p:cNvSpPr/>
          <p:nvPr/>
        </p:nvSpPr>
        <p:spPr>
          <a:xfrm>
            <a:off x="411480" y="1920000"/>
            <a:ext cx="40000" cy="700000"/>
          </a:xfrm>
          <a:prstGeom prst="rect">
            <a:avLst/>
          </a:prstGeom>
          <a:solidFill>
            <a:srgbClr val="FF7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blemHead"/>
          <p:cNvSpPr txBox="1"/>
          <p:nvPr/>
        </p:nvSpPr>
        <p:spPr>
          <a:xfrm>
            <a:off x="491480" y="1980000"/>
            <a:ext cx="5509280" cy="180000"/>
          </a:xfrm>
          <a:prstGeom prst="rect">
            <a:avLst/>
          </a:prstGeom>
          <a:noFill/>
        </p:spPr>
        <p:txBody>
          <a:bodyPr wrap="square" anchor="t"/>
          <a:lstStyle/>
          <a:p>
            <a:pPr algn="l"/>
            <a:r>
              <a:rPr sz="950" b="1">
                <a:solidFill>
                  <a:srgbClr val="FF7200"/>
                </a:solidFill>
                <a:latin typeface="DM Sans"/>
              </a:rPr>
              <a:t>⚠  THE CHALLENGE</a:t>
            </a:r>
          </a:p>
        </p:txBody>
      </p:sp>
      <p:sp>
        <p:nvSpPr>
          <p:cNvPr id="13" name="ProblemBody"/>
          <p:cNvSpPr txBox="1"/>
          <p:nvPr/>
        </p:nvSpPr>
        <p:spPr>
          <a:xfrm>
            <a:off x="491480" y="2170000"/>
            <a:ext cx="5489280" cy="420000"/>
          </a:xfrm>
          <a:prstGeom prst="rect">
            <a:avLst/>
          </a:prstGeom>
          <a:noFill/>
        </p:spPr>
        <p:txBody>
          <a:bodyPr wrap="square" anchor="t"/>
          <a:lstStyle/>
          <a:p>
            <a:pPr algn="l"/>
            <a:r>
              <a:rPr sz="980" b="0">
                <a:solidFill>
                  <a:srgbClr val="B0BDCC"/>
                </a:solidFill>
                <a:latin typeface="DM Sans"/>
              </a:rPr>
              <a:t>Small exporters hold all the pieces — a national registration, trade documents, a banking relationship — but these exist in separate, siloed systems. Verifying identity across borders means manual paper checks. Sharing documents means email attachments. Every handoff creates delay, duplication, and dispute.</a:t>
            </a:r>
          </a:p>
        </p:txBody>
      </p:sp>
      <p:sp>
        <p:nvSpPr>
          <p:cNvPr id="14" name="SolutionBg"/>
          <p:cNvSpPr/>
          <p:nvPr/>
        </p:nvSpPr>
        <p:spPr>
          <a:xfrm>
            <a:off x="6140760" y="1920000"/>
            <a:ext cx="5609280" cy="700000"/>
          </a:xfrm>
          <a:prstGeom prst="rect">
            <a:avLst/>
          </a:prstGeom>
          <a:solidFill>
            <a:srgbClr val="0D23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olutionAccent"/>
          <p:cNvSpPr/>
          <p:nvPr/>
        </p:nvSpPr>
        <p:spPr>
          <a:xfrm>
            <a:off x="6140760" y="1920000"/>
            <a:ext cx="40000" cy="700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olutionHead"/>
          <p:cNvSpPr txBox="1"/>
          <p:nvPr/>
        </p:nvSpPr>
        <p:spPr>
          <a:xfrm>
            <a:off x="6220760" y="1980000"/>
            <a:ext cx="5509280" cy="180000"/>
          </a:xfrm>
          <a:prstGeom prst="rect">
            <a:avLst/>
          </a:prstGeom>
          <a:noFill/>
        </p:spPr>
        <p:txBody>
          <a:bodyPr wrap="square" anchor="t"/>
          <a:lstStyle/>
          <a:p>
            <a:pPr algn="l"/>
            <a:r>
              <a:rPr sz="950" b="1">
                <a:solidFill>
                  <a:srgbClr val="2ECC71"/>
                </a:solidFill>
                <a:latin typeface="DM Sans"/>
              </a:rPr>
              <a:t>✓  HOW ADAPT HELPS</a:t>
            </a:r>
          </a:p>
        </p:txBody>
      </p:sp>
      <p:sp>
        <p:nvSpPr>
          <p:cNvPr id="17" name="SolutionBody"/>
          <p:cNvSpPr txBox="1"/>
          <p:nvPr/>
        </p:nvSpPr>
        <p:spPr>
          <a:xfrm>
            <a:off x="6220760" y="2170000"/>
            <a:ext cx="5489280" cy="420000"/>
          </a:xfrm>
          <a:prstGeom prst="rect">
            <a:avLst/>
          </a:prstGeom>
          <a:noFill/>
        </p:spPr>
        <p:txBody>
          <a:bodyPr wrap="square" anchor="t"/>
          <a:lstStyle/>
          <a:p>
            <a:pPr algn="l"/>
            <a:r>
              <a:rPr sz="980" b="0">
                <a:solidFill>
                  <a:srgbClr val="B0BDCC"/>
                </a:solidFill>
                <a:latin typeface="DM Sans"/>
              </a:rPr>
              <a:t>ADAPT gives Vestline a verifiable digital identity (DID) anchored on the ledger and attested by the national registry. Trade documents are uploaded once and shared selectively with customs and financiers — with every action timestamped and tamper-proof, visible to all permitted parties in real time.</a:t>
            </a:r>
          </a:p>
        </p:txBody>
      </p:sp>
      <p:sp>
        <p:nvSpPr>
          <p:cNvPr id="18" name="StepBox1"/>
          <p:cNvSpPr/>
          <p:nvPr/>
        </p:nvSpPr>
        <p:spPr>
          <a:xfrm>
            <a:off x="69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epNum1"/>
          <p:cNvSpPr txBox="1"/>
          <p:nvPr/>
        </p:nvSpPr>
        <p:spPr>
          <a:xfrm>
            <a:off x="694476" y="2870000"/>
            <a:ext cx="1650000" cy="200000"/>
          </a:xfrm>
          <a:prstGeom prst="rect">
            <a:avLst/>
          </a:prstGeom>
          <a:noFill/>
        </p:spPr>
        <p:txBody>
          <a:bodyPr wrap="square" anchor="t"/>
          <a:lstStyle/>
          <a:p>
            <a:pPr algn="c"/>
            <a:r>
              <a:rPr sz="900" b="1">
                <a:solidFill>
                  <a:srgbClr val="FF7200"/>
                </a:solidFill>
                <a:latin typeface="DM Sans"/>
              </a:rPr>
              <a:t>01</a:t>
            </a:r>
          </a:p>
        </p:txBody>
      </p:sp>
      <p:sp>
        <p:nvSpPr>
          <p:cNvPr id="20" name="StepLabel1"/>
          <p:cNvSpPr txBox="1"/>
          <p:nvPr/>
        </p:nvSpPr>
        <p:spPr>
          <a:xfrm>
            <a:off x="754476" y="3090000"/>
            <a:ext cx="1530000" cy="300000"/>
          </a:xfrm>
          <a:prstGeom prst="rect">
            <a:avLst/>
          </a:prstGeom>
          <a:noFill/>
        </p:spPr>
        <p:txBody>
          <a:bodyPr wrap="square" anchor="ctr"/>
          <a:lstStyle/>
          <a:p>
            <a:pPr algn="c"/>
            <a:r>
              <a:rPr sz="1000" b="1">
                <a:solidFill>
                  <a:srgbClr val="FFFFFF"/>
                </a:solidFill>
                <a:latin typeface="DM Sans"/>
              </a:rPr>
              <a:t>Register DID</a:t>
            </a:r>
          </a:p>
        </p:txBody>
      </p:sp>
      <p:sp>
        <p:nvSpPr>
          <p:cNvPr id="21" name="StepDesc1"/>
          <p:cNvSpPr txBox="1"/>
          <p:nvPr/>
        </p:nvSpPr>
        <p:spPr>
          <a:xfrm>
            <a:off x="754476" y="3440000"/>
            <a:ext cx="1530000" cy="760000"/>
          </a:xfrm>
          <a:prstGeom prst="rect">
            <a:avLst/>
          </a:prstGeom>
          <a:noFill/>
        </p:spPr>
        <p:txBody>
          <a:bodyPr wrap="square" anchor="t"/>
          <a:lstStyle/>
          <a:p>
            <a:pPr algn="c"/>
            <a:r>
              <a:rPr sz="880" b="0">
                <a:solidFill>
                  <a:srgbClr val="B0BDCC"/>
                </a:solidFill>
                <a:latin typeface="DM Sans"/>
              </a:rPr>
              <a:t>Verify org identity on ADAPT. DID issued and anchored on the ledger.</a:t>
            </a:r>
          </a:p>
        </p:txBody>
      </p:sp>
      <p:sp>
        <p:nvSpPr>
          <p:cNvPr id="22" name="Arrow1"/>
          <p:cNvSpPr txBox="1"/>
          <p:nvPr/>
        </p:nvSpPr>
        <p:spPr>
          <a:xfrm>
            <a:off x="235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23" name="StepBox2"/>
          <p:cNvSpPr/>
          <p:nvPr/>
        </p:nvSpPr>
        <p:spPr>
          <a:xfrm>
            <a:off x="252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tepNum2"/>
          <p:cNvSpPr txBox="1"/>
          <p:nvPr/>
        </p:nvSpPr>
        <p:spPr>
          <a:xfrm>
            <a:off x="2524476" y="2870000"/>
            <a:ext cx="1650000" cy="200000"/>
          </a:xfrm>
          <a:prstGeom prst="rect">
            <a:avLst/>
          </a:prstGeom>
          <a:noFill/>
        </p:spPr>
        <p:txBody>
          <a:bodyPr wrap="square" anchor="t"/>
          <a:lstStyle/>
          <a:p>
            <a:pPr algn="c"/>
            <a:r>
              <a:rPr sz="900" b="1">
                <a:solidFill>
                  <a:srgbClr val="FF7200"/>
                </a:solidFill>
                <a:latin typeface="DM Sans"/>
              </a:rPr>
              <a:t>02</a:t>
            </a:r>
          </a:p>
        </p:txBody>
      </p:sp>
      <p:sp>
        <p:nvSpPr>
          <p:cNvPr id="25" name="StepLabel2"/>
          <p:cNvSpPr txBox="1"/>
          <p:nvPr/>
        </p:nvSpPr>
        <p:spPr>
          <a:xfrm>
            <a:off x="2584476" y="3090000"/>
            <a:ext cx="1530000" cy="300000"/>
          </a:xfrm>
          <a:prstGeom prst="rect">
            <a:avLst/>
          </a:prstGeom>
          <a:noFill/>
        </p:spPr>
        <p:txBody>
          <a:bodyPr wrap="square" anchor="ctr"/>
          <a:lstStyle/>
          <a:p>
            <a:pPr algn="c"/>
            <a:r>
              <a:rPr sz="1000" b="1">
                <a:solidFill>
                  <a:srgbClr val="FFFFFF"/>
                </a:solidFill>
                <a:latin typeface="DM Sans"/>
              </a:rPr>
              <a:t>Create Consignment</a:t>
            </a:r>
          </a:p>
        </p:txBody>
      </p:sp>
      <p:sp>
        <p:nvSpPr>
          <p:cNvPr id="26" name="StepDesc2"/>
          <p:cNvSpPr txBox="1"/>
          <p:nvPr/>
        </p:nvSpPr>
        <p:spPr>
          <a:xfrm>
            <a:off x="2584476" y="3440000"/>
            <a:ext cx="1530000" cy="760000"/>
          </a:xfrm>
          <a:prstGeom prst="rect">
            <a:avLst/>
          </a:prstGeom>
          <a:noFill/>
        </p:spPr>
        <p:txBody>
          <a:bodyPr wrap="square" anchor="t"/>
          <a:lstStyle/>
          <a:p>
            <a:pPr algn="c"/>
            <a:r>
              <a:rPr sz="880" b="0">
                <a:solidFill>
                  <a:srgbClr val="B0BDCC"/>
                </a:solidFill>
                <a:latin typeface="DM Sans"/>
              </a:rPr>
              <a:t>Log shipment record — route, product, counterparties.</a:t>
            </a:r>
          </a:p>
        </p:txBody>
      </p:sp>
      <p:sp>
        <p:nvSpPr>
          <p:cNvPr id="27" name="Arrow2"/>
          <p:cNvSpPr txBox="1"/>
          <p:nvPr/>
        </p:nvSpPr>
        <p:spPr>
          <a:xfrm>
            <a:off x="418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28" name="StepBox3"/>
          <p:cNvSpPr/>
          <p:nvPr/>
        </p:nvSpPr>
        <p:spPr>
          <a:xfrm>
            <a:off x="435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epNum3"/>
          <p:cNvSpPr txBox="1"/>
          <p:nvPr/>
        </p:nvSpPr>
        <p:spPr>
          <a:xfrm>
            <a:off x="4354476" y="2870000"/>
            <a:ext cx="1650000" cy="200000"/>
          </a:xfrm>
          <a:prstGeom prst="rect">
            <a:avLst/>
          </a:prstGeom>
          <a:noFill/>
        </p:spPr>
        <p:txBody>
          <a:bodyPr wrap="square" anchor="t"/>
          <a:lstStyle/>
          <a:p>
            <a:pPr algn="c"/>
            <a:r>
              <a:rPr sz="900" b="1">
                <a:solidFill>
                  <a:srgbClr val="FF7200"/>
                </a:solidFill>
                <a:latin typeface="DM Sans"/>
              </a:rPr>
              <a:t>03</a:t>
            </a:r>
          </a:p>
        </p:txBody>
      </p:sp>
      <p:sp>
        <p:nvSpPr>
          <p:cNvPr id="30" name="StepLabel3"/>
          <p:cNvSpPr txBox="1"/>
          <p:nvPr/>
        </p:nvSpPr>
        <p:spPr>
          <a:xfrm>
            <a:off x="4414476" y="3090000"/>
            <a:ext cx="1530000" cy="300000"/>
          </a:xfrm>
          <a:prstGeom prst="rect">
            <a:avLst/>
          </a:prstGeom>
          <a:noFill/>
        </p:spPr>
        <p:txBody>
          <a:bodyPr wrap="square" anchor="ctr"/>
          <a:lstStyle/>
          <a:p>
            <a:pPr algn="c"/>
            <a:r>
              <a:rPr sz="1000" b="1">
                <a:solidFill>
                  <a:srgbClr val="FFFFFF"/>
                </a:solidFill>
                <a:latin typeface="DM Sans"/>
              </a:rPr>
              <a:t>Upload Trade Docs</a:t>
            </a:r>
          </a:p>
        </p:txBody>
      </p:sp>
      <p:sp>
        <p:nvSpPr>
          <p:cNvPr id="31" name="StepDesc3"/>
          <p:cNvSpPr txBox="1"/>
          <p:nvPr/>
        </p:nvSpPr>
        <p:spPr>
          <a:xfrm>
            <a:off x="4414476" y="3440000"/>
            <a:ext cx="1530000" cy="760000"/>
          </a:xfrm>
          <a:prstGeom prst="rect">
            <a:avLst/>
          </a:prstGeom>
          <a:noFill/>
        </p:spPr>
        <p:txBody>
          <a:bodyPr wrap="square" anchor="t"/>
          <a:lstStyle/>
          <a:p>
            <a:pPr algn="c"/>
            <a:r>
              <a:rPr sz="880" b="0">
                <a:solidFill>
                  <a:srgbClr val="B0BDCC"/>
                </a:solidFill>
                <a:latin typeface="DM Sans"/>
              </a:rPr>
              <a:t>Attach Invoice, Bill of Lading, Certificate of Origin.</a:t>
            </a:r>
          </a:p>
        </p:txBody>
      </p:sp>
      <p:sp>
        <p:nvSpPr>
          <p:cNvPr id="32" name="Arrow3"/>
          <p:cNvSpPr txBox="1"/>
          <p:nvPr/>
        </p:nvSpPr>
        <p:spPr>
          <a:xfrm>
            <a:off x="601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33" name="StepBox4"/>
          <p:cNvSpPr/>
          <p:nvPr/>
        </p:nvSpPr>
        <p:spPr>
          <a:xfrm>
            <a:off x="618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epNum4"/>
          <p:cNvSpPr txBox="1"/>
          <p:nvPr/>
        </p:nvSpPr>
        <p:spPr>
          <a:xfrm>
            <a:off x="6184476" y="2870000"/>
            <a:ext cx="1650000" cy="200000"/>
          </a:xfrm>
          <a:prstGeom prst="rect">
            <a:avLst/>
          </a:prstGeom>
          <a:noFill/>
        </p:spPr>
        <p:txBody>
          <a:bodyPr wrap="square" anchor="t"/>
          <a:lstStyle/>
          <a:p>
            <a:pPr algn="c"/>
            <a:r>
              <a:rPr sz="900" b="1">
                <a:solidFill>
                  <a:srgbClr val="FF7200"/>
                </a:solidFill>
                <a:latin typeface="DM Sans"/>
              </a:rPr>
              <a:t>04</a:t>
            </a:r>
          </a:p>
        </p:txBody>
      </p:sp>
      <p:sp>
        <p:nvSpPr>
          <p:cNvPr id="35" name="StepLabel4"/>
          <p:cNvSpPr txBox="1"/>
          <p:nvPr/>
        </p:nvSpPr>
        <p:spPr>
          <a:xfrm>
            <a:off x="6244476" y="3090000"/>
            <a:ext cx="1530000" cy="300000"/>
          </a:xfrm>
          <a:prstGeom prst="rect">
            <a:avLst/>
          </a:prstGeom>
          <a:noFill/>
        </p:spPr>
        <p:txBody>
          <a:bodyPr wrap="square" anchor="ctr"/>
          <a:lstStyle/>
          <a:p>
            <a:pPr algn="c"/>
            <a:r>
              <a:rPr sz="1000" b="1">
                <a:solidFill>
                  <a:srgbClr val="FFFFFF"/>
                </a:solidFill>
                <a:latin typeface="DM Sans"/>
              </a:rPr>
              <a:t>Share with Customs</a:t>
            </a:r>
          </a:p>
        </p:txBody>
      </p:sp>
      <p:sp>
        <p:nvSpPr>
          <p:cNvPr id="36" name="StepDesc4"/>
          <p:cNvSpPr txBox="1"/>
          <p:nvPr/>
        </p:nvSpPr>
        <p:spPr>
          <a:xfrm>
            <a:off x="6244476" y="3440000"/>
            <a:ext cx="1530000" cy="760000"/>
          </a:xfrm>
          <a:prstGeom prst="rect">
            <a:avLst/>
          </a:prstGeom>
          <a:noFill/>
        </p:spPr>
        <p:txBody>
          <a:bodyPr wrap="square" anchor="t"/>
          <a:lstStyle/>
          <a:p>
            <a:pPr algn="c"/>
            <a:r>
              <a:rPr sz="880" b="0">
                <a:solidFill>
                  <a:srgbClr val="B0BDCC"/>
                </a:solidFill>
                <a:latin typeface="DM Sans"/>
              </a:rPr>
              <a:t>Grant access to Nigeria Customs and destination authority.</a:t>
            </a:r>
          </a:p>
        </p:txBody>
      </p:sp>
      <p:sp>
        <p:nvSpPr>
          <p:cNvPr id="37" name="Arrow4"/>
          <p:cNvSpPr txBox="1"/>
          <p:nvPr/>
        </p:nvSpPr>
        <p:spPr>
          <a:xfrm>
            <a:off x="784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38" name="StepBox5"/>
          <p:cNvSpPr/>
          <p:nvPr/>
        </p:nvSpPr>
        <p:spPr>
          <a:xfrm>
            <a:off x="801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epNum5"/>
          <p:cNvSpPr txBox="1"/>
          <p:nvPr/>
        </p:nvSpPr>
        <p:spPr>
          <a:xfrm>
            <a:off x="8014476" y="2870000"/>
            <a:ext cx="1650000" cy="200000"/>
          </a:xfrm>
          <a:prstGeom prst="rect">
            <a:avLst/>
          </a:prstGeom>
          <a:noFill/>
        </p:spPr>
        <p:txBody>
          <a:bodyPr wrap="square" anchor="t"/>
          <a:lstStyle/>
          <a:p>
            <a:pPr algn="c"/>
            <a:r>
              <a:rPr sz="900" b="1">
                <a:solidFill>
                  <a:srgbClr val="FF7200"/>
                </a:solidFill>
                <a:latin typeface="DM Sans"/>
              </a:rPr>
              <a:t>05</a:t>
            </a:r>
          </a:p>
        </p:txBody>
      </p:sp>
      <p:sp>
        <p:nvSpPr>
          <p:cNvPr id="40" name="StepLabel5"/>
          <p:cNvSpPr txBox="1"/>
          <p:nvPr/>
        </p:nvSpPr>
        <p:spPr>
          <a:xfrm>
            <a:off x="8074476" y="3090000"/>
            <a:ext cx="1530000" cy="300000"/>
          </a:xfrm>
          <a:prstGeom prst="rect">
            <a:avLst/>
          </a:prstGeom>
          <a:noFill/>
        </p:spPr>
        <p:txBody>
          <a:bodyPr wrap="square" anchor="ctr"/>
          <a:lstStyle/>
          <a:p>
            <a:pPr algn="c"/>
            <a:r>
              <a:rPr sz="1000" b="1">
                <a:solidFill>
                  <a:srgbClr val="FFFFFF"/>
                </a:solidFill>
                <a:latin typeface="DM Sans"/>
              </a:rPr>
              <a:t>Customs Clears</a:t>
            </a:r>
          </a:p>
        </p:txBody>
      </p:sp>
      <p:sp>
        <p:nvSpPr>
          <p:cNvPr id="41" name="StepDesc5"/>
          <p:cNvSpPr txBox="1"/>
          <p:nvPr/>
        </p:nvSpPr>
        <p:spPr>
          <a:xfrm>
            <a:off x="8074476" y="3440000"/>
            <a:ext cx="1530000" cy="760000"/>
          </a:xfrm>
          <a:prstGeom prst="rect">
            <a:avLst/>
          </a:prstGeom>
          <a:noFill/>
        </p:spPr>
        <p:txBody>
          <a:bodyPr wrap="square" anchor="t"/>
          <a:lstStyle/>
          <a:p>
            <a:pPr algn="c"/>
            <a:r>
              <a:rPr sz="880" b="0">
                <a:solidFill>
                  <a:srgbClr val="B0BDCC"/>
                </a:solidFill>
                <a:latin typeface="DM Sans"/>
              </a:rPr>
              <a:t>Verified docs reviewed and accepted. Shipment released.</a:t>
            </a:r>
          </a:p>
        </p:txBody>
      </p:sp>
      <p:sp>
        <p:nvSpPr>
          <p:cNvPr id="42" name="Arrow5"/>
          <p:cNvSpPr txBox="1"/>
          <p:nvPr/>
        </p:nvSpPr>
        <p:spPr>
          <a:xfrm>
            <a:off x="967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43" name="StepBox6"/>
          <p:cNvSpPr/>
          <p:nvPr/>
        </p:nvSpPr>
        <p:spPr>
          <a:xfrm>
            <a:off x="984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tepNum6"/>
          <p:cNvSpPr txBox="1"/>
          <p:nvPr/>
        </p:nvSpPr>
        <p:spPr>
          <a:xfrm>
            <a:off x="9844476" y="2870000"/>
            <a:ext cx="1650000" cy="200000"/>
          </a:xfrm>
          <a:prstGeom prst="rect">
            <a:avLst/>
          </a:prstGeom>
          <a:noFill/>
        </p:spPr>
        <p:txBody>
          <a:bodyPr wrap="square" anchor="t"/>
          <a:lstStyle/>
          <a:p>
            <a:pPr algn="c"/>
            <a:r>
              <a:rPr sz="900" b="1">
                <a:solidFill>
                  <a:srgbClr val="FF7200"/>
                </a:solidFill>
                <a:latin typeface="DM Sans"/>
              </a:rPr>
              <a:t>06</a:t>
            </a:r>
          </a:p>
        </p:txBody>
      </p:sp>
      <p:sp>
        <p:nvSpPr>
          <p:cNvPr id="45" name="StepLabel6"/>
          <p:cNvSpPr txBox="1"/>
          <p:nvPr/>
        </p:nvSpPr>
        <p:spPr>
          <a:xfrm>
            <a:off x="9904476" y="3090000"/>
            <a:ext cx="1530000" cy="300000"/>
          </a:xfrm>
          <a:prstGeom prst="rect">
            <a:avLst/>
          </a:prstGeom>
          <a:noFill/>
        </p:spPr>
        <p:txBody>
          <a:bodyPr wrap="square" anchor="ctr"/>
          <a:lstStyle/>
          <a:p>
            <a:pPr algn="c"/>
            <a:r>
              <a:rPr sz="1000" b="1">
                <a:solidFill>
                  <a:srgbClr val="FFFFFF"/>
                </a:solidFill>
                <a:latin typeface="DM Sans"/>
              </a:rPr>
              <a:t>Payment Settled</a:t>
            </a:r>
          </a:p>
        </p:txBody>
      </p:sp>
      <p:sp>
        <p:nvSpPr>
          <p:cNvPr id="46" name="StepDesc6"/>
          <p:cNvSpPr txBox="1"/>
          <p:nvPr/>
        </p:nvSpPr>
        <p:spPr>
          <a:xfrm>
            <a:off x="9904476" y="3440000"/>
            <a:ext cx="1530000" cy="760000"/>
          </a:xfrm>
          <a:prstGeom prst="rect">
            <a:avLst/>
          </a:prstGeom>
          <a:noFill/>
        </p:spPr>
        <p:txBody>
          <a:bodyPr wrap="square" anchor="t"/>
          <a:lstStyle/>
          <a:p>
            <a:pPr algn="c"/>
            <a:r>
              <a:rPr sz="880" b="0">
                <a:solidFill>
                  <a:srgbClr val="B0BDCC"/>
                </a:solidFill>
                <a:latin typeface="DM Sans"/>
              </a:rPr>
              <a:t>Receipt confirmed. Payment recorded on the ledger.</a:t>
            </a:r>
          </a:p>
        </p:txBody>
      </p:sp>
      <p:sp>
        <p:nvSpPr>
          <p:cNvPr id="47" name="OutcomeBg"/>
          <p:cNvSpPr/>
          <p:nvPr/>
        </p:nvSpPr>
        <p:spPr>
          <a:xfrm>
            <a:off x="411480" y="4450000"/>
            <a:ext cx="11365992" cy="300000"/>
          </a:xfrm>
          <a:prstGeom prst="rect">
            <a:avLst/>
          </a:prstGeom>
          <a:solidFill>
            <a:srgbClr val="0C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utcomeArrow"/>
          <p:cNvSpPr txBox="1"/>
          <p:nvPr/>
        </p:nvSpPr>
        <p:spPr>
          <a:xfrm>
            <a:off x="576072" y="4490000"/>
            <a:ext cx="300000" cy="220000"/>
          </a:xfrm>
          <a:prstGeom prst="rect">
            <a:avLst/>
          </a:prstGeom>
          <a:noFill/>
        </p:spPr>
        <p:txBody>
          <a:bodyPr wrap="square" anchor="ctr"/>
          <a:lstStyle/>
          <a:p>
            <a:pPr algn="c"/>
            <a:r>
              <a:rPr sz="1100" b="1">
                <a:solidFill>
                  <a:srgbClr val="FF7200"/>
                </a:solidFill>
                <a:latin typeface="DM Sans"/>
              </a:rPr>
              <a:t>→</a:t>
            </a:r>
          </a:p>
        </p:txBody>
      </p:sp>
      <p:sp>
        <p:nvSpPr>
          <p:cNvPr id="49" name="OutcomeText"/>
          <p:cNvSpPr txBox="1"/>
          <p:nvPr/>
        </p:nvSpPr>
        <p:spPr>
          <a:xfrm>
            <a:off x="950000" y="4490000"/>
            <a:ext cx="10700000" cy="220000"/>
          </a:xfrm>
          <a:prstGeom prst="rect">
            <a:avLst/>
          </a:prstGeom>
          <a:noFill/>
        </p:spPr>
        <p:txBody>
          <a:bodyPr wrap="square" anchor="ctr"/>
          <a:lstStyle/>
          <a:p>
            <a:pPr algn="l"/>
            <a:r>
              <a:rPr sz="1000" b="0">
                <a:solidFill>
                  <a:srgbClr val="B0BDCC"/>
                </a:solidFill>
                <a:latin typeface="DM Sans"/>
              </a:rPr>
              <a:t>Outcome: Consignment cleared by customs and payment settled on-ledger — full audit trail preserved.</a:t>
            </a:r>
          </a:p>
        </p:txBody>
      </p:sp>
      <p:sp>
        <p:nvSpPr>
          <p:cNvPr id="50" name="FooterBg"/>
          <p:cNvSpPr/>
          <p:nvPr/>
        </p:nvSpPr>
        <p:spPr>
          <a:xfrm>
            <a:off x="411480" y="5742432"/>
            <a:ext cx="11365992" cy="7132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ooterArrow"/>
          <p:cNvSpPr txBox="1"/>
          <p:nvPr/>
        </p:nvSpPr>
        <p:spPr>
          <a:xfrm>
            <a:off x="576072" y="5797296"/>
            <a:ext cx="274320" cy="603504"/>
          </a:xfrm>
          <a:prstGeom prst="rect">
            <a:avLst/>
          </a:prstGeom>
          <a:noFill/>
        </p:spPr>
        <p:txBody>
          <a:bodyPr wrap="square" anchor="ctr"/>
          <a:lstStyle/>
          <a:p>
            <a:pPr algn="l"/>
            <a:r>
              <a:rPr sz="1300" b="1">
                <a:solidFill>
                  <a:srgbClr val="FF7200"/>
                </a:solidFill>
                <a:latin typeface="DM Sans"/>
              </a:rPr>
              <a:t>→</a:t>
            </a:r>
          </a:p>
        </p:txBody>
      </p:sp>
      <p:sp>
        <p:nvSpPr>
          <p:cNvPr id="52" name="FooterText"/>
          <p:cNvSpPr txBox="1"/>
          <p:nvPr/>
        </p:nvSpPr>
        <p:spPr>
          <a:xfrm>
            <a:off x="914400" y="5797296"/>
            <a:ext cx="10771632" cy="603504"/>
          </a:xfrm>
          <a:prstGeom prst="rect">
            <a:avLst/>
          </a:prstGeom>
          <a:noFill/>
        </p:spPr>
        <p:txBody>
          <a:bodyPr wrap="square" anchor="ctr"/>
          <a:lstStyle/>
          <a:p>
            <a:pPr algn="l"/>
            <a:r>
              <a:rPr sz="1000" b="0">
                <a:solidFill>
                  <a:srgbClr val="B0BDCC"/>
                </a:solidFill>
                <a:latin typeface="DM Sans"/>
              </a:rPr>
              <a:t>Every document upload, status change and permission grant is immutably recorded on the distributed ADAPT ledger.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224E"/>
        </a:solidFill>
        <a:effectLst/>
      </p:bgPr>
    </p:bg>
    <p:spTree>
      <p:nvGrpSpPr>
        <p:cNvPr id="1" name=""/>
        <p:cNvGrpSpPr/>
        <p:nvPr/>
      </p:nvGrpSpPr>
      <p:grpSpPr/>
      <p:sp>
        <p:nvSpPr>
          <p:cNvPr id="2" name="LogoBg"/>
          <p:cNvSpPr/>
          <p:nvPr/>
        </p:nvSpPr>
        <p:spPr>
          <a:xfrm>
            <a:off x="411480" y="246888"/>
            <a:ext cx="384048" cy="384048"/>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ogoEmoji"/>
          <p:cNvSpPr txBox="1"/>
          <p:nvPr/>
        </p:nvSpPr>
        <p:spPr>
          <a:xfrm>
            <a:off x="411480" y="246888"/>
            <a:ext cx="384048" cy="384048"/>
          </a:xfrm>
          <a:prstGeom prst="rect">
            <a:avLst/>
          </a:prstGeom>
          <a:noFill/>
        </p:spPr>
        <p:txBody>
          <a:bodyPr wrap="square" anchor="ctr"/>
          <a:lstStyle/>
          <a:p>
            <a:pPr algn="c"/>
            <a:r>
              <a:rPr sz="1400" b="0">
                <a:solidFill>
                  <a:srgbClr val="FFFFFF"/>
                </a:solidFill>
                <a:latin typeface="DM Sans"/>
              </a:rPr>
              <a:t>🌍</a:t>
            </a:r>
          </a:p>
        </p:txBody>
      </p:sp>
      <p:sp>
        <p:nvSpPr>
          <p:cNvPr id="4" name="BrandText"/>
          <p:cNvSpPr txBox="1"/>
          <p:nvPr/>
        </p:nvSpPr>
        <p:spPr>
          <a:xfrm>
            <a:off x="850392" y="256032"/>
            <a:ext cx="1280160" cy="228600"/>
          </a:xfrm>
          <a:prstGeom prst="rect">
            <a:avLst/>
          </a:prstGeom>
          <a:noFill/>
        </p:spPr>
        <p:txBody>
          <a:bodyPr wrap="square" anchor="t"/>
          <a:lstStyle/>
          <a:p>
            <a:pPr algn="l"/>
            <a:r>
              <a:rPr sz="1150" b="1">
                <a:solidFill>
                  <a:srgbClr val="FFFFFF"/>
                </a:solidFill>
                <a:latin typeface="DM Sans"/>
              </a:rPr>
              <a:t>ADAPT</a:t>
            </a:r>
          </a:p>
        </p:txBody>
      </p:sp>
      <p:sp>
        <p:nvSpPr>
          <p:cNvPr id="5" name="PageNum"/>
          <p:cNvSpPr txBox="1"/>
          <p:nvPr/>
        </p:nvSpPr>
        <p:spPr>
          <a:xfrm>
            <a:off x="11064240" y="274320"/>
            <a:ext cx="914400" cy="274320"/>
          </a:xfrm>
          <a:prstGeom prst="rect">
            <a:avLst/>
          </a:prstGeom>
          <a:noFill/>
        </p:spPr>
        <p:txBody>
          <a:bodyPr wrap="none" anchor="t">
            <a:spAutoFit/>
          </a:bodyPr>
          <a:lstStyle/>
          <a:p>
            <a:pPr algn="r"/>
            <a:r>
              <a:rPr sz="1100" b="1">
                <a:solidFill>
                  <a:srgbClr val="FF7200"/>
                </a:solidFill>
                <a:latin typeface="DM Sans"/>
              </a:rPr>
              <a:t>07</a:t>
            </a:r>
            <a:r>
              <a:rPr sz="1100" b="0">
                <a:solidFill>
                  <a:srgbClr val="708299"/>
                </a:solidFill>
                <a:latin typeface="DM Sans"/>
              </a:rPr>
              <a:t xml:space="preserve"> / 12</a:t>
            </a:r>
          </a:p>
        </p:txBody>
      </p:sp>
      <p:sp>
        <p:nvSpPr>
          <p:cNvPr id="6" name="SectionBg"/>
          <p:cNvSpPr/>
          <p:nvPr/>
        </p:nvSpPr>
        <p:spPr>
          <a:xfrm>
            <a:off x="411480" y="804672"/>
            <a:ext cx="2286000" cy="2560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onLabel"/>
          <p:cNvSpPr txBox="1"/>
          <p:nvPr/>
        </p:nvSpPr>
        <p:spPr>
          <a:xfrm>
            <a:off x="484632" y="832104"/>
            <a:ext cx="2286000" cy="219456"/>
          </a:xfrm>
          <a:prstGeom prst="rect">
            <a:avLst/>
          </a:prstGeom>
          <a:noFill/>
        </p:spPr>
        <p:txBody>
          <a:bodyPr wrap="square" anchor="t"/>
          <a:lstStyle/>
          <a:p>
            <a:pPr algn="l"/>
            <a:r>
              <a:rPr sz="950" b="1">
                <a:solidFill>
                  <a:srgbClr val="FF7200"/>
                </a:solidFill>
                <a:latin typeface="DM Sans"/>
              </a:rPr>
              <a:t>● JOURNEY 1B — SMALLHOLDER AGRI EXPORTER</a:t>
            </a:r>
          </a:p>
        </p:txBody>
      </p:sp>
      <p:sp>
        <p:nvSpPr>
          <p:cNvPr id="8" name="Title"/>
          <p:cNvSpPr txBox="1"/>
          <p:nvPr/>
        </p:nvSpPr>
        <p:spPr>
          <a:xfrm>
            <a:off x="411480" y="1135000"/>
            <a:ext cx="11338560" cy="440000"/>
          </a:xfrm>
          <a:prstGeom prst="rect">
            <a:avLst/>
          </a:prstGeom>
          <a:noFill/>
        </p:spPr>
        <p:txBody>
          <a:bodyPr wrap="square" anchor="t"/>
          <a:lstStyle/>
          <a:p>
            <a:pPr algn="l"/>
            <a:r>
              <a:rPr sz="2400" b="1">
                <a:solidFill>
                  <a:srgbClr val="FFFFFF"/>
                </a:solidFill>
                <a:latin typeface="DM Sans"/>
              </a:rPr>
              <a:t>Highland Growers Cooperative — Agri Exporter</a:t>
            </a:r>
          </a:p>
        </p:txBody>
      </p:sp>
      <p:sp>
        <p:nvSpPr>
          <p:cNvPr id="9" name="Subtitle"/>
          <p:cNvSpPr txBox="1"/>
          <p:nvPr/>
        </p:nvSpPr>
        <p:spPr>
          <a:xfrm>
            <a:off x="411480" y="1600000"/>
            <a:ext cx="9000000" cy="240000"/>
          </a:xfrm>
          <a:prstGeom prst="rect">
            <a:avLst/>
          </a:prstGeom>
          <a:noFill/>
        </p:spPr>
        <p:txBody>
          <a:bodyPr wrap="square" anchor="t"/>
          <a:lstStyle/>
          <a:p>
            <a:pPr algn="l"/>
            <a:r>
              <a:rPr sz="1050" b="0">
                <a:solidFill>
                  <a:srgbClr val="B0BDCC"/>
                </a:solidFill>
                <a:latin typeface="DM Sans"/>
              </a:rPr>
              <a:t>Tanzania · Agricultural Export (Coffee) · Org on Beta Node</a:t>
            </a:r>
          </a:p>
        </p:txBody>
      </p:sp>
      <p:sp>
        <p:nvSpPr>
          <p:cNvPr id="10" name="ProblemBg"/>
          <p:cNvSpPr/>
          <p:nvPr/>
        </p:nvSpPr>
        <p:spPr>
          <a:xfrm>
            <a:off x="411480" y="1920000"/>
            <a:ext cx="5609280" cy="700000"/>
          </a:xfrm>
          <a:prstGeom prst="rect">
            <a:avLst/>
          </a:prstGeom>
          <a:solidFill>
            <a:srgbClr val="0D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blemAccent"/>
          <p:cNvSpPr/>
          <p:nvPr/>
        </p:nvSpPr>
        <p:spPr>
          <a:xfrm>
            <a:off x="411480" y="1920000"/>
            <a:ext cx="40000" cy="700000"/>
          </a:xfrm>
          <a:prstGeom prst="rect">
            <a:avLst/>
          </a:prstGeom>
          <a:solidFill>
            <a:srgbClr val="FF7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blemHead"/>
          <p:cNvSpPr txBox="1"/>
          <p:nvPr/>
        </p:nvSpPr>
        <p:spPr>
          <a:xfrm>
            <a:off x="491480" y="1980000"/>
            <a:ext cx="5509280" cy="180000"/>
          </a:xfrm>
          <a:prstGeom prst="rect">
            <a:avLst/>
          </a:prstGeom>
          <a:noFill/>
        </p:spPr>
        <p:txBody>
          <a:bodyPr wrap="square" anchor="t"/>
          <a:lstStyle/>
          <a:p>
            <a:pPr algn="l"/>
            <a:r>
              <a:rPr sz="950" b="1">
                <a:solidFill>
                  <a:srgbClr val="FF7200"/>
                </a:solidFill>
                <a:latin typeface="DM Sans"/>
              </a:rPr>
              <a:t>⚠  THE CHALLENGE</a:t>
            </a:r>
          </a:p>
        </p:txBody>
      </p:sp>
      <p:sp>
        <p:nvSpPr>
          <p:cNvPr id="13" name="ProblemBody"/>
          <p:cNvSpPr txBox="1"/>
          <p:nvPr/>
        </p:nvSpPr>
        <p:spPr>
          <a:xfrm>
            <a:off x="491480" y="2170000"/>
            <a:ext cx="5489280" cy="420000"/>
          </a:xfrm>
          <a:prstGeom prst="rect">
            <a:avLst/>
          </a:prstGeom>
          <a:noFill/>
        </p:spPr>
        <p:txBody>
          <a:bodyPr wrap="square" anchor="t"/>
          <a:lstStyle/>
          <a:p>
            <a:pPr algn="l"/>
            <a:r>
              <a:rPr sz="980" b="0">
                <a:solidFill>
                  <a:srgbClr val="B0BDCC"/>
                </a:solidFill>
                <a:latin typeface="DM Sans"/>
              </a:rPr>
              <a:t>Smallholder cooperatives are locked out of trade finance. Banks demand verified identity and tamper-proof documentation before issuing Letters of Credit — but cooperatives lack the digital infrastructure to produce them. The result: high financing costs, dependency on middlemen, and no audit trail when disputes arise.</a:t>
            </a:r>
          </a:p>
        </p:txBody>
      </p:sp>
      <p:sp>
        <p:nvSpPr>
          <p:cNvPr id="14" name="SolutionBg"/>
          <p:cNvSpPr/>
          <p:nvPr/>
        </p:nvSpPr>
        <p:spPr>
          <a:xfrm>
            <a:off x="6140760" y="1920000"/>
            <a:ext cx="5609280" cy="700000"/>
          </a:xfrm>
          <a:prstGeom prst="rect">
            <a:avLst/>
          </a:prstGeom>
          <a:solidFill>
            <a:srgbClr val="0D23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olutionAccent"/>
          <p:cNvSpPr/>
          <p:nvPr/>
        </p:nvSpPr>
        <p:spPr>
          <a:xfrm>
            <a:off x="6140760" y="1920000"/>
            <a:ext cx="40000" cy="700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olutionHead"/>
          <p:cNvSpPr txBox="1"/>
          <p:nvPr/>
        </p:nvSpPr>
        <p:spPr>
          <a:xfrm>
            <a:off x="6220760" y="1980000"/>
            <a:ext cx="5509280" cy="180000"/>
          </a:xfrm>
          <a:prstGeom prst="rect">
            <a:avLst/>
          </a:prstGeom>
          <a:noFill/>
        </p:spPr>
        <p:txBody>
          <a:bodyPr wrap="square" anchor="t"/>
          <a:lstStyle/>
          <a:p>
            <a:pPr algn="l"/>
            <a:r>
              <a:rPr sz="950" b="1">
                <a:solidFill>
                  <a:srgbClr val="2ECC71"/>
                </a:solidFill>
                <a:latin typeface="DM Sans"/>
              </a:rPr>
              <a:t>✓  HOW ADAPT HELPS</a:t>
            </a:r>
          </a:p>
        </p:txBody>
      </p:sp>
      <p:sp>
        <p:nvSpPr>
          <p:cNvPr id="17" name="SolutionBody"/>
          <p:cNvSpPr txBox="1"/>
          <p:nvPr/>
        </p:nvSpPr>
        <p:spPr>
          <a:xfrm>
            <a:off x="6220760" y="2170000"/>
            <a:ext cx="5489280" cy="420000"/>
          </a:xfrm>
          <a:prstGeom prst="rect">
            <a:avLst/>
          </a:prstGeom>
          <a:noFill/>
        </p:spPr>
        <p:txBody>
          <a:bodyPr wrap="square" anchor="t"/>
          <a:lstStyle/>
          <a:p>
            <a:pPr algn="l"/>
            <a:r>
              <a:rPr sz="980" b="0">
                <a:solidFill>
                  <a:srgbClr val="B0BDCC"/>
                </a:solidFill>
                <a:latin typeface="DM Sans"/>
              </a:rPr>
              <a:t>ADAPT issues a ledger-anchored DID attested by the Tanzania Business Registry, giving the cooperative a trusted digital identity. Trade documents — phytosanitary certificates, permits, quality grades — are attached to the consignment and shared with the financing bank, unlocking LC issuance against verified, tamper-proof records.</a:t>
            </a:r>
          </a:p>
        </p:txBody>
      </p:sp>
      <p:sp>
        <p:nvSpPr>
          <p:cNvPr id="18" name="StepBox1"/>
          <p:cNvSpPr/>
          <p:nvPr/>
        </p:nvSpPr>
        <p:spPr>
          <a:xfrm>
            <a:off x="69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epNum1"/>
          <p:cNvSpPr txBox="1"/>
          <p:nvPr/>
        </p:nvSpPr>
        <p:spPr>
          <a:xfrm>
            <a:off x="694476" y="2870000"/>
            <a:ext cx="1650000" cy="200000"/>
          </a:xfrm>
          <a:prstGeom prst="rect">
            <a:avLst/>
          </a:prstGeom>
          <a:noFill/>
        </p:spPr>
        <p:txBody>
          <a:bodyPr wrap="square" anchor="t"/>
          <a:lstStyle/>
          <a:p>
            <a:pPr algn="c"/>
            <a:r>
              <a:rPr sz="900" b="1">
                <a:solidFill>
                  <a:srgbClr val="FF7200"/>
                </a:solidFill>
                <a:latin typeface="DM Sans"/>
              </a:rPr>
              <a:t>01</a:t>
            </a:r>
          </a:p>
        </p:txBody>
      </p:sp>
      <p:sp>
        <p:nvSpPr>
          <p:cNvPr id="20" name="StepLabel1"/>
          <p:cNvSpPr txBox="1"/>
          <p:nvPr/>
        </p:nvSpPr>
        <p:spPr>
          <a:xfrm>
            <a:off x="754476" y="3090000"/>
            <a:ext cx="1530000" cy="300000"/>
          </a:xfrm>
          <a:prstGeom prst="rect">
            <a:avLst/>
          </a:prstGeom>
          <a:noFill/>
        </p:spPr>
        <p:txBody>
          <a:bodyPr wrap="square" anchor="ctr"/>
          <a:lstStyle/>
          <a:p>
            <a:pPr algn="c"/>
            <a:r>
              <a:rPr sz="1000" b="1">
                <a:solidFill>
                  <a:srgbClr val="FFFFFF"/>
                </a:solidFill>
                <a:latin typeface="DM Sans"/>
              </a:rPr>
              <a:t>Register DID</a:t>
            </a:r>
          </a:p>
        </p:txBody>
      </p:sp>
      <p:sp>
        <p:nvSpPr>
          <p:cNvPr id="21" name="StepDesc1"/>
          <p:cNvSpPr txBox="1"/>
          <p:nvPr/>
        </p:nvSpPr>
        <p:spPr>
          <a:xfrm>
            <a:off x="754476" y="3440000"/>
            <a:ext cx="1530000" cy="760000"/>
          </a:xfrm>
          <a:prstGeom prst="rect">
            <a:avLst/>
          </a:prstGeom>
          <a:noFill/>
        </p:spPr>
        <p:txBody>
          <a:bodyPr wrap="square" anchor="t"/>
          <a:lstStyle/>
          <a:p>
            <a:pPr algn="c"/>
            <a:r>
              <a:rPr sz="880" b="0">
                <a:solidFill>
                  <a:srgbClr val="B0BDCC"/>
                </a:solidFill>
                <a:latin typeface="DM Sans"/>
              </a:rPr>
              <a:t>Cooperative DID attested by Tanzania Business Registry.</a:t>
            </a:r>
          </a:p>
        </p:txBody>
      </p:sp>
      <p:sp>
        <p:nvSpPr>
          <p:cNvPr id="22" name="Arrow1"/>
          <p:cNvSpPr txBox="1"/>
          <p:nvPr/>
        </p:nvSpPr>
        <p:spPr>
          <a:xfrm>
            <a:off x="235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23" name="StepBox2"/>
          <p:cNvSpPr/>
          <p:nvPr/>
        </p:nvSpPr>
        <p:spPr>
          <a:xfrm>
            <a:off x="252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tepNum2"/>
          <p:cNvSpPr txBox="1"/>
          <p:nvPr/>
        </p:nvSpPr>
        <p:spPr>
          <a:xfrm>
            <a:off x="2524476" y="2870000"/>
            <a:ext cx="1650000" cy="200000"/>
          </a:xfrm>
          <a:prstGeom prst="rect">
            <a:avLst/>
          </a:prstGeom>
          <a:noFill/>
        </p:spPr>
        <p:txBody>
          <a:bodyPr wrap="square" anchor="t"/>
          <a:lstStyle/>
          <a:p>
            <a:pPr algn="c"/>
            <a:r>
              <a:rPr sz="900" b="1">
                <a:solidFill>
                  <a:srgbClr val="FF7200"/>
                </a:solidFill>
                <a:latin typeface="DM Sans"/>
              </a:rPr>
              <a:t>02</a:t>
            </a:r>
          </a:p>
        </p:txBody>
      </p:sp>
      <p:sp>
        <p:nvSpPr>
          <p:cNvPr id="25" name="StepLabel2"/>
          <p:cNvSpPr txBox="1"/>
          <p:nvPr/>
        </p:nvSpPr>
        <p:spPr>
          <a:xfrm>
            <a:off x="2584476" y="3090000"/>
            <a:ext cx="1530000" cy="300000"/>
          </a:xfrm>
          <a:prstGeom prst="rect">
            <a:avLst/>
          </a:prstGeom>
          <a:noFill/>
        </p:spPr>
        <p:txBody>
          <a:bodyPr wrap="square" anchor="ctr"/>
          <a:lstStyle/>
          <a:p>
            <a:pPr algn="c"/>
            <a:r>
              <a:rPr sz="1000" b="1">
                <a:solidFill>
                  <a:srgbClr val="FFFFFF"/>
                </a:solidFill>
                <a:latin typeface="DM Sans"/>
              </a:rPr>
              <a:t>Create Consignment</a:t>
            </a:r>
          </a:p>
        </p:txBody>
      </p:sp>
      <p:sp>
        <p:nvSpPr>
          <p:cNvPr id="26" name="StepDesc2"/>
          <p:cNvSpPr txBox="1"/>
          <p:nvPr/>
        </p:nvSpPr>
        <p:spPr>
          <a:xfrm>
            <a:off x="2584476" y="3440000"/>
            <a:ext cx="1530000" cy="760000"/>
          </a:xfrm>
          <a:prstGeom prst="rect">
            <a:avLst/>
          </a:prstGeom>
          <a:noFill/>
        </p:spPr>
        <p:txBody>
          <a:bodyPr wrap="square" anchor="t"/>
          <a:lstStyle/>
          <a:p>
            <a:pPr algn="c"/>
            <a:r>
              <a:rPr sz="880" b="0">
                <a:solidFill>
                  <a:srgbClr val="B0BDCC"/>
                </a:solidFill>
                <a:latin typeface="DM Sans"/>
              </a:rPr>
              <a:t>Log coffee export — grade, volume, destination.</a:t>
            </a:r>
          </a:p>
        </p:txBody>
      </p:sp>
      <p:sp>
        <p:nvSpPr>
          <p:cNvPr id="27" name="Arrow2"/>
          <p:cNvSpPr txBox="1"/>
          <p:nvPr/>
        </p:nvSpPr>
        <p:spPr>
          <a:xfrm>
            <a:off x="418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28" name="StepBox3"/>
          <p:cNvSpPr/>
          <p:nvPr/>
        </p:nvSpPr>
        <p:spPr>
          <a:xfrm>
            <a:off x="435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epNum3"/>
          <p:cNvSpPr txBox="1"/>
          <p:nvPr/>
        </p:nvSpPr>
        <p:spPr>
          <a:xfrm>
            <a:off x="4354476" y="2870000"/>
            <a:ext cx="1650000" cy="200000"/>
          </a:xfrm>
          <a:prstGeom prst="rect">
            <a:avLst/>
          </a:prstGeom>
          <a:noFill/>
        </p:spPr>
        <p:txBody>
          <a:bodyPr wrap="square" anchor="t"/>
          <a:lstStyle/>
          <a:p>
            <a:pPr algn="c"/>
            <a:r>
              <a:rPr sz="900" b="1">
                <a:solidFill>
                  <a:srgbClr val="FF7200"/>
                </a:solidFill>
                <a:latin typeface="DM Sans"/>
              </a:rPr>
              <a:t>03</a:t>
            </a:r>
          </a:p>
        </p:txBody>
      </p:sp>
      <p:sp>
        <p:nvSpPr>
          <p:cNvPr id="30" name="StepLabel3"/>
          <p:cNvSpPr txBox="1"/>
          <p:nvPr/>
        </p:nvSpPr>
        <p:spPr>
          <a:xfrm>
            <a:off x="4414476" y="3090000"/>
            <a:ext cx="1530000" cy="300000"/>
          </a:xfrm>
          <a:prstGeom prst="rect">
            <a:avLst/>
          </a:prstGeom>
          <a:noFill/>
        </p:spPr>
        <p:txBody>
          <a:bodyPr wrap="square" anchor="ctr"/>
          <a:lstStyle/>
          <a:p>
            <a:pPr algn="c"/>
            <a:r>
              <a:rPr sz="1000" b="1">
                <a:solidFill>
                  <a:srgbClr val="FFFFFF"/>
                </a:solidFill>
                <a:latin typeface="DM Sans"/>
              </a:rPr>
              <a:t>Attach Export Docs</a:t>
            </a:r>
          </a:p>
        </p:txBody>
      </p:sp>
      <p:sp>
        <p:nvSpPr>
          <p:cNvPr id="31" name="StepDesc3"/>
          <p:cNvSpPr txBox="1"/>
          <p:nvPr/>
        </p:nvSpPr>
        <p:spPr>
          <a:xfrm>
            <a:off x="4414476" y="3440000"/>
            <a:ext cx="1530000" cy="760000"/>
          </a:xfrm>
          <a:prstGeom prst="rect">
            <a:avLst/>
          </a:prstGeom>
          <a:noFill/>
        </p:spPr>
        <p:txBody>
          <a:bodyPr wrap="square" anchor="t"/>
          <a:lstStyle/>
          <a:p>
            <a:pPr algn="c"/>
            <a:r>
              <a:rPr sz="880" b="0">
                <a:solidFill>
                  <a:srgbClr val="B0BDCC"/>
                </a:solidFill>
                <a:latin typeface="DM Sans"/>
              </a:rPr>
              <a:t>Upload phytosanitary certificate, export permit, quality docs.</a:t>
            </a:r>
          </a:p>
        </p:txBody>
      </p:sp>
      <p:sp>
        <p:nvSpPr>
          <p:cNvPr id="32" name="Arrow3"/>
          <p:cNvSpPr txBox="1"/>
          <p:nvPr/>
        </p:nvSpPr>
        <p:spPr>
          <a:xfrm>
            <a:off x="601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33" name="StepBox4"/>
          <p:cNvSpPr/>
          <p:nvPr/>
        </p:nvSpPr>
        <p:spPr>
          <a:xfrm>
            <a:off x="618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epNum4"/>
          <p:cNvSpPr txBox="1"/>
          <p:nvPr/>
        </p:nvSpPr>
        <p:spPr>
          <a:xfrm>
            <a:off x="6184476" y="2870000"/>
            <a:ext cx="1650000" cy="200000"/>
          </a:xfrm>
          <a:prstGeom prst="rect">
            <a:avLst/>
          </a:prstGeom>
          <a:noFill/>
        </p:spPr>
        <p:txBody>
          <a:bodyPr wrap="square" anchor="t"/>
          <a:lstStyle/>
          <a:p>
            <a:pPr algn="c"/>
            <a:r>
              <a:rPr sz="900" b="1">
                <a:solidFill>
                  <a:srgbClr val="FF7200"/>
                </a:solidFill>
                <a:latin typeface="DM Sans"/>
              </a:rPr>
              <a:t>04</a:t>
            </a:r>
          </a:p>
        </p:txBody>
      </p:sp>
      <p:sp>
        <p:nvSpPr>
          <p:cNvPr id="35" name="StepLabel4"/>
          <p:cNvSpPr txBox="1"/>
          <p:nvPr/>
        </p:nvSpPr>
        <p:spPr>
          <a:xfrm>
            <a:off x="6244476" y="3090000"/>
            <a:ext cx="1530000" cy="300000"/>
          </a:xfrm>
          <a:prstGeom prst="rect">
            <a:avLst/>
          </a:prstGeom>
          <a:noFill/>
        </p:spPr>
        <p:txBody>
          <a:bodyPr wrap="square" anchor="ctr"/>
          <a:lstStyle/>
          <a:p>
            <a:pPr algn="c"/>
            <a:r>
              <a:rPr sz="1000" b="1">
                <a:solidFill>
                  <a:srgbClr val="FFFFFF"/>
                </a:solidFill>
                <a:latin typeface="DM Sans"/>
              </a:rPr>
              <a:t>Customs Inspects</a:t>
            </a:r>
          </a:p>
        </p:txBody>
      </p:sp>
      <p:sp>
        <p:nvSpPr>
          <p:cNvPr id="36" name="StepDesc4"/>
          <p:cNvSpPr txBox="1"/>
          <p:nvPr/>
        </p:nvSpPr>
        <p:spPr>
          <a:xfrm>
            <a:off x="6244476" y="3440000"/>
            <a:ext cx="1530000" cy="760000"/>
          </a:xfrm>
          <a:prstGeom prst="rect">
            <a:avLst/>
          </a:prstGeom>
          <a:noFill/>
        </p:spPr>
        <p:txBody>
          <a:bodyPr wrap="square" anchor="t"/>
          <a:lstStyle/>
          <a:p>
            <a:pPr algn="c"/>
            <a:r>
              <a:rPr sz="880" b="0">
                <a:solidFill>
                  <a:srgbClr val="B0BDCC"/>
                </a:solidFill>
                <a:latin typeface="DM Sans"/>
              </a:rPr>
              <a:t>Tanzania Customs reviews documents and confirms compliance.</a:t>
            </a:r>
          </a:p>
        </p:txBody>
      </p:sp>
      <p:sp>
        <p:nvSpPr>
          <p:cNvPr id="37" name="Arrow4"/>
          <p:cNvSpPr txBox="1"/>
          <p:nvPr/>
        </p:nvSpPr>
        <p:spPr>
          <a:xfrm>
            <a:off x="784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38" name="StepBox5"/>
          <p:cNvSpPr/>
          <p:nvPr/>
        </p:nvSpPr>
        <p:spPr>
          <a:xfrm>
            <a:off x="8014476" y="2800000"/>
            <a:ext cx="1650000" cy="1480000"/>
          </a:xfrm>
          <a:prstGeom prst="roundRect">
            <a:avLst>
              <a:gd name="adj" fmla="val 20000"/>
            </a:avLst>
          </a:prstGeom>
          <a:solidFill>
            <a:srgbClr val="FF7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epNum5"/>
          <p:cNvSpPr txBox="1"/>
          <p:nvPr/>
        </p:nvSpPr>
        <p:spPr>
          <a:xfrm>
            <a:off x="8014476" y="2870000"/>
            <a:ext cx="1650000" cy="200000"/>
          </a:xfrm>
          <a:prstGeom prst="rect">
            <a:avLst/>
          </a:prstGeom>
          <a:noFill/>
        </p:spPr>
        <p:txBody>
          <a:bodyPr wrap="square" anchor="t"/>
          <a:lstStyle/>
          <a:p>
            <a:pPr algn="c"/>
            <a:r>
              <a:rPr sz="900" b="1">
                <a:solidFill>
                  <a:srgbClr val="FFFFFF"/>
                </a:solidFill>
                <a:latin typeface="DM Sans"/>
              </a:rPr>
              <a:t>05</a:t>
            </a:r>
          </a:p>
        </p:txBody>
      </p:sp>
      <p:sp>
        <p:nvSpPr>
          <p:cNvPr id="40" name="StepLabel5"/>
          <p:cNvSpPr txBox="1"/>
          <p:nvPr/>
        </p:nvSpPr>
        <p:spPr>
          <a:xfrm>
            <a:off x="8074476" y="3090000"/>
            <a:ext cx="1530000" cy="300000"/>
          </a:xfrm>
          <a:prstGeom prst="rect">
            <a:avLst/>
          </a:prstGeom>
          <a:noFill/>
        </p:spPr>
        <p:txBody>
          <a:bodyPr wrap="square" anchor="ctr"/>
          <a:lstStyle/>
          <a:p>
            <a:pPr algn="c"/>
            <a:r>
              <a:rPr sz="1000" b="1">
                <a:solidFill>
                  <a:srgbClr val="FFFFFF"/>
                </a:solidFill>
                <a:latin typeface="DM Sans"/>
              </a:rPr>
              <a:t>Financier Views LC</a:t>
            </a:r>
          </a:p>
        </p:txBody>
      </p:sp>
      <p:sp>
        <p:nvSpPr>
          <p:cNvPr id="41" name="StepDesc5"/>
          <p:cNvSpPr txBox="1"/>
          <p:nvPr/>
        </p:nvSpPr>
        <p:spPr>
          <a:xfrm>
            <a:off x="8074476" y="3440000"/>
            <a:ext cx="1530000" cy="760000"/>
          </a:xfrm>
          <a:prstGeom prst="rect">
            <a:avLst/>
          </a:prstGeom>
          <a:noFill/>
        </p:spPr>
        <p:txBody>
          <a:bodyPr wrap="square" anchor="t"/>
          <a:lstStyle/>
          <a:p>
            <a:pPr algn="c"/>
            <a:r>
              <a:rPr sz="880" b="0">
                <a:solidFill>
                  <a:srgbClr val="FFFFFF"/>
                </a:solidFill>
                <a:latin typeface="DM Sans"/>
              </a:rPr>
              <a:t>Bank accesses consignment, issues Letter of Credit.</a:t>
            </a:r>
          </a:p>
        </p:txBody>
      </p:sp>
      <p:sp>
        <p:nvSpPr>
          <p:cNvPr id="42" name="Arrow5"/>
          <p:cNvSpPr txBox="1"/>
          <p:nvPr/>
        </p:nvSpPr>
        <p:spPr>
          <a:xfrm>
            <a:off x="967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43" name="StepBox6"/>
          <p:cNvSpPr/>
          <p:nvPr/>
        </p:nvSpPr>
        <p:spPr>
          <a:xfrm>
            <a:off x="984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tepNum6"/>
          <p:cNvSpPr txBox="1"/>
          <p:nvPr/>
        </p:nvSpPr>
        <p:spPr>
          <a:xfrm>
            <a:off x="9844476" y="2870000"/>
            <a:ext cx="1650000" cy="200000"/>
          </a:xfrm>
          <a:prstGeom prst="rect">
            <a:avLst/>
          </a:prstGeom>
          <a:noFill/>
        </p:spPr>
        <p:txBody>
          <a:bodyPr wrap="square" anchor="t"/>
          <a:lstStyle/>
          <a:p>
            <a:pPr algn="c"/>
            <a:r>
              <a:rPr sz="900" b="1">
                <a:solidFill>
                  <a:srgbClr val="FF7200"/>
                </a:solidFill>
                <a:latin typeface="DM Sans"/>
              </a:rPr>
              <a:t>06</a:t>
            </a:r>
          </a:p>
        </p:txBody>
      </p:sp>
      <p:sp>
        <p:nvSpPr>
          <p:cNvPr id="45" name="StepLabel6"/>
          <p:cNvSpPr txBox="1"/>
          <p:nvPr/>
        </p:nvSpPr>
        <p:spPr>
          <a:xfrm>
            <a:off x="9904476" y="3090000"/>
            <a:ext cx="1530000" cy="300000"/>
          </a:xfrm>
          <a:prstGeom prst="rect">
            <a:avLst/>
          </a:prstGeom>
          <a:noFill/>
        </p:spPr>
        <p:txBody>
          <a:bodyPr wrap="square" anchor="ctr"/>
          <a:lstStyle/>
          <a:p>
            <a:pPr algn="c"/>
            <a:r>
              <a:rPr sz="1000" b="1">
                <a:solidFill>
                  <a:srgbClr val="FFFFFF"/>
                </a:solidFill>
                <a:latin typeface="DM Sans"/>
              </a:rPr>
              <a:t>Delivered &amp; Settled</a:t>
            </a:r>
          </a:p>
        </p:txBody>
      </p:sp>
      <p:sp>
        <p:nvSpPr>
          <p:cNvPr id="46" name="StepDesc6"/>
          <p:cNvSpPr txBox="1"/>
          <p:nvPr/>
        </p:nvSpPr>
        <p:spPr>
          <a:xfrm>
            <a:off x="9904476" y="3440000"/>
            <a:ext cx="1530000" cy="760000"/>
          </a:xfrm>
          <a:prstGeom prst="rect">
            <a:avLst/>
          </a:prstGeom>
          <a:noFill/>
        </p:spPr>
        <p:txBody>
          <a:bodyPr wrap="square" anchor="t"/>
          <a:lstStyle/>
          <a:p>
            <a:pPr algn="c"/>
            <a:r>
              <a:rPr sz="880" b="0">
                <a:solidFill>
                  <a:srgbClr val="B0BDCC"/>
                </a:solidFill>
                <a:latin typeface="DM Sans"/>
              </a:rPr>
              <a:t>LC drawn and payment settled on delivery confirmation.</a:t>
            </a:r>
          </a:p>
        </p:txBody>
      </p:sp>
      <p:sp>
        <p:nvSpPr>
          <p:cNvPr id="47" name="OutcomeBg"/>
          <p:cNvSpPr/>
          <p:nvPr/>
        </p:nvSpPr>
        <p:spPr>
          <a:xfrm>
            <a:off x="411480" y="4450000"/>
            <a:ext cx="11365992" cy="300000"/>
          </a:xfrm>
          <a:prstGeom prst="rect">
            <a:avLst/>
          </a:prstGeom>
          <a:solidFill>
            <a:srgbClr val="0C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utcomeArrow"/>
          <p:cNvSpPr txBox="1"/>
          <p:nvPr/>
        </p:nvSpPr>
        <p:spPr>
          <a:xfrm>
            <a:off x="576072" y="4490000"/>
            <a:ext cx="300000" cy="220000"/>
          </a:xfrm>
          <a:prstGeom prst="rect">
            <a:avLst/>
          </a:prstGeom>
          <a:noFill/>
        </p:spPr>
        <p:txBody>
          <a:bodyPr wrap="square" anchor="ctr"/>
          <a:lstStyle/>
          <a:p>
            <a:pPr algn="c"/>
            <a:r>
              <a:rPr sz="1100" b="1">
                <a:solidFill>
                  <a:srgbClr val="FF7200"/>
                </a:solidFill>
                <a:latin typeface="DM Sans"/>
              </a:rPr>
              <a:t>→</a:t>
            </a:r>
          </a:p>
        </p:txBody>
      </p:sp>
      <p:sp>
        <p:nvSpPr>
          <p:cNvPr id="49" name="OutcomeText"/>
          <p:cNvSpPr txBox="1"/>
          <p:nvPr/>
        </p:nvSpPr>
        <p:spPr>
          <a:xfrm>
            <a:off x="950000" y="4490000"/>
            <a:ext cx="10700000" cy="220000"/>
          </a:xfrm>
          <a:prstGeom prst="rect">
            <a:avLst/>
          </a:prstGeom>
          <a:noFill/>
        </p:spPr>
        <p:txBody>
          <a:bodyPr wrap="square" anchor="ctr"/>
          <a:lstStyle/>
          <a:p>
            <a:pPr algn="l"/>
            <a:r>
              <a:rPr sz="1000" b="0">
                <a:solidFill>
                  <a:srgbClr val="B0BDCC"/>
                </a:solidFill>
                <a:latin typeface="DM Sans"/>
              </a:rPr>
              <a:t>Outcome: Smallholder cooperative accesses trade finance via verified identity — previously out of reach.</a:t>
            </a:r>
          </a:p>
        </p:txBody>
      </p:sp>
      <p:sp>
        <p:nvSpPr>
          <p:cNvPr id="50" name="FooterBg"/>
          <p:cNvSpPr/>
          <p:nvPr/>
        </p:nvSpPr>
        <p:spPr>
          <a:xfrm>
            <a:off x="411480" y="5742432"/>
            <a:ext cx="11365992" cy="7132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ooterArrow"/>
          <p:cNvSpPr txBox="1"/>
          <p:nvPr/>
        </p:nvSpPr>
        <p:spPr>
          <a:xfrm>
            <a:off x="576072" y="5797296"/>
            <a:ext cx="274320" cy="603504"/>
          </a:xfrm>
          <a:prstGeom prst="rect">
            <a:avLst/>
          </a:prstGeom>
          <a:noFill/>
        </p:spPr>
        <p:txBody>
          <a:bodyPr wrap="square" anchor="ctr"/>
          <a:lstStyle/>
          <a:p>
            <a:pPr algn="l"/>
            <a:r>
              <a:rPr sz="1300" b="1">
                <a:solidFill>
                  <a:srgbClr val="FF7200"/>
                </a:solidFill>
                <a:latin typeface="DM Sans"/>
              </a:rPr>
              <a:t>→</a:t>
            </a:r>
          </a:p>
        </p:txBody>
      </p:sp>
      <p:sp>
        <p:nvSpPr>
          <p:cNvPr id="52" name="FooterText"/>
          <p:cNvSpPr txBox="1"/>
          <p:nvPr/>
        </p:nvSpPr>
        <p:spPr>
          <a:xfrm>
            <a:off x="914400" y="5797296"/>
            <a:ext cx="10771632" cy="603504"/>
          </a:xfrm>
          <a:prstGeom prst="rect">
            <a:avLst/>
          </a:prstGeom>
          <a:noFill/>
        </p:spPr>
        <p:txBody>
          <a:bodyPr wrap="square" anchor="ctr"/>
          <a:lstStyle/>
          <a:p>
            <a:pPr algn="l"/>
            <a:r>
              <a:rPr sz="1000" b="0">
                <a:solidFill>
                  <a:srgbClr val="B0BDCC"/>
                </a:solidFill>
                <a:latin typeface="DM Sans"/>
              </a:rPr>
              <a:t>ADAPT enables agri-exporters to present tamper-proof, verifiable records to banks — reducing due diligence costs and unlocking LC financing.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224E"/>
        </a:solidFill>
        <a:effectLst/>
      </p:bgPr>
    </p:bg>
    <p:spTree>
      <p:nvGrpSpPr>
        <p:cNvPr id="1" name=""/>
        <p:cNvGrpSpPr/>
        <p:nvPr/>
      </p:nvGrpSpPr>
      <p:grpSpPr/>
      <p:sp>
        <p:nvSpPr>
          <p:cNvPr id="2" name="LogoBg"/>
          <p:cNvSpPr/>
          <p:nvPr/>
        </p:nvSpPr>
        <p:spPr>
          <a:xfrm>
            <a:off x="411480" y="246888"/>
            <a:ext cx="384048" cy="384048"/>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ogoEmoji"/>
          <p:cNvSpPr txBox="1"/>
          <p:nvPr/>
        </p:nvSpPr>
        <p:spPr>
          <a:xfrm>
            <a:off x="411480" y="246888"/>
            <a:ext cx="384048" cy="384048"/>
          </a:xfrm>
          <a:prstGeom prst="rect">
            <a:avLst/>
          </a:prstGeom>
          <a:noFill/>
        </p:spPr>
        <p:txBody>
          <a:bodyPr wrap="square" anchor="ctr"/>
          <a:lstStyle/>
          <a:p>
            <a:pPr algn="c"/>
            <a:r>
              <a:rPr sz="1400" b="0">
                <a:solidFill>
                  <a:srgbClr val="FFFFFF"/>
                </a:solidFill>
                <a:latin typeface="DM Sans"/>
              </a:rPr>
              <a:t>🌍</a:t>
            </a:r>
          </a:p>
        </p:txBody>
      </p:sp>
      <p:sp>
        <p:nvSpPr>
          <p:cNvPr id="4" name="BrandText"/>
          <p:cNvSpPr txBox="1"/>
          <p:nvPr/>
        </p:nvSpPr>
        <p:spPr>
          <a:xfrm>
            <a:off x="850392" y="256032"/>
            <a:ext cx="1280160" cy="228600"/>
          </a:xfrm>
          <a:prstGeom prst="rect">
            <a:avLst/>
          </a:prstGeom>
          <a:noFill/>
        </p:spPr>
        <p:txBody>
          <a:bodyPr wrap="square" anchor="t"/>
          <a:lstStyle/>
          <a:p>
            <a:pPr algn="l"/>
            <a:r>
              <a:rPr sz="1150" b="1">
                <a:solidFill>
                  <a:srgbClr val="FFFFFF"/>
                </a:solidFill>
                <a:latin typeface="DM Sans"/>
              </a:rPr>
              <a:t>ADAPT</a:t>
            </a:r>
          </a:p>
        </p:txBody>
      </p:sp>
      <p:sp>
        <p:nvSpPr>
          <p:cNvPr id="5" name="PageNum"/>
          <p:cNvSpPr txBox="1"/>
          <p:nvPr/>
        </p:nvSpPr>
        <p:spPr>
          <a:xfrm>
            <a:off x="11064240" y="274320"/>
            <a:ext cx="914400" cy="274320"/>
          </a:xfrm>
          <a:prstGeom prst="rect">
            <a:avLst/>
          </a:prstGeom>
          <a:noFill/>
        </p:spPr>
        <p:txBody>
          <a:bodyPr wrap="none" anchor="t">
            <a:spAutoFit/>
          </a:bodyPr>
          <a:lstStyle/>
          <a:p>
            <a:pPr algn="r"/>
            <a:r>
              <a:rPr sz="1100" b="1">
                <a:solidFill>
                  <a:srgbClr val="FF7200"/>
                </a:solidFill>
                <a:latin typeface="DM Sans"/>
              </a:rPr>
              <a:t>08</a:t>
            </a:r>
            <a:r>
              <a:rPr sz="1100" b="0">
                <a:solidFill>
                  <a:srgbClr val="708299"/>
                </a:solidFill>
                <a:latin typeface="DM Sans"/>
              </a:rPr>
              <a:t xml:space="preserve"> / 12</a:t>
            </a:r>
          </a:p>
        </p:txBody>
      </p:sp>
      <p:sp>
        <p:nvSpPr>
          <p:cNvPr id="6" name="SectionBg"/>
          <p:cNvSpPr/>
          <p:nvPr/>
        </p:nvSpPr>
        <p:spPr>
          <a:xfrm>
            <a:off x="411480" y="804672"/>
            <a:ext cx="2286000" cy="2560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onLabel"/>
          <p:cNvSpPr txBox="1"/>
          <p:nvPr/>
        </p:nvSpPr>
        <p:spPr>
          <a:xfrm>
            <a:off x="484632" y="832104"/>
            <a:ext cx="2286000" cy="219456"/>
          </a:xfrm>
          <a:prstGeom prst="rect">
            <a:avLst/>
          </a:prstGeom>
          <a:noFill/>
        </p:spPr>
        <p:txBody>
          <a:bodyPr wrap="square" anchor="t"/>
          <a:lstStyle/>
          <a:p>
            <a:pPr algn="l"/>
            <a:r>
              <a:rPr sz="950" b="1">
                <a:solidFill>
                  <a:srgbClr val="FF7200"/>
                </a:solidFill>
                <a:latin typeface="DM Sans"/>
              </a:rPr>
              <a:t>● JOURNEY 1C — INFORMAL CROSS-BORDER TRADER</a:t>
            </a:r>
          </a:p>
        </p:txBody>
      </p:sp>
      <p:sp>
        <p:nvSpPr>
          <p:cNvPr id="8" name="Title"/>
          <p:cNvSpPr txBox="1"/>
          <p:nvPr/>
        </p:nvSpPr>
        <p:spPr>
          <a:xfrm>
            <a:off x="411480" y="1135000"/>
            <a:ext cx="11338560" cy="440000"/>
          </a:xfrm>
          <a:prstGeom prst="rect">
            <a:avLst/>
          </a:prstGeom>
          <a:noFill/>
        </p:spPr>
        <p:txBody>
          <a:bodyPr wrap="square" anchor="t"/>
          <a:lstStyle/>
          <a:p>
            <a:pPr algn="l"/>
            <a:r>
              <a:rPr sz="2400" b="1">
                <a:solidFill>
                  <a:srgbClr val="FFFFFF"/>
                </a:solidFill>
                <a:latin typeface="DM Sans"/>
              </a:rPr>
              <a:t>BorderLink Traders — Cross-Border Trader (Unverified)</a:t>
            </a:r>
          </a:p>
        </p:txBody>
      </p:sp>
      <p:sp>
        <p:nvSpPr>
          <p:cNvPr id="9" name="Subtitle"/>
          <p:cNvSpPr txBox="1"/>
          <p:nvPr/>
        </p:nvSpPr>
        <p:spPr>
          <a:xfrm>
            <a:off x="411480" y="1600000"/>
            <a:ext cx="9000000" cy="240000"/>
          </a:xfrm>
          <a:prstGeom prst="rect">
            <a:avLst/>
          </a:prstGeom>
          <a:noFill/>
        </p:spPr>
        <p:txBody>
          <a:bodyPr wrap="square" anchor="t"/>
          <a:lstStyle/>
          <a:p>
            <a:pPr algn="l"/>
            <a:r>
              <a:rPr sz="1050" b="0">
                <a:solidFill>
                  <a:srgbClr val="B0BDCC"/>
                </a:solidFill>
                <a:latin typeface="DM Sans"/>
              </a:rPr>
              <a:t>Nigeria · Cross-Border Trade · No registered DID on ADAPT</a:t>
            </a:r>
          </a:p>
        </p:txBody>
      </p:sp>
      <p:sp>
        <p:nvSpPr>
          <p:cNvPr id="10" name="ProblemBg"/>
          <p:cNvSpPr/>
          <p:nvPr/>
        </p:nvSpPr>
        <p:spPr>
          <a:xfrm>
            <a:off x="411480" y="1920000"/>
            <a:ext cx="5609280" cy="700000"/>
          </a:xfrm>
          <a:prstGeom prst="rect">
            <a:avLst/>
          </a:prstGeom>
          <a:solidFill>
            <a:srgbClr val="0D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blemAccent"/>
          <p:cNvSpPr/>
          <p:nvPr/>
        </p:nvSpPr>
        <p:spPr>
          <a:xfrm>
            <a:off x="411480" y="1920000"/>
            <a:ext cx="40000" cy="700000"/>
          </a:xfrm>
          <a:prstGeom prst="rect">
            <a:avLst/>
          </a:prstGeom>
          <a:solidFill>
            <a:srgbClr val="FF7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blemHead"/>
          <p:cNvSpPr txBox="1"/>
          <p:nvPr/>
        </p:nvSpPr>
        <p:spPr>
          <a:xfrm>
            <a:off x="491480" y="1980000"/>
            <a:ext cx="5509280" cy="180000"/>
          </a:xfrm>
          <a:prstGeom prst="rect">
            <a:avLst/>
          </a:prstGeom>
          <a:noFill/>
        </p:spPr>
        <p:txBody>
          <a:bodyPr wrap="square" anchor="t"/>
          <a:lstStyle/>
          <a:p>
            <a:pPr algn="l"/>
            <a:r>
              <a:rPr sz="950" b="1">
                <a:solidFill>
                  <a:srgbClr val="FF7200"/>
                </a:solidFill>
                <a:latin typeface="DM Sans"/>
              </a:rPr>
              <a:t>⚠  THE CHALLENGE</a:t>
            </a:r>
          </a:p>
        </p:txBody>
      </p:sp>
      <p:sp>
        <p:nvSpPr>
          <p:cNvPr id="13" name="ProblemBody"/>
          <p:cNvSpPr txBox="1"/>
          <p:nvPr/>
        </p:nvSpPr>
        <p:spPr>
          <a:xfrm>
            <a:off x="491480" y="2170000"/>
            <a:ext cx="5489280" cy="420000"/>
          </a:xfrm>
          <a:prstGeom prst="rect">
            <a:avLst/>
          </a:prstGeom>
          <a:noFill/>
        </p:spPr>
        <p:txBody>
          <a:bodyPr wrap="square" anchor="t"/>
          <a:lstStyle/>
          <a:p>
            <a:pPr algn="l"/>
            <a:r>
              <a:rPr sz="980" b="0">
                <a:solidFill>
                  <a:srgbClr val="B0BDCC"/>
                </a:solidFill>
                <a:latin typeface="DM Sans"/>
              </a:rPr>
              <a:t>Millions of informal cross-border traders move goods without formal digital identity — operating outside the verified network, invisible to finance partners, and subject to increased customs scrutiny. There is no mechanism for these actors to build a trusted trade record, even if their underlying businesses are legitimate.</a:t>
            </a:r>
          </a:p>
        </p:txBody>
      </p:sp>
      <p:sp>
        <p:nvSpPr>
          <p:cNvPr id="14" name="SolutionBg"/>
          <p:cNvSpPr/>
          <p:nvPr/>
        </p:nvSpPr>
        <p:spPr>
          <a:xfrm>
            <a:off x="6140760" y="1920000"/>
            <a:ext cx="5609280" cy="700000"/>
          </a:xfrm>
          <a:prstGeom prst="rect">
            <a:avLst/>
          </a:prstGeom>
          <a:solidFill>
            <a:srgbClr val="0D23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olutionAccent"/>
          <p:cNvSpPr/>
          <p:nvPr/>
        </p:nvSpPr>
        <p:spPr>
          <a:xfrm>
            <a:off x="6140760" y="1920000"/>
            <a:ext cx="40000" cy="700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olutionHead"/>
          <p:cNvSpPr txBox="1"/>
          <p:nvPr/>
        </p:nvSpPr>
        <p:spPr>
          <a:xfrm>
            <a:off x="6220760" y="1980000"/>
            <a:ext cx="5509280" cy="180000"/>
          </a:xfrm>
          <a:prstGeom prst="rect">
            <a:avLst/>
          </a:prstGeom>
          <a:noFill/>
        </p:spPr>
        <p:txBody>
          <a:bodyPr wrap="square" anchor="t"/>
          <a:lstStyle/>
          <a:p>
            <a:pPr algn="l"/>
            <a:r>
              <a:rPr sz="950" b="1">
                <a:solidFill>
                  <a:srgbClr val="2ECC71"/>
                </a:solidFill>
                <a:latin typeface="DM Sans"/>
              </a:rPr>
              <a:t>✓  HOW ADAPT HELPS</a:t>
            </a:r>
          </a:p>
        </p:txBody>
      </p:sp>
      <p:sp>
        <p:nvSpPr>
          <p:cNvPr id="17" name="SolutionBody"/>
          <p:cNvSpPr txBox="1"/>
          <p:nvPr/>
        </p:nvSpPr>
        <p:spPr>
          <a:xfrm>
            <a:off x="6220760" y="2170000"/>
            <a:ext cx="5489280" cy="420000"/>
          </a:xfrm>
          <a:prstGeom prst="rect">
            <a:avLst/>
          </a:prstGeom>
          <a:noFill/>
        </p:spPr>
        <p:txBody>
          <a:bodyPr wrap="square" anchor="t"/>
          <a:lstStyle/>
          <a:p>
            <a:pPr algn="l"/>
            <a:r>
              <a:rPr sz="980" b="0">
                <a:solidFill>
                  <a:srgbClr val="B0BDCC"/>
                </a:solidFill>
                <a:latin typeface="DM Sans"/>
              </a:rPr>
              <a:t>ADAPT makes the cost of non-registration visible and the path to formalisation clear. Unverified organisations are flagged across the network — reducing counterparty trust, blocking finance access, and restricting customs clearance — creating a direct incentive to register a DID and join the verified trade ecosystem.</a:t>
            </a:r>
          </a:p>
        </p:txBody>
      </p:sp>
      <p:sp>
        <p:nvSpPr>
          <p:cNvPr id="18" name="StepBox1"/>
          <p:cNvSpPr/>
          <p:nvPr/>
        </p:nvSpPr>
        <p:spPr>
          <a:xfrm>
            <a:off x="569476" y="2800000"/>
            <a:ext cx="20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epNum1"/>
          <p:cNvSpPr txBox="1"/>
          <p:nvPr/>
        </p:nvSpPr>
        <p:spPr>
          <a:xfrm>
            <a:off x="569476" y="2870000"/>
            <a:ext cx="2050000" cy="200000"/>
          </a:xfrm>
          <a:prstGeom prst="rect">
            <a:avLst/>
          </a:prstGeom>
          <a:noFill/>
        </p:spPr>
        <p:txBody>
          <a:bodyPr wrap="square" anchor="t"/>
          <a:lstStyle/>
          <a:p>
            <a:pPr algn="c"/>
            <a:r>
              <a:rPr sz="900" b="1">
                <a:solidFill>
                  <a:srgbClr val="FF7200"/>
                </a:solidFill>
                <a:latin typeface="DM Sans"/>
              </a:rPr>
              <a:t>01</a:t>
            </a:r>
          </a:p>
        </p:txBody>
      </p:sp>
      <p:sp>
        <p:nvSpPr>
          <p:cNvPr id="20" name="StepLabel1"/>
          <p:cNvSpPr txBox="1"/>
          <p:nvPr/>
        </p:nvSpPr>
        <p:spPr>
          <a:xfrm>
            <a:off x="649476" y="3090000"/>
            <a:ext cx="1890000" cy="300000"/>
          </a:xfrm>
          <a:prstGeom prst="rect">
            <a:avLst/>
          </a:prstGeom>
          <a:noFill/>
        </p:spPr>
        <p:txBody>
          <a:bodyPr wrap="square" anchor="ctr"/>
          <a:lstStyle/>
          <a:p>
            <a:pPr algn="c"/>
            <a:r>
              <a:rPr sz="1050" b="1">
                <a:solidFill>
                  <a:srgbClr val="FFFFFF"/>
                </a:solidFill>
                <a:latin typeface="DM Sans"/>
              </a:rPr>
              <a:t>No DID Registered</a:t>
            </a:r>
          </a:p>
        </p:txBody>
      </p:sp>
      <p:sp>
        <p:nvSpPr>
          <p:cNvPr id="21" name="StepDesc1"/>
          <p:cNvSpPr txBox="1"/>
          <p:nvPr/>
        </p:nvSpPr>
        <p:spPr>
          <a:xfrm>
            <a:off x="649476" y="3440000"/>
            <a:ext cx="1890000" cy="760000"/>
          </a:xfrm>
          <a:prstGeom prst="rect">
            <a:avLst/>
          </a:prstGeom>
          <a:noFill/>
        </p:spPr>
        <p:txBody>
          <a:bodyPr wrap="square" anchor="t"/>
          <a:lstStyle/>
          <a:p>
            <a:pPr algn="c"/>
            <a:r>
              <a:rPr sz="920" b="0">
                <a:solidFill>
                  <a:srgbClr val="B0BDCC"/>
                </a:solidFill>
                <a:latin typeface="DM Sans"/>
              </a:rPr>
              <a:t>Organisation trades without a verified digital identity on ADAPT.</a:t>
            </a:r>
          </a:p>
        </p:txBody>
      </p:sp>
      <p:sp>
        <p:nvSpPr>
          <p:cNvPr id="22" name="Arrow1"/>
          <p:cNvSpPr txBox="1"/>
          <p:nvPr/>
        </p:nvSpPr>
        <p:spPr>
          <a:xfrm>
            <a:off x="2629476" y="3410000"/>
            <a:ext cx="180000" cy="260000"/>
          </a:xfrm>
          <a:prstGeom prst="rect">
            <a:avLst/>
          </a:prstGeom>
          <a:noFill/>
        </p:spPr>
        <p:txBody>
          <a:bodyPr wrap="square" anchor="ctr"/>
          <a:lstStyle/>
          <a:p>
            <a:pPr algn="c"/>
            <a:r>
              <a:rPr sz="1200" b="1">
                <a:solidFill>
                  <a:srgbClr val="FF7200"/>
                </a:solidFill>
                <a:latin typeface="DM Sans"/>
              </a:rPr>
              <a:t>→</a:t>
            </a:r>
          </a:p>
        </p:txBody>
      </p:sp>
      <p:sp>
        <p:nvSpPr>
          <p:cNvPr id="23" name="StepBox2"/>
          <p:cNvSpPr/>
          <p:nvPr/>
        </p:nvSpPr>
        <p:spPr>
          <a:xfrm>
            <a:off x="2819476" y="2800000"/>
            <a:ext cx="20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tepNum2"/>
          <p:cNvSpPr txBox="1"/>
          <p:nvPr/>
        </p:nvSpPr>
        <p:spPr>
          <a:xfrm>
            <a:off x="2819476" y="2870000"/>
            <a:ext cx="2050000" cy="200000"/>
          </a:xfrm>
          <a:prstGeom prst="rect">
            <a:avLst/>
          </a:prstGeom>
          <a:noFill/>
        </p:spPr>
        <p:txBody>
          <a:bodyPr wrap="square" anchor="t"/>
          <a:lstStyle/>
          <a:p>
            <a:pPr algn="c"/>
            <a:r>
              <a:rPr sz="900" b="1">
                <a:solidFill>
                  <a:srgbClr val="FF7200"/>
                </a:solidFill>
                <a:latin typeface="DM Sans"/>
              </a:rPr>
              <a:t>02</a:t>
            </a:r>
          </a:p>
        </p:txBody>
      </p:sp>
      <p:sp>
        <p:nvSpPr>
          <p:cNvPr id="25" name="StepLabel2"/>
          <p:cNvSpPr txBox="1"/>
          <p:nvPr/>
        </p:nvSpPr>
        <p:spPr>
          <a:xfrm>
            <a:off x="2899476" y="3090000"/>
            <a:ext cx="1890000" cy="300000"/>
          </a:xfrm>
          <a:prstGeom prst="rect">
            <a:avLst/>
          </a:prstGeom>
          <a:noFill/>
        </p:spPr>
        <p:txBody>
          <a:bodyPr wrap="square" anchor="ctr"/>
          <a:lstStyle/>
          <a:p>
            <a:pPr algn="c"/>
            <a:r>
              <a:rPr sz="1050" b="1">
                <a:solidFill>
                  <a:srgbClr val="FFFFFF"/>
                </a:solidFill>
                <a:latin typeface="DM Sans"/>
              </a:rPr>
              <a:t>Create Consignment</a:t>
            </a:r>
          </a:p>
        </p:txBody>
      </p:sp>
      <p:sp>
        <p:nvSpPr>
          <p:cNvPr id="26" name="StepDesc2"/>
          <p:cNvSpPr txBox="1"/>
          <p:nvPr/>
        </p:nvSpPr>
        <p:spPr>
          <a:xfrm>
            <a:off x="2899476" y="3440000"/>
            <a:ext cx="1890000" cy="760000"/>
          </a:xfrm>
          <a:prstGeom prst="rect">
            <a:avLst/>
          </a:prstGeom>
          <a:noFill/>
        </p:spPr>
        <p:txBody>
          <a:bodyPr wrap="square" anchor="t"/>
          <a:lstStyle/>
          <a:p>
            <a:pPr algn="c"/>
            <a:r>
              <a:rPr sz="920" b="0">
                <a:solidFill>
                  <a:srgbClr val="B0BDCC"/>
                </a:solidFill>
                <a:latin typeface="DM Sans"/>
              </a:rPr>
              <a:t>Record created but flagged — limited visibility to counterparties.</a:t>
            </a:r>
          </a:p>
        </p:txBody>
      </p:sp>
      <p:sp>
        <p:nvSpPr>
          <p:cNvPr id="27" name="Arrow2"/>
          <p:cNvSpPr txBox="1"/>
          <p:nvPr/>
        </p:nvSpPr>
        <p:spPr>
          <a:xfrm>
            <a:off x="4879476" y="3410000"/>
            <a:ext cx="180000" cy="260000"/>
          </a:xfrm>
          <a:prstGeom prst="rect">
            <a:avLst/>
          </a:prstGeom>
          <a:noFill/>
        </p:spPr>
        <p:txBody>
          <a:bodyPr wrap="square" anchor="ctr"/>
          <a:lstStyle/>
          <a:p>
            <a:pPr algn="c"/>
            <a:r>
              <a:rPr sz="1200" b="1">
                <a:solidFill>
                  <a:srgbClr val="FF7200"/>
                </a:solidFill>
                <a:latin typeface="DM Sans"/>
              </a:rPr>
              <a:t>→</a:t>
            </a:r>
          </a:p>
        </p:txBody>
      </p:sp>
      <p:sp>
        <p:nvSpPr>
          <p:cNvPr id="28" name="StepBox3"/>
          <p:cNvSpPr/>
          <p:nvPr/>
        </p:nvSpPr>
        <p:spPr>
          <a:xfrm>
            <a:off x="5069476" y="2800000"/>
            <a:ext cx="20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epNum3"/>
          <p:cNvSpPr txBox="1"/>
          <p:nvPr/>
        </p:nvSpPr>
        <p:spPr>
          <a:xfrm>
            <a:off x="5069476" y="2870000"/>
            <a:ext cx="2050000" cy="200000"/>
          </a:xfrm>
          <a:prstGeom prst="rect">
            <a:avLst/>
          </a:prstGeom>
          <a:noFill/>
        </p:spPr>
        <p:txBody>
          <a:bodyPr wrap="square" anchor="t"/>
          <a:lstStyle/>
          <a:p>
            <a:pPr algn="c"/>
            <a:r>
              <a:rPr sz="900" b="1">
                <a:solidFill>
                  <a:srgbClr val="FF7200"/>
                </a:solidFill>
                <a:latin typeface="DM Sans"/>
              </a:rPr>
              <a:t>03</a:t>
            </a:r>
          </a:p>
        </p:txBody>
      </p:sp>
      <p:sp>
        <p:nvSpPr>
          <p:cNvPr id="30" name="StepLabel3"/>
          <p:cNvSpPr txBox="1"/>
          <p:nvPr/>
        </p:nvSpPr>
        <p:spPr>
          <a:xfrm>
            <a:off x="5149476" y="3090000"/>
            <a:ext cx="1890000" cy="300000"/>
          </a:xfrm>
          <a:prstGeom prst="rect">
            <a:avLst/>
          </a:prstGeom>
          <a:noFill/>
        </p:spPr>
        <p:txBody>
          <a:bodyPr wrap="square" anchor="ctr"/>
          <a:lstStyle/>
          <a:p>
            <a:pPr algn="c"/>
            <a:r>
              <a:rPr sz="1050" b="1">
                <a:solidFill>
                  <a:srgbClr val="FFFFFF"/>
                </a:solidFill>
                <a:latin typeface="DM Sans"/>
              </a:rPr>
              <a:t>Reduced Trust Signal</a:t>
            </a:r>
          </a:p>
        </p:txBody>
      </p:sp>
      <p:sp>
        <p:nvSpPr>
          <p:cNvPr id="31" name="StepDesc3"/>
          <p:cNvSpPr txBox="1"/>
          <p:nvPr/>
        </p:nvSpPr>
        <p:spPr>
          <a:xfrm>
            <a:off x="5149476" y="3440000"/>
            <a:ext cx="1890000" cy="760000"/>
          </a:xfrm>
          <a:prstGeom prst="rect">
            <a:avLst/>
          </a:prstGeom>
          <a:noFill/>
        </p:spPr>
        <p:txBody>
          <a:bodyPr wrap="square" anchor="t"/>
          <a:lstStyle/>
          <a:p>
            <a:pPr algn="c"/>
            <a:r>
              <a:rPr sz="920" b="0">
                <a:solidFill>
                  <a:srgbClr val="B0BDCC"/>
                </a:solidFill>
                <a:latin typeface="DM Sans"/>
              </a:rPr>
              <a:t>Partners see 'Identity Not Verified' warning on the record.</a:t>
            </a:r>
          </a:p>
        </p:txBody>
      </p:sp>
      <p:sp>
        <p:nvSpPr>
          <p:cNvPr id="32" name="Arrow3"/>
          <p:cNvSpPr txBox="1"/>
          <p:nvPr/>
        </p:nvSpPr>
        <p:spPr>
          <a:xfrm>
            <a:off x="7129476" y="3410000"/>
            <a:ext cx="180000" cy="260000"/>
          </a:xfrm>
          <a:prstGeom prst="rect">
            <a:avLst/>
          </a:prstGeom>
          <a:noFill/>
        </p:spPr>
        <p:txBody>
          <a:bodyPr wrap="square" anchor="ctr"/>
          <a:lstStyle/>
          <a:p>
            <a:pPr algn="c"/>
            <a:r>
              <a:rPr sz="1200" b="1">
                <a:solidFill>
                  <a:srgbClr val="FF7200"/>
                </a:solidFill>
                <a:latin typeface="DM Sans"/>
              </a:rPr>
              <a:t>→</a:t>
            </a:r>
          </a:p>
        </p:txBody>
      </p:sp>
      <p:sp>
        <p:nvSpPr>
          <p:cNvPr id="33" name="StepBox4"/>
          <p:cNvSpPr/>
          <p:nvPr/>
        </p:nvSpPr>
        <p:spPr>
          <a:xfrm>
            <a:off x="7319476" y="2800000"/>
            <a:ext cx="20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epNum4"/>
          <p:cNvSpPr txBox="1"/>
          <p:nvPr/>
        </p:nvSpPr>
        <p:spPr>
          <a:xfrm>
            <a:off x="7319476" y="2870000"/>
            <a:ext cx="2050000" cy="200000"/>
          </a:xfrm>
          <a:prstGeom prst="rect">
            <a:avLst/>
          </a:prstGeom>
          <a:noFill/>
        </p:spPr>
        <p:txBody>
          <a:bodyPr wrap="square" anchor="t"/>
          <a:lstStyle/>
          <a:p>
            <a:pPr algn="c"/>
            <a:r>
              <a:rPr sz="900" b="1">
                <a:solidFill>
                  <a:srgbClr val="FF7200"/>
                </a:solidFill>
                <a:latin typeface="DM Sans"/>
              </a:rPr>
              <a:t>04</a:t>
            </a:r>
          </a:p>
        </p:txBody>
      </p:sp>
      <p:sp>
        <p:nvSpPr>
          <p:cNvPr id="35" name="StepLabel4"/>
          <p:cNvSpPr txBox="1"/>
          <p:nvPr/>
        </p:nvSpPr>
        <p:spPr>
          <a:xfrm>
            <a:off x="7399476" y="3090000"/>
            <a:ext cx="1890000" cy="300000"/>
          </a:xfrm>
          <a:prstGeom prst="rect">
            <a:avLst/>
          </a:prstGeom>
          <a:noFill/>
        </p:spPr>
        <p:txBody>
          <a:bodyPr wrap="square" anchor="ctr"/>
          <a:lstStyle/>
          <a:p>
            <a:pPr algn="c"/>
            <a:r>
              <a:rPr sz="1050" b="1">
                <a:solidFill>
                  <a:srgbClr val="FFFFFF"/>
                </a:solidFill>
                <a:latin typeface="DM Sans"/>
              </a:rPr>
              <a:t>Prompted to Register</a:t>
            </a:r>
          </a:p>
        </p:txBody>
      </p:sp>
      <p:sp>
        <p:nvSpPr>
          <p:cNvPr id="36" name="StepDesc4"/>
          <p:cNvSpPr txBox="1"/>
          <p:nvPr/>
        </p:nvSpPr>
        <p:spPr>
          <a:xfrm>
            <a:off x="7399476" y="3440000"/>
            <a:ext cx="1890000" cy="760000"/>
          </a:xfrm>
          <a:prstGeom prst="rect">
            <a:avLst/>
          </a:prstGeom>
          <a:noFill/>
        </p:spPr>
        <p:txBody>
          <a:bodyPr wrap="square" anchor="t"/>
          <a:lstStyle/>
          <a:p>
            <a:pPr algn="c"/>
            <a:r>
              <a:rPr sz="920" b="0">
                <a:solidFill>
                  <a:srgbClr val="B0BDCC"/>
                </a:solidFill>
                <a:latin typeface="DM Sans"/>
              </a:rPr>
              <a:t>System prompts registration with a national registry authority.</a:t>
            </a:r>
          </a:p>
        </p:txBody>
      </p:sp>
      <p:sp>
        <p:nvSpPr>
          <p:cNvPr id="37" name="Arrow4"/>
          <p:cNvSpPr txBox="1"/>
          <p:nvPr/>
        </p:nvSpPr>
        <p:spPr>
          <a:xfrm>
            <a:off x="9379476" y="3410000"/>
            <a:ext cx="180000" cy="260000"/>
          </a:xfrm>
          <a:prstGeom prst="rect">
            <a:avLst/>
          </a:prstGeom>
          <a:noFill/>
        </p:spPr>
        <p:txBody>
          <a:bodyPr wrap="square" anchor="ctr"/>
          <a:lstStyle/>
          <a:p>
            <a:pPr algn="c"/>
            <a:r>
              <a:rPr sz="1200" b="1">
                <a:solidFill>
                  <a:srgbClr val="FF7200"/>
                </a:solidFill>
                <a:latin typeface="DM Sans"/>
              </a:rPr>
              <a:t>→</a:t>
            </a:r>
          </a:p>
        </p:txBody>
      </p:sp>
      <p:sp>
        <p:nvSpPr>
          <p:cNvPr id="38" name="StepBox5"/>
          <p:cNvSpPr/>
          <p:nvPr/>
        </p:nvSpPr>
        <p:spPr>
          <a:xfrm>
            <a:off x="9569476" y="2800000"/>
            <a:ext cx="2050000" cy="1480000"/>
          </a:xfrm>
          <a:prstGeom prst="roundRect">
            <a:avLst>
              <a:gd name="adj" fmla="val 20000"/>
            </a:avLst>
          </a:prstGeom>
          <a:solidFill>
            <a:srgbClr val="FF7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epNum5"/>
          <p:cNvSpPr txBox="1"/>
          <p:nvPr/>
        </p:nvSpPr>
        <p:spPr>
          <a:xfrm>
            <a:off x="9569476" y="2870000"/>
            <a:ext cx="2050000" cy="200000"/>
          </a:xfrm>
          <a:prstGeom prst="rect">
            <a:avLst/>
          </a:prstGeom>
          <a:noFill/>
        </p:spPr>
        <p:txBody>
          <a:bodyPr wrap="square" anchor="t"/>
          <a:lstStyle/>
          <a:p>
            <a:pPr algn="c"/>
            <a:r>
              <a:rPr sz="900" b="1">
                <a:solidFill>
                  <a:srgbClr val="FFFFFF"/>
                </a:solidFill>
                <a:latin typeface="DM Sans"/>
              </a:rPr>
              <a:t>05</a:t>
            </a:r>
          </a:p>
        </p:txBody>
      </p:sp>
      <p:sp>
        <p:nvSpPr>
          <p:cNvPr id="40" name="StepLabel5"/>
          <p:cNvSpPr txBox="1"/>
          <p:nvPr/>
        </p:nvSpPr>
        <p:spPr>
          <a:xfrm>
            <a:off x="9649476" y="3090000"/>
            <a:ext cx="1890000" cy="300000"/>
          </a:xfrm>
          <a:prstGeom prst="rect">
            <a:avLst/>
          </a:prstGeom>
          <a:noFill/>
        </p:spPr>
        <p:txBody>
          <a:bodyPr wrap="square" anchor="ctr"/>
          <a:lstStyle/>
          <a:p>
            <a:pPr algn="c"/>
            <a:r>
              <a:rPr sz="1050" b="1">
                <a:solidFill>
                  <a:srgbClr val="FFFFFF"/>
                </a:solidFill>
                <a:latin typeface="DM Sans"/>
              </a:rPr>
              <a:t>Access Restricted</a:t>
            </a:r>
          </a:p>
        </p:txBody>
      </p:sp>
      <p:sp>
        <p:nvSpPr>
          <p:cNvPr id="41" name="StepDesc5"/>
          <p:cNvSpPr txBox="1"/>
          <p:nvPr/>
        </p:nvSpPr>
        <p:spPr>
          <a:xfrm>
            <a:off x="9649476" y="3440000"/>
            <a:ext cx="1890000" cy="760000"/>
          </a:xfrm>
          <a:prstGeom prst="rect">
            <a:avLst/>
          </a:prstGeom>
          <a:noFill/>
        </p:spPr>
        <p:txBody>
          <a:bodyPr wrap="square" anchor="t"/>
          <a:lstStyle/>
          <a:p>
            <a:pPr algn="c"/>
            <a:r>
              <a:rPr sz="920" b="0">
                <a:solidFill>
                  <a:srgbClr val="FFFFFF"/>
                </a:solidFill>
                <a:latin typeface="DM Sans"/>
              </a:rPr>
              <a:t>Finance, clearance and full network access blocked until verified.</a:t>
            </a:r>
          </a:p>
        </p:txBody>
      </p:sp>
      <p:sp>
        <p:nvSpPr>
          <p:cNvPr id="42" name="OutcomeBg"/>
          <p:cNvSpPr/>
          <p:nvPr/>
        </p:nvSpPr>
        <p:spPr>
          <a:xfrm>
            <a:off x="411480" y="4450000"/>
            <a:ext cx="11365992" cy="300000"/>
          </a:xfrm>
          <a:prstGeom prst="rect">
            <a:avLst/>
          </a:prstGeom>
          <a:solidFill>
            <a:srgbClr val="0C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utcomeArrow"/>
          <p:cNvSpPr txBox="1"/>
          <p:nvPr/>
        </p:nvSpPr>
        <p:spPr>
          <a:xfrm>
            <a:off x="576072" y="4490000"/>
            <a:ext cx="300000" cy="220000"/>
          </a:xfrm>
          <a:prstGeom prst="rect">
            <a:avLst/>
          </a:prstGeom>
          <a:noFill/>
        </p:spPr>
        <p:txBody>
          <a:bodyPr wrap="square" anchor="ctr"/>
          <a:lstStyle/>
          <a:p>
            <a:pPr algn="c"/>
            <a:r>
              <a:rPr sz="1100" b="1">
                <a:solidFill>
                  <a:srgbClr val="FF7200"/>
                </a:solidFill>
                <a:latin typeface="DM Sans"/>
              </a:rPr>
              <a:t>→</a:t>
            </a:r>
          </a:p>
        </p:txBody>
      </p:sp>
      <p:sp>
        <p:nvSpPr>
          <p:cNvPr id="44" name="OutcomeText"/>
          <p:cNvSpPr txBox="1"/>
          <p:nvPr/>
        </p:nvSpPr>
        <p:spPr>
          <a:xfrm>
            <a:off x="950000" y="4490000"/>
            <a:ext cx="10700000" cy="220000"/>
          </a:xfrm>
          <a:prstGeom prst="rect">
            <a:avLst/>
          </a:prstGeom>
          <a:noFill/>
        </p:spPr>
        <p:txBody>
          <a:bodyPr wrap="square" anchor="ctr"/>
          <a:lstStyle/>
          <a:p>
            <a:pPr algn="l"/>
            <a:r>
              <a:rPr sz="1000" b="0">
                <a:solidFill>
                  <a:srgbClr val="B0BDCC"/>
                </a:solidFill>
                <a:latin typeface="DM Sans"/>
              </a:rPr>
              <a:t>Outcome: Demonstrates the value of identity — unverified orgs face friction until they formalise on the network.</a:t>
            </a:r>
          </a:p>
        </p:txBody>
      </p:sp>
      <p:sp>
        <p:nvSpPr>
          <p:cNvPr id="45" name="FooterBg"/>
          <p:cNvSpPr/>
          <p:nvPr/>
        </p:nvSpPr>
        <p:spPr>
          <a:xfrm>
            <a:off x="411480" y="5742432"/>
            <a:ext cx="11365992" cy="7132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ooterArrow"/>
          <p:cNvSpPr txBox="1"/>
          <p:nvPr/>
        </p:nvSpPr>
        <p:spPr>
          <a:xfrm>
            <a:off x="576072" y="5797296"/>
            <a:ext cx="274320" cy="603504"/>
          </a:xfrm>
          <a:prstGeom prst="rect">
            <a:avLst/>
          </a:prstGeom>
          <a:noFill/>
        </p:spPr>
        <p:txBody>
          <a:bodyPr wrap="square" anchor="ctr"/>
          <a:lstStyle/>
          <a:p>
            <a:pPr algn="l"/>
            <a:r>
              <a:rPr sz="1300" b="1">
                <a:solidFill>
                  <a:srgbClr val="FF7200"/>
                </a:solidFill>
                <a:latin typeface="DM Sans"/>
              </a:rPr>
              <a:t>→</a:t>
            </a:r>
          </a:p>
        </p:txBody>
      </p:sp>
      <p:sp>
        <p:nvSpPr>
          <p:cNvPr id="47" name="FooterText"/>
          <p:cNvSpPr txBox="1"/>
          <p:nvPr/>
        </p:nvSpPr>
        <p:spPr>
          <a:xfrm>
            <a:off x="914400" y="5797296"/>
            <a:ext cx="10771632" cy="603504"/>
          </a:xfrm>
          <a:prstGeom prst="rect">
            <a:avLst/>
          </a:prstGeom>
          <a:noFill/>
        </p:spPr>
        <p:txBody>
          <a:bodyPr wrap="square" anchor="ctr"/>
          <a:lstStyle/>
          <a:p>
            <a:pPr algn="l"/>
            <a:r>
              <a:rPr sz="1000" b="0">
                <a:solidFill>
                  <a:srgbClr val="B0BDCC"/>
                </a:solidFill>
                <a:latin typeface="DM Sans"/>
              </a:rPr>
              <a:t>This journey shows why identity matters: verified organisations unlock trade finance, faster customs clearance and full counterparty trust.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224E"/>
        </a:solidFill>
        <a:effectLst/>
      </p:bgPr>
    </p:bg>
    <p:spTree>
      <p:nvGrpSpPr>
        <p:cNvPr id="1" name=""/>
        <p:cNvGrpSpPr/>
        <p:nvPr/>
      </p:nvGrpSpPr>
      <p:grpSpPr/>
      <p:sp>
        <p:nvSpPr>
          <p:cNvPr id="2" name="LogoBg"/>
          <p:cNvSpPr/>
          <p:nvPr/>
        </p:nvSpPr>
        <p:spPr>
          <a:xfrm>
            <a:off x="411480" y="246888"/>
            <a:ext cx="384048" cy="384048"/>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ogoEmoji"/>
          <p:cNvSpPr txBox="1"/>
          <p:nvPr/>
        </p:nvSpPr>
        <p:spPr>
          <a:xfrm>
            <a:off x="411480" y="246888"/>
            <a:ext cx="384048" cy="384048"/>
          </a:xfrm>
          <a:prstGeom prst="rect">
            <a:avLst/>
          </a:prstGeom>
          <a:noFill/>
        </p:spPr>
        <p:txBody>
          <a:bodyPr wrap="square" anchor="ctr"/>
          <a:lstStyle/>
          <a:p>
            <a:pPr algn="c"/>
            <a:r>
              <a:rPr sz="1400" b="0">
                <a:solidFill>
                  <a:srgbClr val="FFFFFF"/>
                </a:solidFill>
                <a:latin typeface="DM Sans"/>
              </a:rPr>
              <a:t>🌍</a:t>
            </a:r>
          </a:p>
        </p:txBody>
      </p:sp>
      <p:sp>
        <p:nvSpPr>
          <p:cNvPr id="4" name="BrandText"/>
          <p:cNvSpPr txBox="1"/>
          <p:nvPr/>
        </p:nvSpPr>
        <p:spPr>
          <a:xfrm>
            <a:off x="850392" y="256032"/>
            <a:ext cx="1280160" cy="228600"/>
          </a:xfrm>
          <a:prstGeom prst="rect">
            <a:avLst/>
          </a:prstGeom>
          <a:noFill/>
        </p:spPr>
        <p:txBody>
          <a:bodyPr wrap="square" anchor="t"/>
          <a:lstStyle/>
          <a:p>
            <a:pPr algn="l"/>
            <a:r>
              <a:rPr sz="1150" b="1">
                <a:solidFill>
                  <a:srgbClr val="FFFFFF"/>
                </a:solidFill>
                <a:latin typeface="DM Sans"/>
              </a:rPr>
              <a:t>ADAPT</a:t>
            </a:r>
          </a:p>
        </p:txBody>
      </p:sp>
      <p:sp>
        <p:nvSpPr>
          <p:cNvPr id="5" name="PageNum"/>
          <p:cNvSpPr txBox="1"/>
          <p:nvPr/>
        </p:nvSpPr>
        <p:spPr>
          <a:xfrm>
            <a:off x="11064240" y="274320"/>
            <a:ext cx="914400" cy="274320"/>
          </a:xfrm>
          <a:prstGeom prst="rect">
            <a:avLst/>
          </a:prstGeom>
          <a:noFill/>
        </p:spPr>
        <p:txBody>
          <a:bodyPr wrap="none" anchor="t">
            <a:spAutoFit/>
          </a:bodyPr>
          <a:lstStyle/>
          <a:p>
            <a:pPr algn="r"/>
            <a:r>
              <a:rPr sz="1100" b="1">
                <a:solidFill>
                  <a:srgbClr val="FF7200"/>
                </a:solidFill>
                <a:latin typeface="DM Sans"/>
              </a:rPr>
              <a:t>09</a:t>
            </a:r>
            <a:r>
              <a:rPr sz="1100" b="0">
                <a:solidFill>
                  <a:srgbClr val="708299"/>
                </a:solidFill>
                <a:latin typeface="DM Sans"/>
              </a:rPr>
              <a:t xml:space="preserve"> / 12</a:t>
            </a:r>
          </a:p>
        </p:txBody>
      </p:sp>
      <p:sp>
        <p:nvSpPr>
          <p:cNvPr id="6" name="SectionBg"/>
          <p:cNvSpPr/>
          <p:nvPr/>
        </p:nvSpPr>
        <p:spPr>
          <a:xfrm>
            <a:off x="411480" y="804672"/>
            <a:ext cx="2286000" cy="2560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onLabel"/>
          <p:cNvSpPr txBox="1"/>
          <p:nvPr/>
        </p:nvSpPr>
        <p:spPr>
          <a:xfrm>
            <a:off x="484632" y="832104"/>
            <a:ext cx="2286000" cy="219456"/>
          </a:xfrm>
          <a:prstGeom prst="rect">
            <a:avLst/>
          </a:prstGeom>
          <a:noFill/>
        </p:spPr>
        <p:txBody>
          <a:bodyPr wrap="square" anchor="t"/>
          <a:lstStyle/>
          <a:p>
            <a:pPr algn="l"/>
            <a:r>
              <a:rPr sz="950" b="1">
                <a:solidFill>
                  <a:srgbClr val="FF7200"/>
                </a:solidFill>
                <a:latin typeface="DM Sans"/>
              </a:rPr>
              <a:t>● JOURNEY 2 — TRADE FINANCE BANK</a:t>
            </a:r>
          </a:p>
        </p:txBody>
      </p:sp>
      <p:sp>
        <p:nvSpPr>
          <p:cNvPr id="8" name="Title"/>
          <p:cNvSpPr txBox="1"/>
          <p:nvPr/>
        </p:nvSpPr>
        <p:spPr>
          <a:xfrm>
            <a:off x="411480" y="1135000"/>
            <a:ext cx="11338560" cy="440000"/>
          </a:xfrm>
          <a:prstGeom prst="rect">
            <a:avLst/>
          </a:prstGeom>
          <a:noFill/>
        </p:spPr>
        <p:txBody>
          <a:bodyPr wrap="square" anchor="t"/>
          <a:lstStyle/>
          <a:p>
            <a:pPr algn="l"/>
            <a:r>
              <a:rPr sz="2400" b="1">
                <a:solidFill>
                  <a:srgbClr val="FFFFFF"/>
                </a:solidFill>
                <a:latin typeface="DM Sans"/>
              </a:rPr>
              <a:t>Meridian Bank Trade Finance — Financing Partner</a:t>
            </a:r>
          </a:p>
        </p:txBody>
      </p:sp>
      <p:sp>
        <p:nvSpPr>
          <p:cNvPr id="9" name="Subtitle"/>
          <p:cNvSpPr txBox="1"/>
          <p:nvPr/>
        </p:nvSpPr>
        <p:spPr>
          <a:xfrm>
            <a:off x="411480" y="1600000"/>
            <a:ext cx="9000000" cy="240000"/>
          </a:xfrm>
          <a:prstGeom prst="rect">
            <a:avLst/>
          </a:prstGeom>
          <a:noFill/>
        </p:spPr>
        <p:txBody>
          <a:bodyPr wrap="square" anchor="t"/>
          <a:lstStyle/>
          <a:p>
            <a:pPr algn="l"/>
            <a:r>
              <a:rPr sz="1050" b="0">
                <a:solidFill>
                  <a:srgbClr val="B0BDCC"/>
                </a:solidFill>
                <a:latin typeface="DM Sans"/>
              </a:rPr>
              <a:t>Nigeria · Trade Finance · Org on Alpha Node</a:t>
            </a:r>
          </a:p>
        </p:txBody>
      </p:sp>
      <p:sp>
        <p:nvSpPr>
          <p:cNvPr id="10" name="ProblemBg"/>
          <p:cNvSpPr/>
          <p:nvPr/>
        </p:nvSpPr>
        <p:spPr>
          <a:xfrm>
            <a:off x="411480" y="1920000"/>
            <a:ext cx="5609280" cy="700000"/>
          </a:xfrm>
          <a:prstGeom prst="rect">
            <a:avLst/>
          </a:prstGeom>
          <a:solidFill>
            <a:srgbClr val="0D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blemAccent"/>
          <p:cNvSpPr/>
          <p:nvPr/>
        </p:nvSpPr>
        <p:spPr>
          <a:xfrm>
            <a:off x="411480" y="1920000"/>
            <a:ext cx="40000" cy="700000"/>
          </a:xfrm>
          <a:prstGeom prst="rect">
            <a:avLst/>
          </a:prstGeom>
          <a:solidFill>
            <a:srgbClr val="FF7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blemHead"/>
          <p:cNvSpPr txBox="1"/>
          <p:nvPr/>
        </p:nvSpPr>
        <p:spPr>
          <a:xfrm>
            <a:off x="491480" y="1980000"/>
            <a:ext cx="5509280" cy="180000"/>
          </a:xfrm>
          <a:prstGeom prst="rect">
            <a:avLst/>
          </a:prstGeom>
          <a:noFill/>
        </p:spPr>
        <p:txBody>
          <a:bodyPr wrap="square" anchor="t"/>
          <a:lstStyle/>
          <a:p>
            <a:pPr algn="l"/>
            <a:r>
              <a:rPr sz="950" b="1">
                <a:solidFill>
                  <a:srgbClr val="FF7200"/>
                </a:solidFill>
                <a:latin typeface="DM Sans"/>
              </a:rPr>
              <a:t>⚠  THE CHALLENGE</a:t>
            </a:r>
          </a:p>
        </p:txBody>
      </p:sp>
      <p:sp>
        <p:nvSpPr>
          <p:cNvPr id="13" name="ProblemBody"/>
          <p:cNvSpPr txBox="1"/>
          <p:nvPr/>
        </p:nvSpPr>
        <p:spPr>
          <a:xfrm>
            <a:off x="491480" y="2170000"/>
            <a:ext cx="5489280" cy="420000"/>
          </a:xfrm>
          <a:prstGeom prst="rect">
            <a:avLst/>
          </a:prstGeom>
          <a:noFill/>
        </p:spPr>
        <p:txBody>
          <a:bodyPr wrap="square" anchor="t"/>
          <a:lstStyle/>
          <a:p>
            <a:pPr algn="l"/>
            <a:r>
              <a:rPr sz="980" b="0">
                <a:solidFill>
                  <a:srgbClr val="B0BDCC"/>
                </a:solidFill>
                <a:latin typeface="DM Sans"/>
              </a:rPr>
              <a:t>Trade finance banks independently re-verify documents that exporters have already submitted to customs — by email, in PDFs, with no cryptographic guarantee of authenticity. LC conditions are tracked manually, settlement takes days, and fraud risk accumulates at every step of the process.</a:t>
            </a:r>
          </a:p>
        </p:txBody>
      </p:sp>
      <p:sp>
        <p:nvSpPr>
          <p:cNvPr id="14" name="SolutionBg"/>
          <p:cNvSpPr/>
          <p:nvPr/>
        </p:nvSpPr>
        <p:spPr>
          <a:xfrm>
            <a:off x="6140760" y="1920000"/>
            <a:ext cx="5609280" cy="700000"/>
          </a:xfrm>
          <a:prstGeom prst="rect">
            <a:avLst/>
          </a:prstGeom>
          <a:solidFill>
            <a:srgbClr val="0D23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olutionAccent"/>
          <p:cNvSpPr/>
          <p:nvPr/>
        </p:nvSpPr>
        <p:spPr>
          <a:xfrm>
            <a:off x="6140760" y="1920000"/>
            <a:ext cx="40000" cy="700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olutionHead"/>
          <p:cNvSpPr txBox="1"/>
          <p:nvPr/>
        </p:nvSpPr>
        <p:spPr>
          <a:xfrm>
            <a:off x="6220760" y="1980000"/>
            <a:ext cx="5509280" cy="180000"/>
          </a:xfrm>
          <a:prstGeom prst="rect">
            <a:avLst/>
          </a:prstGeom>
          <a:noFill/>
        </p:spPr>
        <p:txBody>
          <a:bodyPr wrap="square" anchor="t"/>
          <a:lstStyle/>
          <a:p>
            <a:pPr algn="l"/>
            <a:r>
              <a:rPr sz="950" b="1">
                <a:solidFill>
                  <a:srgbClr val="2ECC71"/>
                </a:solidFill>
                <a:latin typeface="DM Sans"/>
              </a:rPr>
              <a:t>✓  HOW ADAPT HELPS</a:t>
            </a:r>
          </a:p>
        </p:txBody>
      </p:sp>
      <p:sp>
        <p:nvSpPr>
          <p:cNvPr id="17" name="SolutionBody"/>
          <p:cNvSpPr txBox="1"/>
          <p:nvPr/>
        </p:nvSpPr>
        <p:spPr>
          <a:xfrm>
            <a:off x="6220760" y="2170000"/>
            <a:ext cx="5489280" cy="420000"/>
          </a:xfrm>
          <a:prstGeom prst="rect">
            <a:avLst/>
          </a:prstGeom>
          <a:noFill/>
        </p:spPr>
        <p:txBody>
          <a:bodyPr wrap="square" anchor="t"/>
          <a:lstStyle/>
          <a:p>
            <a:pPr algn="l"/>
            <a:r>
              <a:rPr sz="980" b="0">
                <a:solidFill>
                  <a:srgbClr val="B0BDCC"/>
                </a:solidFill>
                <a:latin typeface="DM Sans"/>
              </a:rPr>
              <a:t>ADAPT gives Meridian Bank permissioned access to verified, ledger-anchored consignment records directly from the exporter. Smart contracts encode LC conditions and trigger automated settlement when criteria are met — eliminating manual reconciliation, reducing fraud exposure, and compressing the settlement cycle from days to minutes.</a:t>
            </a:r>
          </a:p>
        </p:txBody>
      </p:sp>
      <p:sp>
        <p:nvSpPr>
          <p:cNvPr id="18" name="StepBox1"/>
          <p:cNvSpPr/>
          <p:nvPr/>
        </p:nvSpPr>
        <p:spPr>
          <a:xfrm>
            <a:off x="69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epNum1"/>
          <p:cNvSpPr txBox="1"/>
          <p:nvPr/>
        </p:nvSpPr>
        <p:spPr>
          <a:xfrm>
            <a:off x="694476" y="2870000"/>
            <a:ext cx="1650000" cy="200000"/>
          </a:xfrm>
          <a:prstGeom prst="rect">
            <a:avLst/>
          </a:prstGeom>
          <a:noFill/>
        </p:spPr>
        <p:txBody>
          <a:bodyPr wrap="square" anchor="t"/>
          <a:lstStyle/>
          <a:p>
            <a:pPr algn="c"/>
            <a:r>
              <a:rPr sz="900" b="1">
                <a:solidFill>
                  <a:srgbClr val="FF7200"/>
                </a:solidFill>
                <a:latin typeface="DM Sans"/>
              </a:rPr>
              <a:t>01</a:t>
            </a:r>
          </a:p>
        </p:txBody>
      </p:sp>
      <p:sp>
        <p:nvSpPr>
          <p:cNvPr id="20" name="StepLabel1"/>
          <p:cNvSpPr txBox="1"/>
          <p:nvPr/>
        </p:nvSpPr>
        <p:spPr>
          <a:xfrm>
            <a:off x="754476" y="3090000"/>
            <a:ext cx="1530000" cy="300000"/>
          </a:xfrm>
          <a:prstGeom prst="rect">
            <a:avLst/>
          </a:prstGeom>
          <a:noFill/>
        </p:spPr>
        <p:txBody>
          <a:bodyPr wrap="square" anchor="ctr"/>
          <a:lstStyle/>
          <a:p>
            <a:pPr algn="c"/>
            <a:r>
              <a:rPr sz="1000" b="1">
                <a:solidFill>
                  <a:srgbClr val="FFFFFF"/>
                </a:solidFill>
                <a:latin typeface="DM Sans"/>
              </a:rPr>
              <a:t>Receive Access Share</a:t>
            </a:r>
          </a:p>
        </p:txBody>
      </p:sp>
      <p:sp>
        <p:nvSpPr>
          <p:cNvPr id="21" name="StepDesc1"/>
          <p:cNvSpPr txBox="1"/>
          <p:nvPr/>
        </p:nvSpPr>
        <p:spPr>
          <a:xfrm>
            <a:off x="754476" y="3440000"/>
            <a:ext cx="1530000" cy="760000"/>
          </a:xfrm>
          <a:prstGeom prst="rect">
            <a:avLst/>
          </a:prstGeom>
          <a:noFill/>
        </p:spPr>
        <p:txBody>
          <a:bodyPr wrap="square" anchor="t"/>
          <a:lstStyle/>
          <a:p>
            <a:pPr algn="c"/>
            <a:r>
              <a:rPr sz="880" b="0">
                <a:solidFill>
                  <a:srgbClr val="B0BDCC"/>
                </a:solidFill>
                <a:latin typeface="DM Sans"/>
              </a:rPr>
              <a:t>Exporter grants Meridian Bank access to consignment.</a:t>
            </a:r>
          </a:p>
        </p:txBody>
      </p:sp>
      <p:sp>
        <p:nvSpPr>
          <p:cNvPr id="22" name="Arrow1"/>
          <p:cNvSpPr txBox="1"/>
          <p:nvPr/>
        </p:nvSpPr>
        <p:spPr>
          <a:xfrm>
            <a:off x="235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23" name="StepBox2"/>
          <p:cNvSpPr/>
          <p:nvPr/>
        </p:nvSpPr>
        <p:spPr>
          <a:xfrm>
            <a:off x="252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tepNum2"/>
          <p:cNvSpPr txBox="1"/>
          <p:nvPr/>
        </p:nvSpPr>
        <p:spPr>
          <a:xfrm>
            <a:off x="2524476" y="2870000"/>
            <a:ext cx="1650000" cy="200000"/>
          </a:xfrm>
          <a:prstGeom prst="rect">
            <a:avLst/>
          </a:prstGeom>
          <a:noFill/>
        </p:spPr>
        <p:txBody>
          <a:bodyPr wrap="square" anchor="t"/>
          <a:lstStyle/>
          <a:p>
            <a:pPr algn="c"/>
            <a:r>
              <a:rPr sz="900" b="1">
                <a:solidFill>
                  <a:srgbClr val="FF7200"/>
                </a:solidFill>
                <a:latin typeface="DM Sans"/>
              </a:rPr>
              <a:t>02</a:t>
            </a:r>
          </a:p>
        </p:txBody>
      </p:sp>
      <p:sp>
        <p:nvSpPr>
          <p:cNvPr id="25" name="StepLabel2"/>
          <p:cNvSpPr txBox="1"/>
          <p:nvPr/>
        </p:nvSpPr>
        <p:spPr>
          <a:xfrm>
            <a:off x="2584476" y="3090000"/>
            <a:ext cx="1530000" cy="300000"/>
          </a:xfrm>
          <a:prstGeom prst="rect">
            <a:avLst/>
          </a:prstGeom>
          <a:noFill/>
        </p:spPr>
        <p:txBody>
          <a:bodyPr wrap="square" anchor="ctr"/>
          <a:lstStyle/>
          <a:p>
            <a:pPr algn="c"/>
            <a:r>
              <a:rPr sz="1000" b="1">
                <a:solidFill>
                  <a:srgbClr val="FFFFFF"/>
                </a:solidFill>
                <a:latin typeface="DM Sans"/>
              </a:rPr>
              <a:t>View Consignment</a:t>
            </a:r>
          </a:p>
        </p:txBody>
      </p:sp>
      <p:sp>
        <p:nvSpPr>
          <p:cNvPr id="26" name="StepDesc2"/>
          <p:cNvSpPr txBox="1"/>
          <p:nvPr/>
        </p:nvSpPr>
        <p:spPr>
          <a:xfrm>
            <a:off x="2584476" y="3440000"/>
            <a:ext cx="1530000" cy="760000"/>
          </a:xfrm>
          <a:prstGeom prst="rect">
            <a:avLst/>
          </a:prstGeom>
          <a:noFill/>
        </p:spPr>
        <p:txBody>
          <a:bodyPr wrap="square" anchor="t"/>
          <a:lstStyle/>
          <a:p>
            <a:pPr algn="c"/>
            <a:r>
              <a:rPr sz="880" b="0">
                <a:solidFill>
                  <a:srgbClr val="B0BDCC"/>
                </a:solidFill>
                <a:latin typeface="DM Sans"/>
              </a:rPr>
              <a:t>Bank reviews shipment, counterparties and document set.</a:t>
            </a:r>
          </a:p>
        </p:txBody>
      </p:sp>
      <p:sp>
        <p:nvSpPr>
          <p:cNvPr id="27" name="Arrow2"/>
          <p:cNvSpPr txBox="1"/>
          <p:nvPr/>
        </p:nvSpPr>
        <p:spPr>
          <a:xfrm>
            <a:off x="418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28" name="StepBox3"/>
          <p:cNvSpPr/>
          <p:nvPr/>
        </p:nvSpPr>
        <p:spPr>
          <a:xfrm>
            <a:off x="435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epNum3"/>
          <p:cNvSpPr txBox="1"/>
          <p:nvPr/>
        </p:nvSpPr>
        <p:spPr>
          <a:xfrm>
            <a:off x="4354476" y="2870000"/>
            <a:ext cx="1650000" cy="200000"/>
          </a:xfrm>
          <a:prstGeom prst="rect">
            <a:avLst/>
          </a:prstGeom>
          <a:noFill/>
        </p:spPr>
        <p:txBody>
          <a:bodyPr wrap="square" anchor="t"/>
          <a:lstStyle/>
          <a:p>
            <a:pPr algn="c"/>
            <a:r>
              <a:rPr sz="900" b="1">
                <a:solidFill>
                  <a:srgbClr val="FF7200"/>
                </a:solidFill>
                <a:latin typeface="DM Sans"/>
              </a:rPr>
              <a:t>03</a:t>
            </a:r>
          </a:p>
        </p:txBody>
      </p:sp>
      <p:sp>
        <p:nvSpPr>
          <p:cNvPr id="30" name="StepLabel3"/>
          <p:cNvSpPr txBox="1"/>
          <p:nvPr/>
        </p:nvSpPr>
        <p:spPr>
          <a:xfrm>
            <a:off x="4414476" y="3090000"/>
            <a:ext cx="1530000" cy="300000"/>
          </a:xfrm>
          <a:prstGeom prst="rect">
            <a:avLst/>
          </a:prstGeom>
          <a:noFill/>
        </p:spPr>
        <p:txBody>
          <a:bodyPr wrap="square" anchor="ctr"/>
          <a:lstStyle/>
          <a:p>
            <a:pPr algn="c"/>
            <a:r>
              <a:rPr sz="1000" b="1">
                <a:solidFill>
                  <a:srgbClr val="FFFFFF"/>
                </a:solidFill>
                <a:latin typeface="DM Sans"/>
              </a:rPr>
              <a:t>Issue Letter of Credit</a:t>
            </a:r>
          </a:p>
        </p:txBody>
      </p:sp>
      <p:sp>
        <p:nvSpPr>
          <p:cNvPr id="31" name="StepDesc3"/>
          <p:cNvSpPr txBox="1"/>
          <p:nvPr/>
        </p:nvSpPr>
        <p:spPr>
          <a:xfrm>
            <a:off x="4414476" y="3440000"/>
            <a:ext cx="1530000" cy="760000"/>
          </a:xfrm>
          <a:prstGeom prst="rect">
            <a:avLst/>
          </a:prstGeom>
          <a:noFill/>
        </p:spPr>
        <p:txBody>
          <a:bodyPr wrap="square" anchor="t"/>
          <a:lstStyle/>
          <a:p>
            <a:pPr algn="c"/>
            <a:r>
              <a:rPr sz="880" b="0">
                <a:solidFill>
                  <a:srgbClr val="B0BDCC"/>
                </a:solidFill>
                <a:latin typeface="DM Sans"/>
              </a:rPr>
              <a:t>LC created — Draft → Issued → Confirmed on the ledger.</a:t>
            </a:r>
          </a:p>
        </p:txBody>
      </p:sp>
      <p:sp>
        <p:nvSpPr>
          <p:cNvPr id="32" name="Arrow3"/>
          <p:cNvSpPr txBox="1"/>
          <p:nvPr/>
        </p:nvSpPr>
        <p:spPr>
          <a:xfrm>
            <a:off x="601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33" name="StepBox4"/>
          <p:cNvSpPr/>
          <p:nvPr/>
        </p:nvSpPr>
        <p:spPr>
          <a:xfrm>
            <a:off x="618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epNum4"/>
          <p:cNvSpPr txBox="1"/>
          <p:nvPr/>
        </p:nvSpPr>
        <p:spPr>
          <a:xfrm>
            <a:off x="6184476" y="2870000"/>
            <a:ext cx="1650000" cy="200000"/>
          </a:xfrm>
          <a:prstGeom prst="rect">
            <a:avLst/>
          </a:prstGeom>
          <a:noFill/>
        </p:spPr>
        <p:txBody>
          <a:bodyPr wrap="square" anchor="t"/>
          <a:lstStyle/>
          <a:p>
            <a:pPr algn="c"/>
            <a:r>
              <a:rPr sz="900" b="1">
                <a:solidFill>
                  <a:srgbClr val="FF7200"/>
                </a:solidFill>
                <a:latin typeface="DM Sans"/>
              </a:rPr>
              <a:t>04</a:t>
            </a:r>
          </a:p>
        </p:txBody>
      </p:sp>
      <p:sp>
        <p:nvSpPr>
          <p:cNvPr id="35" name="StepLabel4"/>
          <p:cNvSpPr txBox="1"/>
          <p:nvPr/>
        </p:nvSpPr>
        <p:spPr>
          <a:xfrm>
            <a:off x="6244476" y="3090000"/>
            <a:ext cx="1530000" cy="300000"/>
          </a:xfrm>
          <a:prstGeom prst="rect">
            <a:avLst/>
          </a:prstGeom>
          <a:noFill/>
        </p:spPr>
        <p:txBody>
          <a:bodyPr wrap="square" anchor="ctr"/>
          <a:lstStyle/>
          <a:p>
            <a:pPr algn="c"/>
            <a:r>
              <a:rPr sz="1000" b="1">
                <a:solidFill>
                  <a:srgbClr val="FFFFFF"/>
                </a:solidFill>
                <a:latin typeface="DM Sans"/>
              </a:rPr>
              <a:t>Monitor LC Lifecycle</a:t>
            </a:r>
          </a:p>
        </p:txBody>
      </p:sp>
      <p:sp>
        <p:nvSpPr>
          <p:cNvPr id="36" name="StepDesc4"/>
          <p:cNvSpPr txBox="1"/>
          <p:nvPr/>
        </p:nvSpPr>
        <p:spPr>
          <a:xfrm>
            <a:off x="6244476" y="3440000"/>
            <a:ext cx="1530000" cy="760000"/>
          </a:xfrm>
          <a:prstGeom prst="rect">
            <a:avLst/>
          </a:prstGeom>
          <a:noFill/>
        </p:spPr>
        <p:txBody>
          <a:bodyPr wrap="square" anchor="t"/>
          <a:lstStyle/>
          <a:p>
            <a:pPr algn="c"/>
            <a:r>
              <a:rPr sz="880" b="0">
                <a:solidFill>
                  <a:srgbClr val="B0BDCC"/>
                </a:solidFill>
                <a:latin typeface="DM Sans"/>
              </a:rPr>
              <a:t>Bank tracks LC status in real time. All changes on-chain.</a:t>
            </a:r>
          </a:p>
        </p:txBody>
      </p:sp>
      <p:sp>
        <p:nvSpPr>
          <p:cNvPr id="37" name="Arrow4"/>
          <p:cNvSpPr txBox="1"/>
          <p:nvPr/>
        </p:nvSpPr>
        <p:spPr>
          <a:xfrm>
            <a:off x="784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38" name="StepBox5"/>
          <p:cNvSpPr/>
          <p:nvPr/>
        </p:nvSpPr>
        <p:spPr>
          <a:xfrm>
            <a:off x="8014476" y="2800000"/>
            <a:ext cx="1650000" cy="1480000"/>
          </a:xfrm>
          <a:prstGeom prst="roundRect">
            <a:avLst>
              <a:gd name="adj" fmla="val 20000"/>
            </a:avLst>
          </a:prstGeom>
          <a:solidFill>
            <a:srgbClr val="FF7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epNum5"/>
          <p:cNvSpPr txBox="1"/>
          <p:nvPr/>
        </p:nvSpPr>
        <p:spPr>
          <a:xfrm>
            <a:off x="8014476" y="2870000"/>
            <a:ext cx="1650000" cy="200000"/>
          </a:xfrm>
          <a:prstGeom prst="rect">
            <a:avLst/>
          </a:prstGeom>
          <a:noFill/>
        </p:spPr>
        <p:txBody>
          <a:bodyPr wrap="square" anchor="t"/>
          <a:lstStyle/>
          <a:p>
            <a:pPr algn="c"/>
            <a:r>
              <a:rPr sz="900" b="1">
                <a:solidFill>
                  <a:srgbClr val="FFFFFF"/>
                </a:solidFill>
                <a:latin typeface="DM Sans"/>
              </a:rPr>
              <a:t>05</a:t>
            </a:r>
          </a:p>
        </p:txBody>
      </p:sp>
      <p:sp>
        <p:nvSpPr>
          <p:cNvPr id="40" name="StepLabel5"/>
          <p:cNvSpPr txBox="1"/>
          <p:nvPr/>
        </p:nvSpPr>
        <p:spPr>
          <a:xfrm>
            <a:off x="8074476" y="3090000"/>
            <a:ext cx="1530000" cy="300000"/>
          </a:xfrm>
          <a:prstGeom prst="rect">
            <a:avLst/>
          </a:prstGeom>
          <a:noFill/>
        </p:spPr>
        <p:txBody>
          <a:bodyPr wrap="square" anchor="ctr"/>
          <a:lstStyle/>
          <a:p>
            <a:pPr algn="c"/>
            <a:r>
              <a:rPr sz="1000" b="1">
                <a:solidFill>
                  <a:srgbClr val="FFFFFF"/>
                </a:solidFill>
                <a:latin typeface="DM Sans"/>
              </a:rPr>
              <a:t>Conditions Verified</a:t>
            </a:r>
          </a:p>
        </p:txBody>
      </p:sp>
      <p:sp>
        <p:nvSpPr>
          <p:cNvPr id="41" name="StepDesc5"/>
          <p:cNvSpPr txBox="1"/>
          <p:nvPr/>
        </p:nvSpPr>
        <p:spPr>
          <a:xfrm>
            <a:off x="8074476" y="3440000"/>
            <a:ext cx="1530000" cy="760000"/>
          </a:xfrm>
          <a:prstGeom prst="rect">
            <a:avLst/>
          </a:prstGeom>
          <a:noFill/>
        </p:spPr>
        <p:txBody>
          <a:bodyPr wrap="square" anchor="t"/>
          <a:lstStyle/>
          <a:p>
            <a:pPr algn="c"/>
            <a:r>
              <a:rPr sz="880" b="0">
                <a:solidFill>
                  <a:srgbClr val="FFFFFF"/>
                </a:solidFill>
                <a:latin typeface="DM Sans"/>
              </a:rPr>
              <a:t>Smart contract confirms all LC conditions are met.</a:t>
            </a:r>
          </a:p>
        </p:txBody>
      </p:sp>
      <p:sp>
        <p:nvSpPr>
          <p:cNvPr id="42" name="Arrow5"/>
          <p:cNvSpPr txBox="1"/>
          <p:nvPr/>
        </p:nvSpPr>
        <p:spPr>
          <a:xfrm>
            <a:off x="967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43" name="StepBox6"/>
          <p:cNvSpPr/>
          <p:nvPr/>
        </p:nvSpPr>
        <p:spPr>
          <a:xfrm>
            <a:off x="984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tepNum6"/>
          <p:cNvSpPr txBox="1"/>
          <p:nvPr/>
        </p:nvSpPr>
        <p:spPr>
          <a:xfrm>
            <a:off x="9844476" y="2870000"/>
            <a:ext cx="1650000" cy="200000"/>
          </a:xfrm>
          <a:prstGeom prst="rect">
            <a:avLst/>
          </a:prstGeom>
          <a:noFill/>
        </p:spPr>
        <p:txBody>
          <a:bodyPr wrap="square" anchor="t"/>
          <a:lstStyle/>
          <a:p>
            <a:pPr algn="c"/>
            <a:r>
              <a:rPr sz="900" b="1">
                <a:solidFill>
                  <a:srgbClr val="FF7200"/>
                </a:solidFill>
                <a:latin typeface="DM Sans"/>
              </a:rPr>
              <a:t>06</a:t>
            </a:r>
          </a:p>
        </p:txBody>
      </p:sp>
      <p:sp>
        <p:nvSpPr>
          <p:cNvPr id="45" name="StepLabel6"/>
          <p:cNvSpPr txBox="1"/>
          <p:nvPr/>
        </p:nvSpPr>
        <p:spPr>
          <a:xfrm>
            <a:off x="9904476" y="3090000"/>
            <a:ext cx="1530000" cy="300000"/>
          </a:xfrm>
          <a:prstGeom prst="rect">
            <a:avLst/>
          </a:prstGeom>
          <a:noFill/>
        </p:spPr>
        <p:txBody>
          <a:bodyPr wrap="square" anchor="ctr"/>
          <a:lstStyle/>
          <a:p>
            <a:pPr algn="c"/>
            <a:r>
              <a:rPr sz="1000" b="1">
                <a:solidFill>
                  <a:srgbClr val="FFFFFF"/>
                </a:solidFill>
                <a:latin typeface="DM Sans"/>
              </a:rPr>
              <a:t>Funds Released</a:t>
            </a:r>
          </a:p>
        </p:txBody>
      </p:sp>
      <p:sp>
        <p:nvSpPr>
          <p:cNvPr id="46" name="StepDesc6"/>
          <p:cNvSpPr txBox="1"/>
          <p:nvPr/>
        </p:nvSpPr>
        <p:spPr>
          <a:xfrm>
            <a:off x="9904476" y="3440000"/>
            <a:ext cx="1530000" cy="760000"/>
          </a:xfrm>
          <a:prstGeom prst="rect">
            <a:avLst/>
          </a:prstGeom>
          <a:noFill/>
        </p:spPr>
        <p:txBody>
          <a:bodyPr wrap="square" anchor="t"/>
          <a:lstStyle/>
          <a:p>
            <a:pPr algn="c"/>
            <a:r>
              <a:rPr sz="880" b="0">
                <a:solidFill>
                  <a:srgbClr val="B0BDCC"/>
                </a:solidFill>
                <a:latin typeface="DM Sans"/>
              </a:rPr>
              <a:t>Settlement triggered automatically. Payment anchored.</a:t>
            </a:r>
          </a:p>
        </p:txBody>
      </p:sp>
      <p:sp>
        <p:nvSpPr>
          <p:cNvPr id="47" name="OutcomeBg"/>
          <p:cNvSpPr/>
          <p:nvPr/>
        </p:nvSpPr>
        <p:spPr>
          <a:xfrm>
            <a:off x="411480" y="4450000"/>
            <a:ext cx="11365992" cy="300000"/>
          </a:xfrm>
          <a:prstGeom prst="rect">
            <a:avLst/>
          </a:prstGeom>
          <a:solidFill>
            <a:srgbClr val="0C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utcomeArrow"/>
          <p:cNvSpPr txBox="1"/>
          <p:nvPr/>
        </p:nvSpPr>
        <p:spPr>
          <a:xfrm>
            <a:off x="576072" y="4490000"/>
            <a:ext cx="300000" cy="220000"/>
          </a:xfrm>
          <a:prstGeom prst="rect">
            <a:avLst/>
          </a:prstGeom>
          <a:noFill/>
        </p:spPr>
        <p:txBody>
          <a:bodyPr wrap="square" anchor="ctr"/>
          <a:lstStyle/>
          <a:p>
            <a:pPr algn="c"/>
            <a:r>
              <a:rPr sz="1100" b="1">
                <a:solidFill>
                  <a:srgbClr val="FF7200"/>
                </a:solidFill>
                <a:latin typeface="DM Sans"/>
              </a:rPr>
              <a:t>→</a:t>
            </a:r>
          </a:p>
        </p:txBody>
      </p:sp>
      <p:sp>
        <p:nvSpPr>
          <p:cNvPr id="49" name="OutcomeText"/>
          <p:cNvSpPr txBox="1"/>
          <p:nvPr/>
        </p:nvSpPr>
        <p:spPr>
          <a:xfrm>
            <a:off x="950000" y="4490000"/>
            <a:ext cx="10700000" cy="220000"/>
          </a:xfrm>
          <a:prstGeom prst="rect">
            <a:avLst/>
          </a:prstGeom>
          <a:noFill/>
        </p:spPr>
        <p:txBody>
          <a:bodyPr wrap="square" anchor="ctr"/>
          <a:lstStyle/>
          <a:p>
            <a:pPr algn="l"/>
            <a:r>
              <a:rPr sz="1000" b="0">
                <a:solidFill>
                  <a:srgbClr val="B0BDCC"/>
                </a:solidFill>
                <a:latin typeface="DM Sans"/>
              </a:rPr>
              <a:t>Outcome: Bank issues and settles trade finance instruments against verified, tamper-proof consignment records.</a:t>
            </a:r>
          </a:p>
        </p:txBody>
      </p:sp>
      <p:sp>
        <p:nvSpPr>
          <p:cNvPr id="50" name="FooterBg"/>
          <p:cNvSpPr/>
          <p:nvPr/>
        </p:nvSpPr>
        <p:spPr>
          <a:xfrm>
            <a:off x="411480" y="5742432"/>
            <a:ext cx="11365992" cy="7132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ooterArrow"/>
          <p:cNvSpPr txBox="1"/>
          <p:nvPr/>
        </p:nvSpPr>
        <p:spPr>
          <a:xfrm>
            <a:off x="576072" y="5797296"/>
            <a:ext cx="274320" cy="603504"/>
          </a:xfrm>
          <a:prstGeom prst="rect">
            <a:avLst/>
          </a:prstGeom>
          <a:noFill/>
        </p:spPr>
        <p:txBody>
          <a:bodyPr wrap="square" anchor="ctr"/>
          <a:lstStyle/>
          <a:p>
            <a:pPr algn="l"/>
            <a:r>
              <a:rPr sz="1300" b="1">
                <a:solidFill>
                  <a:srgbClr val="FF7200"/>
                </a:solidFill>
                <a:latin typeface="DM Sans"/>
              </a:rPr>
              <a:t>→</a:t>
            </a:r>
          </a:p>
        </p:txBody>
      </p:sp>
      <p:sp>
        <p:nvSpPr>
          <p:cNvPr id="52" name="FooterText"/>
          <p:cNvSpPr txBox="1"/>
          <p:nvPr/>
        </p:nvSpPr>
        <p:spPr>
          <a:xfrm>
            <a:off x="914400" y="5797296"/>
            <a:ext cx="10771632" cy="603504"/>
          </a:xfrm>
          <a:prstGeom prst="rect">
            <a:avLst/>
          </a:prstGeom>
          <a:noFill/>
        </p:spPr>
        <p:txBody>
          <a:bodyPr wrap="square" anchor="ctr"/>
          <a:lstStyle/>
          <a:p>
            <a:pPr algn="l"/>
            <a:r>
              <a:rPr sz="1000" b="0">
                <a:solidFill>
                  <a:srgbClr val="B0BDCC"/>
                </a:solidFill>
                <a:latin typeface="DM Sans"/>
              </a:rPr>
              <a:t>Smart contracts on ADAPT automate condition-based fund release — reducing settlement risk and eliminating manual reconciliation for banks.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224E"/>
        </a:solidFill>
        <a:effectLst/>
      </p:bgPr>
    </p:bg>
    <p:spTree>
      <p:nvGrpSpPr>
        <p:cNvPr id="1" name=""/>
        <p:cNvGrpSpPr/>
        <p:nvPr/>
      </p:nvGrpSpPr>
      <p:grpSpPr/>
      <p:sp>
        <p:nvSpPr>
          <p:cNvPr id="2" name="LogoBg"/>
          <p:cNvSpPr/>
          <p:nvPr/>
        </p:nvSpPr>
        <p:spPr>
          <a:xfrm>
            <a:off x="411480" y="246888"/>
            <a:ext cx="384048" cy="384048"/>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ogoEmoji"/>
          <p:cNvSpPr txBox="1"/>
          <p:nvPr/>
        </p:nvSpPr>
        <p:spPr>
          <a:xfrm>
            <a:off x="411480" y="246888"/>
            <a:ext cx="384048" cy="384048"/>
          </a:xfrm>
          <a:prstGeom prst="rect">
            <a:avLst/>
          </a:prstGeom>
          <a:noFill/>
        </p:spPr>
        <p:txBody>
          <a:bodyPr wrap="square" anchor="ctr"/>
          <a:lstStyle/>
          <a:p>
            <a:pPr algn="c"/>
            <a:r>
              <a:rPr sz="1400" b="0">
                <a:solidFill>
                  <a:srgbClr val="FFFFFF"/>
                </a:solidFill>
                <a:latin typeface="DM Sans"/>
              </a:rPr>
              <a:t>🌍</a:t>
            </a:r>
          </a:p>
        </p:txBody>
      </p:sp>
      <p:sp>
        <p:nvSpPr>
          <p:cNvPr id="4" name="BrandText"/>
          <p:cNvSpPr txBox="1"/>
          <p:nvPr/>
        </p:nvSpPr>
        <p:spPr>
          <a:xfrm>
            <a:off x="850392" y="256032"/>
            <a:ext cx="1280160" cy="228600"/>
          </a:xfrm>
          <a:prstGeom prst="rect">
            <a:avLst/>
          </a:prstGeom>
          <a:noFill/>
        </p:spPr>
        <p:txBody>
          <a:bodyPr wrap="square" anchor="t"/>
          <a:lstStyle/>
          <a:p>
            <a:pPr algn="l"/>
            <a:r>
              <a:rPr sz="1150" b="1">
                <a:solidFill>
                  <a:srgbClr val="FFFFFF"/>
                </a:solidFill>
                <a:latin typeface="DM Sans"/>
              </a:rPr>
              <a:t>ADAPT</a:t>
            </a:r>
          </a:p>
        </p:txBody>
      </p:sp>
      <p:sp>
        <p:nvSpPr>
          <p:cNvPr id="5" name="PageNum"/>
          <p:cNvSpPr txBox="1"/>
          <p:nvPr/>
        </p:nvSpPr>
        <p:spPr>
          <a:xfrm>
            <a:off x="11064240" y="274320"/>
            <a:ext cx="914400" cy="274320"/>
          </a:xfrm>
          <a:prstGeom prst="rect">
            <a:avLst/>
          </a:prstGeom>
          <a:noFill/>
        </p:spPr>
        <p:txBody>
          <a:bodyPr wrap="none" anchor="t">
            <a:spAutoFit/>
          </a:bodyPr>
          <a:lstStyle/>
          <a:p>
            <a:pPr algn="r"/>
            <a:r>
              <a:rPr sz="1100" b="1">
                <a:solidFill>
                  <a:srgbClr val="FF7200"/>
                </a:solidFill>
                <a:latin typeface="DM Sans"/>
              </a:rPr>
              <a:t>10</a:t>
            </a:r>
            <a:r>
              <a:rPr sz="1100" b="0">
                <a:solidFill>
                  <a:srgbClr val="708299"/>
                </a:solidFill>
                <a:latin typeface="DM Sans"/>
              </a:rPr>
              <a:t xml:space="preserve"> / 12</a:t>
            </a:r>
          </a:p>
        </p:txBody>
      </p:sp>
      <p:sp>
        <p:nvSpPr>
          <p:cNvPr id="6" name="SectionBg"/>
          <p:cNvSpPr/>
          <p:nvPr/>
        </p:nvSpPr>
        <p:spPr>
          <a:xfrm>
            <a:off x="411480" y="804672"/>
            <a:ext cx="2286000" cy="2560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onLabel"/>
          <p:cNvSpPr txBox="1"/>
          <p:nvPr/>
        </p:nvSpPr>
        <p:spPr>
          <a:xfrm>
            <a:off x="484632" y="832104"/>
            <a:ext cx="2286000" cy="219456"/>
          </a:xfrm>
          <a:prstGeom prst="rect">
            <a:avLst/>
          </a:prstGeom>
          <a:noFill/>
        </p:spPr>
        <p:txBody>
          <a:bodyPr wrap="square" anchor="t"/>
          <a:lstStyle/>
          <a:p>
            <a:pPr algn="l"/>
            <a:r>
              <a:rPr sz="950" b="1">
                <a:solidFill>
                  <a:srgbClr val="FF7200"/>
                </a:solidFill>
                <a:latin typeface="DM Sans"/>
              </a:rPr>
              <a:t>● JOURNEY 3 — LOGISTICS OPERATOR</a:t>
            </a:r>
          </a:p>
        </p:txBody>
      </p:sp>
      <p:sp>
        <p:nvSpPr>
          <p:cNvPr id="8" name="Title"/>
          <p:cNvSpPr txBox="1"/>
          <p:nvPr/>
        </p:nvSpPr>
        <p:spPr>
          <a:xfrm>
            <a:off x="411480" y="1135000"/>
            <a:ext cx="11338560" cy="440000"/>
          </a:xfrm>
          <a:prstGeom prst="rect">
            <a:avLst/>
          </a:prstGeom>
          <a:noFill/>
        </p:spPr>
        <p:txBody>
          <a:bodyPr wrap="square" anchor="t"/>
          <a:lstStyle/>
          <a:p>
            <a:pPr algn="l"/>
            <a:r>
              <a:rPr sz="2400" b="1">
                <a:solidFill>
                  <a:srgbClr val="FFFFFF"/>
                </a:solidFill>
                <a:latin typeface="DM Sans"/>
              </a:rPr>
              <a:t>TransRoute Logistics Ltd — Logistics Operator</a:t>
            </a:r>
          </a:p>
        </p:txBody>
      </p:sp>
      <p:sp>
        <p:nvSpPr>
          <p:cNvPr id="9" name="Subtitle"/>
          <p:cNvSpPr txBox="1"/>
          <p:nvPr/>
        </p:nvSpPr>
        <p:spPr>
          <a:xfrm>
            <a:off x="411480" y="1600000"/>
            <a:ext cx="9000000" cy="240000"/>
          </a:xfrm>
          <a:prstGeom prst="rect">
            <a:avLst/>
          </a:prstGeom>
          <a:noFill/>
        </p:spPr>
        <p:txBody>
          <a:bodyPr wrap="square" anchor="t"/>
          <a:lstStyle/>
          <a:p>
            <a:pPr algn="l"/>
            <a:r>
              <a:rPr sz="1050" b="0">
                <a:solidFill>
                  <a:srgbClr val="B0BDCC"/>
                </a:solidFill>
                <a:latin typeface="DM Sans"/>
              </a:rPr>
              <a:t>Nigeria · Freight &amp; Logistics · Org on Alpha Node</a:t>
            </a:r>
          </a:p>
        </p:txBody>
      </p:sp>
      <p:sp>
        <p:nvSpPr>
          <p:cNvPr id="10" name="ProblemBg"/>
          <p:cNvSpPr/>
          <p:nvPr/>
        </p:nvSpPr>
        <p:spPr>
          <a:xfrm>
            <a:off x="411480" y="1920000"/>
            <a:ext cx="5609280" cy="700000"/>
          </a:xfrm>
          <a:prstGeom prst="rect">
            <a:avLst/>
          </a:prstGeom>
          <a:solidFill>
            <a:srgbClr val="0D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blemAccent"/>
          <p:cNvSpPr/>
          <p:nvPr/>
        </p:nvSpPr>
        <p:spPr>
          <a:xfrm>
            <a:off x="411480" y="1920000"/>
            <a:ext cx="40000" cy="700000"/>
          </a:xfrm>
          <a:prstGeom prst="rect">
            <a:avLst/>
          </a:prstGeom>
          <a:solidFill>
            <a:srgbClr val="FF7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blemHead"/>
          <p:cNvSpPr txBox="1"/>
          <p:nvPr/>
        </p:nvSpPr>
        <p:spPr>
          <a:xfrm>
            <a:off x="491480" y="1980000"/>
            <a:ext cx="5509280" cy="180000"/>
          </a:xfrm>
          <a:prstGeom prst="rect">
            <a:avLst/>
          </a:prstGeom>
          <a:noFill/>
        </p:spPr>
        <p:txBody>
          <a:bodyPr wrap="square" anchor="t"/>
          <a:lstStyle/>
          <a:p>
            <a:pPr algn="l"/>
            <a:r>
              <a:rPr sz="950" b="1">
                <a:solidFill>
                  <a:srgbClr val="FF7200"/>
                </a:solidFill>
                <a:latin typeface="DM Sans"/>
              </a:rPr>
              <a:t>⚠  THE CHALLENGE</a:t>
            </a:r>
          </a:p>
        </p:txBody>
      </p:sp>
      <p:sp>
        <p:nvSpPr>
          <p:cNvPr id="13" name="ProblemBody"/>
          <p:cNvSpPr txBox="1"/>
          <p:nvPr/>
        </p:nvSpPr>
        <p:spPr>
          <a:xfrm>
            <a:off x="491480" y="2170000"/>
            <a:ext cx="5489280" cy="420000"/>
          </a:xfrm>
          <a:prstGeom prst="rect">
            <a:avLst/>
          </a:prstGeom>
          <a:noFill/>
        </p:spPr>
        <p:txBody>
          <a:bodyPr wrap="square" anchor="t"/>
          <a:lstStyle/>
          <a:p>
            <a:pPr algn="l"/>
            <a:r>
              <a:rPr sz="980" b="0">
                <a:solidFill>
                  <a:srgbClr val="B0BDCC"/>
                </a:solidFill>
                <a:latin typeface="DM Sans"/>
              </a:rPr>
              <a:t>Logistics operators are typically the last party to receive accurate shipment information — and the first to be blamed when documents are missing or late. Without a shared, authoritative record, disputes over document timing, status updates and liability are constant across ports and borders.</a:t>
            </a:r>
          </a:p>
        </p:txBody>
      </p:sp>
      <p:sp>
        <p:nvSpPr>
          <p:cNvPr id="14" name="SolutionBg"/>
          <p:cNvSpPr/>
          <p:nvPr/>
        </p:nvSpPr>
        <p:spPr>
          <a:xfrm>
            <a:off x="6140760" y="1920000"/>
            <a:ext cx="5609280" cy="700000"/>
          </a:xfrm>
          <a:prstGeom prst="rect">
            <a:avLst/>
          </a:prstGeom>
          <a:solidFill>
            <a:srgbClr val="0D23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olutionAccent"/>
          <p:cNvSpPr/>
          <p:nvPr/>
        </p:nvSpPr>
        <p:spPr>
          <a:xfrm>
            <a:off x="6140760" y="1920000"/>
            <a:ext cx="40000" cy="700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olutionHead"/>
          <p:cNvSpPr txBox="1"/>
          <p:nvPr/>
        </p:nvSpPr>
        <p:spPr>
          <a:xfrm>
            <a:off x="6220760" y="1980000"/>
            <a:ext cx="5509280" cy="180000"/>
          </a:xfrm>
          <a:prstGeom prst="rect">
            <a:avLst/>
          </a:prstGeom>
          <a:noFill/>
        </p:spPr>
        <p:txBody>
          <a:bodyPr wrap="square" anchor="t"/>
          <a:lstStyle/>
          <a:p>
            <a:pPr algn="l"/>
            <a:r>
              <a:rPr sz="950" b="1">
                <a:solidFill>
                  <a:srgbClr val="2ECC71"/>
                </a:solidFill>
                <a:latin typeface="DM Sans"/>
              </a:rPr>
              <a:t>✓  HOW ADAPT HELPS</a:t>
            </a:r>
          </a:p>
        </p:txBody>
      </p:sp>
      <p:sp>
        <p:nvSpPr>
          <p:cNvPr id="17" name="SolutionBody"/>
          <p:cNvSpPr txBox="1"/>
          <p:nvPr/>
        </p:nvSpPr>
        <p:spPr>
          <a:xfrm>
            <a:off x="6220760" y="2170000"/>
            <a:ext cx="5489280" cy="420000"/>
          </a:xfrm>
          <a:prstGeom prst="rect">
            <a:avLst/>
          </a:prstGeom>
          <a:noFill/>
        </p:spPr>
        <p:txBody>
          <a:bodyPr wrap="square" anchor="t"/>
          <a:lstStyle/>
          <a:p>
            <a:pPr algn="l"/>
            <a:r>
              <a:rPr sz="980" b="0">
                <a:solidFill>
                  <a:srgbClr val="B0BDCC"/>
                </a:solidFill>
                <a:latin typeface="DM Sans"/>
              </a:rPr>
              <a:t>ADAPT gives TransRoute a verified channel to upload logistics documents — Bills of Lading, status updates, proof of delivery — directly to the consignment record. Every action is timestamped and anchored, creating a single source of truth that all permitted parties see simultaneously, eliminating disputes before they start.</a:t>
            </a:r>
          </a:p>
        </p:txBody>
      </p:sp>
      <p:sp>
        <p:nvSpPr>
          <p:cNvPr id="18" name="StepBox1"/>
          <p:cNvSpPr/>
          <p:nvPr/>
        </p:nvSpPr>
        <p:spPr>
          <a:xfrm>
            <a:off x="569476" y="2800000"/>
            <a:ext cx="20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epNum1"/>
          <p:cNvSpPr txBox="1"/>
          <p:nvPr/>
        </p:nvSpPr>
        <p:spPr>
          <a:xfrm>
            <a:off x="569476" y="2870000"/>
            <a:ext cx="2050000" cy="200000"/>
          </a:xfrm>
          <a:prstGeom prst="rect">
            <a:avLst/>
          </a:prstGeom>
          <a:noFill/>
        </p:spPr>
        <p:txBody>
          <a:bodyPr wrap="square" anchor="t"/>
          <a:lstStyle/>
          <a:p>
            <a:pPr algn="c"/>
            <a:r>
              <a:rPr sz="900" b="1">
                <a:solidFill>
                  <a:srgbClr val="FF7200"/>
                </a:solidFill>
                <a:latin typeface="DM Sans"/>
              </a:rPr>
              <a:t>01</a:t>
            </a:r>
          </a:p>
        </p:txBody>
      </p:sp>
      <p:sp>
        <p:nvSpPr>
          <p:cNvPr id="20" name="StepLabel1"/>
          <p:cNvSpPr txBox="1"/>
          <p:nvPr/>
        </p:nvSpPr>
        <p:spPr>
          <a:xfrm>
            <a:off x="649476" y="3090000"/>
            <a:ext cx="1890000" cy="300000"/>
          </a:xfrm>
          <a:prstGeom prst="rect">
            <a:avLst/>
          </a:prstGeom>
          <a:noFill/>
        </p:spPr>
        <p:txBody>
          <a:bodyPr wrap="square" anchor="ctr"/>
          <a:lstStyle/>
          <a:p>
            <a:pPr algn="c"/>
            <a:r>
              <a:rPr sz="1050" b="1">
                <a:solidFill>
                  <a:srgbClr val="FFFFFF"/>
                </a:solidFill>
                <a:latin typeface="DM Sans"/>
              </a:rPr>
              <a:t>Granted Access</a:t>
            </a:r>
          </a:p>
        </p:txBody>
      </p:sp>
      <p:sp>
        <p:nvSpPr>
          <p:cNvPr id="21" name="StepDesc1"/>
          <p:cNvSpPr txBox="1"/>
          <p:nvPr/>
        </p:nvSpPr>
        <p:spPr>
          <a:xfrm>
            <a:off x="649476" y="3440000"/>
            <a:ext cx="1890000" cy="760000"/>
          </a:xfrm>
          <a:prstGeom prst="rect">
            <a:avLst/>
          </a:prstGeom>
          <a:noFill/>
        </p:spPr>
        <p:txBody>
          <a:bodyPr wrap="square" anchor="t"/>
          <a:lstStyle/>
          <a:p>
            <a:pPr algn="c"/>
            <a:r>
              <a:rPr sz="920" b="0">
                <a:solidFill>
                  <a:srgbClr val="B0BDCC"/>
                </a:solidFill>
                <a:latin typeface="DM Sans"/>
              </a:rPr>
              <a:t>Exporter shares consignment with TransRoute — route and docs.</a:t>
            </a:r>
          </a:p>
        </p:txBody>
      </p:sp>
      <p:sp>
        <p:nvSpPr>
          <p:cNvPr id="22" name="Arrow1"/>
          <p:cNvSpPr txBox="1"/>
          <p:nvPr/>
        </p:nvSpPr>
        <p:spPr>
          <a:xfrm>
            <a:off x="2629476" y="3410000"/>
            <a:ext cx="180000" cy="260000"/>
          </a:xfrm>
          <a:prstGeom prst="rect">
            <a:avLst/>
          </a:prstGeom>
          <a:noFill/>
        </p:spPr>
        <p:txBody>
          <a:bodyPr wrap="square" anchor="ctr"/>
          <a:lstStyle/>
          <a:p>
            <a:pPr algn="c"/>
            <a:r>
              <a:rPr sz="1200" b="1">
                <a:solidFill>
                  <a:srgbClr val="FF7200"/>
                </a:solidFill>
                <a:latin typeface="DM Sans"/>
              </a:rPr>
              <a:t>→</a:t>
            </a:r>
          </a:p>
        </p:txBody>
      </p:sp>
      <p:sp>
        <p:nvSpPr>
          <p:cNvPr id="23" name="StepBox2"/>
          <p:cNvSpPr/>
          <p:nvPr/>
        </p:nvSpPr>
        <p:spPr>
          <a:xfrm>
            <a:off x="2819476" y="2800000"/>
            <a:ext cx="20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tepNum2"/>
          <p:cNvSpPr txBox="1"/>
          <p:nvPr/>
        </p:nvSpPr>
        <p:spPr>
          <a:xfrm>
            <a:off x="2819476" y="2870000"/>
            <a:ext cx="2050000" cy="200000"/>
          </a:xfrm>
          <a:prstGeom prst="rect">
            <a:avLst/>
          </a:prstGeom>
          <a:noFill/>
        </p:spPr>
        <p:txBody>
          <a:bodyPr wrap="square" anchor="t"/>
          <a:lstStyle/>
          <a:p>
            <a:pPr algn="c"/>
            <a:r>
              <a:rPr sz="900" b="1">
                <a:solidFill>
                  <a:srgbClr val="FF7200"/>
                </a:solidFill>
                <a:latin typeface="DM Sans"/>
              </a:rPr>
              <a:t>02</a:t>
            </a:r>
          </a:p>
        </p:txBody>
      </p:sp>
      <p:sp>
        <p:nvSpPr>
          <p:cNvPr id="25" name="StepLabel2"/>
          <p:cNvSpPr txBox="1"/>
          <p:nvPr/>
        </p:nvSpPr>
        <p:spPr>
          <a:xfrm>
            <a:off x="2899476" y="3090000"/>
            <a:ext cx="1890000" cy="300000"/>
          </a:xfrm>
          <a:prstGeom prst="rect">
            <a:avLst/>
          </a:prstGeom>
          <a:noFill/>
        </p:spPr>
        <p:txBody>
          <a:bodyPr wrap="square" anchor="ctr"/>
          <a:lstStyle/>
          <a:p>
            <a:pPr algn="c"/>
            <a:r>
              <a:rPr sz="1050" b="1">
                <a:solidFill>
                  <a:srgbClr val="FFFFFF"/>
                </a:solidFill>
                <a:latin typeface="DM Sans"/>
              </a:rPr>
              <a:t>View Shipment</a:t>
            </a:r>
          </a:p>
        </p:txBody>
      </p:sp>
      <p:sp>
        <p:nvSpPr>
          <p:cNvPr id="26" name="StepDesc2"/>
          <p:cNvSpPr txBox="1"/>
          <p:nvPr/>
        </p:nvSpPr>
        <p:spPr>
          <a:xfrm>
            <a:off x="2899476" y="3440000"/>
            <a:ext cx="1890000" cy="760000"/>
          </a:xfrm>
          <a:prstGeom prst="rect">
            <a:avLst/>
          </a:prstGeom>
          <a:noFill/>
        </p:spPr>
        <p:txBody>
          <a:bodyPr wrap="square" anchor="t"/>
          <a:lstStyle/>
          <a:p>
            <a:pPr algn="c"/>
            <a:r>
              <a:rPr sz="920" b="0">
                <a:solidFill>
                  <a:srgbClr val="B0BDCC"/>
                </a:solidFill>
                <a:latin typeface="DM Sans"/>
              </a:rPr>
              <a:t>Operator views route, product type and linked documents.</a:t>
            </a:r>
          </a:p>
        </p:txBody>
      </p:sp>
      <p:sp>
        <p:nvSpPr>
          <p:cNvPr id="27" name="Arrow2"/>
          <p:cNvSpPr txBox="1"/>
          <p:nvPr/>
        </p:nvSpPr>
        <p:spPr>
          <a:xfrm>
            <a:off x="4879476" y="3410000"/>
            <a:ext cx="180000" cy="260000"/>
          </a:xfrm>
          <a:prstGeom prst="rect">
            <a:avLst/>
          </a:prstGeom>
          <a:noFill/>
        </p:spPr>
        <p:txBody>
          <a:bodyPr wrap="square" anchor="ctr"/>
          <a:lstStyle/>
          <a:p>
            <a:pPr algn="c"/>
            <a:r>
              <a:rPr sz="1200" b="1">
                <a:solidFill>
                  <a:srgbClr val="FF7200"/>
                </a:solidFill>
                <a:latin typeface="DM Sans"/>
              </a:rPr>
              <a:t>→</a:t>
            </a:r>
          </a:p>
        </p:txBody>
      </p:sp>
      <p:sp>
        <p:nvSpPr>
          <p:cNvPr id="28" name="StepBox3"/>
          <p:cNvSpPr/>
          <p:nvPr/>
        </p:nvSpPr>
        <p:spPr>
          <a:xfrm>
            <a:off x="5069476" y="2800000"/>
            <a:ext cx="2050000" cy="1480000"/>
          </a:xfrm>
          <a:prstGeom prst="roundRect">
            <a:avLst>
              <a:gd name="adj" fmla="val 20000"/>
            </a:avLst>
          </a:prstGeom>
          <a:solidFill>
            <a:srgbClr val="FF7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epNum3"/>
          <p:cNvSpPr txBox="1"/>
          <p:nvPr/>
        </p:nvSpPr>
        <p:spPr>
          <a:xfrm>
            <a:off x="5069476" y="2870000"/>
            <a:ext cx="2050000" cy="200000"/>
          </a:xfrm>
          <a:prstGeom prst="rect">
            <a:avLst/>
          </a:prstGeom>
          <a:noFill/>
        </p:spPr>
        <p:txBody>
          <a:bodyPr wrap="square" anchor="t"/>
          <a:lstStyle/>
          <a:p>
            <a:pPr algn="c"/>
            <a:r>
              <a:rPr sz="900" b="1">
                <a:solidFill>
                  <a:srgbClr val="FFFFFF"/>
                </a:solidFill>
                <a:latin typeface="DM Sans"/>
              </a:rPr>
              <a:t>03</a:t>
            </a:r>
          </a:p>
        </p:txBody>
      </p:sp>
      <p:sp>
        <p:nvSpPr>
          <p:cNvPr id="30" name="StepLabel3"/>
          <p:cNvSpPr txBox="1"/>
          <p:nvPr/>
        </p:nvSpPr>
        <p:spPr>
          <a:xfrm>
            <a:off x="5149476" y="3090000"/>
            <a:ext cx="1890000" cy="300000"/>
          </a:xfrm>
          <a:prstGeom prst="rect">
            <a:avLst/>
          </a:prstGeom>
          <a:noFill/>
        </p:spPr>
        <p:txBody>
          <a:bodyPr wrap="square" anchor="ctr"/>
          <a:lstStyle/>
          <a:p>
            <a:pPr algn="c"/>
            <a:r>
              <a:rPr sz="1050" b="1">
                <a:solidFill>
                  <a:srgbClr val="FFFFFF"/>
                </a:solidFill>
                <a:latin typeface="DM Sans"/>
              </a:rPr>
              <a:t>Upload Bill of Lading</a:t>
            </a:r>
          </a:p>
        </p:txBody>
      </p:sp>
      <p:sp>
        <p:nvSpPr>
          <p:cNvPr id="31" name="StepDesc3"/>
          <p:cNvSpPr txBox="1"/>
          <p:nvPr/>
        </p:nvSpPr>
        <p:spPr>
          <a:xfrm>
            <a:off x="5149476" y="3440000"/>
            <a:ext cx="1890000" cy="760000"/>
          </a:xfrm>
          <a:prstGeom prst="rect">
            <a:avLst/>
          </a:prstGeom>
          <a:noFill/>
        </p:spPr>
        <p:txBody>
          <a:bodyPr wrap="square" anchor="t"/>
          <a:lstStyle/>
          <a:p>
            <a:pPr algn="c"/>
            <a:r>
              <a:rPr sz="920" b="0">
                <a:solidFill>
                  <a:srgbClr val="FFFFFF"/>
                </a:solidFill>
                <a:latin typeface="DM Sans"/>
              </a:rPr>
              <a:t>TransRoute uploads BoL directly — anchored immediately.</a:t>
            </a:r>
          </a:p>
        </p:txBody>
      </p:sp>
      <p:sp>
        <p:nvSpPr>
          <p:cNvPr id="32" name="Arrow3"/>
          <p:cNvSpPr txBox="1"/>
          <p:nvPr/>
        </p:nvSpPr>
        <p:spPr>
          <a:xfrm>
            <a:off x="7129476" y="3410000"/>
            <a:ext cx="180000" cy="260000"/>
          </a:xfrm>
          <a:prstGeom prst="rect">
            <a:avLst/>
          </a:prstGeom>
          <a:noFill/>
        </p:spPr>
        <p:txBody>
          <a:bodyPr wrap="square" anchor="ctr"/>
          <a:lstStyle/>
          <a:p>
            <a:pPr algn="c"/>
            <a:r>
              <a:rPr sz="1200" b="1">
                <a:solidFill>
                  <a:srgbClr val="FF7200"/>
                </a:solidFill>
                <a:latin typeface="DM Sans"/>
              </a:rPr>
              <a:t>→</a:t>
            </a:r>
          </a:p>
        </p:txBody>
      </p:sp>
      <p:sp>
        <p:nvSpPr>
          <p:cNvPr id="33" name="StepBox4"/>
          <p:cNvSpPr/>
          <p:nvPr/>
        </p:nvSpPr>
        <p:spPr>
          <a:xfrm>
            <a:off x="7319476" y="2800000"/>
            <a:ext cx="20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epNum4"/>
          <p:cNvSpPr txBox="1"/>
          <p:nvPr/>
        </p:nvSpPr>
        <p:spPr>
          <a:xfrm>
            <a:off x="7319476" y="2870000"/>
            <a:ext cx="2050000" cy="200000"/>
          </a:xfrm>
          <a:prstGeom prst="rect">
            <a:avLst/>
          </a:prstGeom>
          <a:noFill/>
        </p:spPr>
        <p:txBody>
          <a:bodyPr wrap="square" anchor="t"/>
          <a:lstStyle/>
          <a:p>
            <a:pPr algn="c"/>
            <a:r>
              <a:rPr sz="900" b="1">
                <a:solidFill>
                  <a:srgbClr val="FF7200"/>
                </a:solidFill>
                <a:latin typeface="DM Sans"/>
              </a:rPr>
              <a:t>04</a:t>
            </a:r>
          </a:p>
        </p:txBody>
      </p:sp>
      <p:sp>
        <p:nvSpPr>
          <p:cNvPr id="35" name="StepLabel4"/>
          <p:cNvSpPr txBox="1"/>
          <p:nvPr/>
        </p:nvSpPr>
        <p:spPr>
          <a:xfrm>
            <a:off x="7399476" y="3090000"/>
            <a:ext cx="1890000" cy="300000"/>
          </a:xfrm>
          <a:prstGeom prst="rect">
            <a:avLst/>
          </a:prstGeom>
          <a:noFill/>
        </p:spPr>
        <p:txBody>
          <a:bodyPr wrap="square" anchor="ctr"/>
          <a:lstStyle/>
          <a:p>
            <a:pPr algn="c"/>
            <a:r>
              <a:rPr sz="1050" b="1">
                <a:solidFill>
                  <a:srgbClr val="FFFFFF"/>
                </a:solidFill>
                <a:latin typeface="DM Sans"/>
              </a:rPr>
              <a:t>Update Status</a:t>
            </a:r>
          </a:p>
        </p:txBody>
      </p:sp>
      <p:sp>
        <p:nvSpPr>
          <p:cNvPr id="36" name="StepDesc4"/>
          <p:cNvSpPr txBox="1"/>
          <p:nvPr/>
        </p:nvSpPr>
        <p:spPr>
          <a:xfrm>
            <a:off x="7399476" y="3440000"/>
            <a:ext cx="1890000" cy="760000"/>
          </a:xfrm>
          <a:prstGeom prst="rect">
            <a:avLst/>
          </a:prstGeom>
          <a:noFill/>
        </p:spPr>
        <p:txBody>
          <a:bodyPr wrap="square" anchor="t"/>
          <a:lstStyle/>
          <a:p>
            <a:pPr algn="c"/>
            <a:r>
              <a:rPr sz="920" b="0">
                <a:solidFill>
                  <a:srgbClr val="B0BDCC"/>
                </a:solidFill>
                <a:latin typeface="DM Sans"/>
              </a:rPr>
              <a:t>Operator updates progress — in transit, at port, cleared.</a:t>
            </a:r>
          </a:p>
        </p:txBody>
      </p:sp>
      <p:sp>
        <p:nvSpPr>
          <p:cNvPr id="37" name="Arrow4"/>
          <p:cNvSpPr txBox="1"/>
          <p:nvPr/>
        </p:nvSpPr>
        <p:spPr>
          <a:xfrm>
            <a:off x="9379476" y="3410000"/>
            <a:ext cx="180000" cy="260000"/>
          </a:xfrm>
          <a:prstGeom prst="rect">
            <a:avLst/>
          </a:prstGeom>
          <a:noFill/>
        </p:spPr>
        <p:txBody>
          <a:bodyPr wrap="square" anchor="ctr"/>
          <a:lstStyle/>
          <a:p>
            <a:pPr algn="c"/>
            <a:r>
              <a:rPr sz="1200" b="1">
                <a:solidFill>
                  <a:srgbClr val="FF7200"/>
                </a:solidFill>
                <a:latin typeface="DM Sans"/>
              </a:rPr>
              <a:t>→</a:t>
            </a:r>
          </a:p>
        </p:txBody>
      </p:sp>
      <p:sp>
        <p:nvSpPr>
          <p:cNvPr id="38" name="StepBox5"/>
          <p:cNvSpPr/>
          <p:nvPr/>
        </p:nvSpPr>
        <p:spPr>
          <a:xfrm>
            <a:off x="9569476" y="2800000"/>
            <a:ext cx="20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epNum5"/>
          <p:cNvSpPr txBox="1"/>
          <p:nvPr/>
        </p:nvSpPr>
        <p:spPr>
          <a:xfrm>
            <a:off x="9569476" y="2870000"/>
            <a:ext cx="2050000" cy="200000"/>
          </a:xfrm>
          <a:prstGeom prst="rect">
            <a:avLst/>
          </a:prstGeom>
          <a:noFill/>
        </p:spPr>
        <p:txBody>
          <a:bodyPr wrap="square" anchor="t"/>
          <a:lstStyle/>
          <a:p>
            <a:pPr algn="c"/>
            <a:r>
              <a:rPr sz="900" b="1">
                <a:solidFill>
                  <a:srgbClr val="FF7200"/>
                </a:solidFill>
                <a:latin typeface="DM Sans"/>
              </a:rPr>
              <a:t>05</a:t>
            </a:r>
          </a:p>
        </p:txBody>
      </p:sp>
      <p:sp>
        <p:nvSpPr>
          <p:cNvPr id="40" name="StepLabel5"/>
          <p:cNvSpPr txBox="1"/>
          <p:nvPr/>
        </p:nvSpPr>
        <p:spPr>
          <a:xfrm>
            <a:off x="9649476" y="3090000"/>
            <a:ext cx="1890000" cy="300000"/>
          </a:xfrm>
          <a:prstGeom prst="rect">
            <a:avLst/>
          </a:prstGeom>
          <a:noFill/>
        </p:spPr>
        <p:txBody>
          <a:bodyPr wrap="square" anchor="ctr"/>
          <a:lstStyle/>
          <a:p>
            <a:pPr algn="c"/>
            <a:r>
              <a:rPr sz="1050" b="1">
                <a:solidFill>
                  <a:srgbClr val="FFFFFF"/>
                </a:solidFill>
                <a:latin typeface="DM Sans"/>
              </a:rPr>
              <a:t>Ledger Records All</a:t>
            </a:r>
          </a:p>
        </p:txBody>
      </p:sp>
      <p:sp>
        <p:nvSpPr>
          <p:cNvPr id="41" name="StepDesc5"/>
          <p:cNvSpPr txBox="1"/>
          <p:nvPr/>
        </p:nvSpPr>
        <p:spPr>
          <a:xfrm>
            <a:off x="9649476" y="3440000"/>
            <a:ext cx="1890000" cy="760000"/>
          </a:xfrm>
          <a:prstGeom prst="rect">
            <a:avLst/>
          </a:prstGeom>
          <a:noFill/>
        </p:spPr>
        <p:txBody>
          <a:bodyPr wrap="square" anchor="t"/>
          <a:lstStyle/>
          <a:p>
            <a:pPr algn="c"/>
            <a:r>
              <a:rPr sz="920" b="0">
                <a:solidFill>
                  <a:srgbClr val="B0BDCC"/>
                </a:solidFill>
                <a:latin typeface="DM Sans"/>
              </a:rPr>
              <a:t>Every action immutably recorded on the ADAPT ledger.</a:t>
            </a:r>
          </a:p>
        </p:txBody>
      </p:sp>
      <p:sp>
        <p:nvSpPr>
          <p:cNvPr id="42" name="OutcomeBg"/>
          <p:cNvSpPr/>
          <p:nvPr/>
        </p:nvSpPr>
        <p:spPr>
          <a:xfrm>
            <a:off x="411480" y="4450000"/>
            <a:ext cx="11365992" cy="300000"/>
          </a:xfrm>
          <a:prstGeom prst="rect">
            <a:avLst/>
          </a:prstGeom>
          <a:solidFill>
            <a:srgbClr val="0C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utcomeArrow"/>
          <p:cNvSpPr txBox="1"/>
          <p:nvPr/>
        </p:nvSpPr>
        <p:spPr>
          <a:xfrm>
            <a:off x="576072" y="4490000"/>
            <a:ext cx="300000" cy="220000"/>
          </a:xfrm>
          <a:prstGeom prst="rect">
            <a:avLst/>
          </a:prstGeom>
          <a:noFill/>
        </p:spPr>
        <p:txBody>
          <a:bodyPr wrap="square" anchor="ctr"/>
          <a:lstStyle/>
          <a:p>
            <a:pPr algn="c"/>
            <a:r>
              <a:rPr sz="1100" b="1">
                <a:solidFill>
                  <a:srgbClr val="FF7200"/>
                </a:solidFill>
                <a:latin typeface="DM Sans"/>
              </a:rPr>
              <a:t>→</a:t>
            </a:r>
          </a:p>
        </p:txBody>
      </p:sp>
      <p:sp>
        <p:nvSpPr>
          <p:cNvPr id="44" name="OutcomeText"/>
          <p:cNvSpPr txBox="1"/>
          <p:nvPr/>
        </p:nvSpPr>
        <p:spPr>
          <a:xfrm>
            <a:off x="950000" y="4490000"/>
            <a:ext cx="10700000" cy="220000"/>
          </a:xfrm>
          <a:prstGeom prst="rect">
            <a:avLst/>
          </a:prstGeom>
          <a:noFill/>
        </p:spPr>
        <p:txBody>
          <a:bodyPr wrap="square" anchor="ctr"/>
          <a:lstStyle/>
          <a:p>
            <a:pPr algn="l"/>
            <a:r>
              <a:rPr sz="1000" b="0">
                <a:solidFill>
                  <a:srgbClr val="B0BDCC"/>
                </a:solidFill>
                <a:latin typeface="DM Sans"/>
              </a:rPr>
              <a:t>Outcome: Logistics operator contributes verified documentation — reducing port disputes and clearance delays.</a:t>
            </a:r>
          </a:p>
        </p:txBody>
      </p:sp>
      <p:sp>
        <p:nvSpPr>
          <p:cNvPr id="45" name="FooterBg"/>
          <p:cNvSpPr/>
          <p:nvPr/>
        </p:nvSpPr>
        <p:spPr>
          <a:xfrm>
            <a:off x="411480" y="5742432"/>
            <a:ext cx="11365992" cy="7132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ooterArrow"/>
          <p:cNvSpPr txBox="1"/>
          <p:nvPr/>
        </p:nvSpPr>
        <p:spPr>
          <a:xfrm>
            <a:off x="576072" y="5797296"/>
            <a:ext cx="274320" cy="603504"/>
          </a:xfrm>
          <a:prstGeom prst="rect">
            <a:avLst/>
          </a:prstGeom>
          <a:noFill/>
        </p:spPr>
        <p:txBody>
          <a:bodyPr wrap="square" anchor="ctr"/>
          <a:lstStyle/>
          <a:p>
            <a:pPr algn="l"/>
            <a:r>
              <a:rPr sz="1300" b="1">
                <a:solidFill>
                  <a:srgbClr val="FF7200"/>
                </a:solidFill>
                <a:latin typeface="DM Sans"/>
              </a:rPr>
              <a:t>→</a:t>
            </a:r>
          </a:p>
        </p:txBody>
      </p:sp>
      <p:sp>
        <p:nvSpPr>
          <p:cNvPr id="47" name="FooterText"/>
          <p:cNvSpPr txBox="1"/>
          <p:nvPr/>
        </p:nvSpPr>
        <p:spPr>
          <a:xfrm>
            <a:off x="914400" y="5797296"/>
            <a:ext cx="10771632" cy="603504"/>
          </a:xfrm>
          <a:prstGeom prst="rect">
            <a:avLst/>
          </a:prstGeom>
          <a:noFill/>
        </p:spPr>
        <p:txBody>
          <a:bodyPr wrap="square" anchor="ctr"/>
          <a:lstStyle/>
          <a:p>
            <a:pPr algn="l"/>
            <a:r>
              <a:rPr sz="1000" b="0">
                <a:solidFill>
                  <a:srgbClr val="B0BDCC"/>
                </a:solidFill>
                <a:latin typeface="DM Sans"/>
              </a:rPr>
              <a:t>When logistics actors upload documents directly to ADAPT, all parties see the same verified record — no email chains, no manual reconciliation.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224E"/>
        </a:solidFill>
        <a:effectLst/>
      </p:bgPr>
    </p:bg>
    <p:spTree>
      <p:nvGrpSpPr>
        <p:cNvPr id="1" name=""/>
        <p:cNvGrpSpPr/>
        <p:nvPr/>
      </p:nvGrpSpPr>
      <p:grpSpPr/>
      <p:sp>
        <p:nvSpPr>
          <p:cNvPr id="2" name="LogoBg"/>
          <p:cNvSpPr/>
          <p:nvPr/>
        </p:nvSpPr>
        <p:spPr>
          <a:xfrm>
            <a:off x="411480" y="246888"/>
            <a:ext cx="384048" cy="384048"/>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ogoEmoji"/>
          <p:cNvSpPr txBox="1"/>
          <p:nvPr/>
        </p:nvSpPr>
        <p:spPr>
          <a:xfrm>
            <a:off x="411480" y="246888"/>
            <a:ext cx="384048" cy="384048"/>
          </a:xfrm>
          <a:prstGeom prst="rect">
            <a:avLst/>
          </a:prstGeom>
          <a:noFill/>
        </p:spPr>
        <p:txBody>
          <a:bodyPr wrap="square" anchor="ctr"/>
          <a:lstStyle/>
          <a:p>
            <a:pPr algn="c"/>
            <a:r>
              <a:rPr sz="1400" b="0">
                <a:solidFill>
                  <a:srgbClr val="FFFFFF"/>
                </a:solidFill>
                <a:latin typeface="DM Sans"/>
              </a:rPr>
              <a:t>🌍</a:t>
            </a:r>
          </a:p>
        </p:txBody>
      </p:sp>
      <p:sp>
        <p:nvSpPr>
          <p:cNvPr id="4" name="BrandText"/>
          <p:cNvSpPr txBox="1"/>
          <p:nvPr/>
        </p:nvSpPr>
        <p:spPr>
          <a:xfrm>
            <a:off x="850392" y="256032"/>
            <a:ext cx="1280160" cy="228600"/>
          </a:xfrm>
          <a:prstGeom prst="rect">
            <a:avLst/>
          </a:prstGeom>
          <a:noFill/>
        </p:spPr>
        <p:txBody>
          <a:bodyPr wrap="square" anchor="t"/>
          <a:lstStyle/>
          <a:p>
            <a:pPr algn="l"/>
            <a:r>
              <a:rPr sz="1150" b="1">
                <a:solidFill>
                  <a:srgbClr val="FFFFFF"/>
                </a:solidFill>
                <a:latin typeface="DM Sans"/>
              </a:rPr>
              <a:t>ADAPT</a:t>
            </a:r>
          </a:p>
        </p:txBody>
      </p:sp>
      <p:sp>
        <p:nvSpPr>
          <p:cNvPr id="5" name="PageNum"/>
          <p:cNvSpPr txBox="1"/>
          <p:nvPr/>
        </p:nvSpPr>
        <p:spPr>
          <a:xfrm>
            <a:off x="11064240" y="274320"/>
            <a:ext cx="914400" cy="274320"/>
          </a:xfrm>
          <a:prstGeom prst="rect">
            <a:avLst/>
          </a:prstGeom>
          <a:noFill/>
        </p:spPr>
        <p:txBody>
          <a:bodyPr wrap="none" anchor="t">
            <a:spAutoFit/>
          </a:bodyPr>
          <a:lstStyle/>
          <a:p>
            <a:pPr algn="r"/>
            <a:r>
              <a:rPr sz="1100" b="1">
                <a:solidFill>
                  <a:srgbClr val="FF7200"/>
                </a:solidFill>
                <a:latin typeface="DM Sans"/>
              </a:rPr>
              <a:t>11</a:t>
            </a:r>
            <a:r>
              <a:rPr sz="1100" b="0">
                <a:solidFill>
                  <a:srgbClr val="708299"/>
                </a:solidFill>
                <a:latin typeface="DM Sans"/>
              </a:rPr>
              <a:t xml:space="preserve"> / 12</a:t>
            </a:r>
          </a:p>
        </p:txBody>
      </p:sp>
      <p:sp>
        <p:nvSpPr>
          <p:cNvPr id="6" name="SectionBg"/>
          <p:cNvSpPr/>
          <p:nvPr/>
        </p:nvSpPr>
        <p:spPr>
          <a:xfrm>
            <a:off x="411480" y="804672"/>
            <a:ext cx="2286000" cy="2560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onLabel"/>
          <p:cNvSpPr txBox="1"/>
          <p:nvPr/>
        </p:nvSpPr>
        <p:spPr>
          <a:xfrm>
            <a:off x="484632" y="832104"/>
            <a:ext cx="2286000" cy="219456"/>
          </a:xfrm>
          <a:prstGeom prst="rect">
            <a:avLst/>
          </a:prstGeom>
          <a:noFill/>
        </p:spPr>
        <p:txBody>
          <a:bodyPr wrap="square" anchor="t"/>
          <a:lstStyle/>
          <a:p>
            <a:pPr algn="l"/>
            <a:r>
              <a:rPr sz="950" b="1">
                <a:solidFill>
                  <a:srgbClr val="FF7200"/>
                </a:solidFill>
                <a:latin typeface="DM Sans"/>
              </a:rPr>
              <a:t>● JOURNEY 4 — DESTINATION CUSTOMS</a:t>
            </a:r>
          </a:p>
        </p:txBody>
      </p:sp>
      <p:sp>
        <p:nvSpPr>
          <p:cNvPr id="8" name="Title"/>
          <p:cNvSpPr txBox="1"/>
          <p:nvPr/>
        </p:nvSpPr>
        <p:spPr>
          <a:xfrm>
            <a:off x="411480" y="1135000"/>
            <a:ext cx="11338560" cy="440000"/>
          </a:xfrm>
          <a:prstGeom prst="rect">
            <a:avLst/>
          </a:prstGeom>
          <a:noFill/>
        </p:spPr>
        <p:txBody>
          <a:bodyPr wrap="square" anchor="t"/>
          <a:lstStyle/>
          <a:p>
            <a:pPr algn="l"/>
            <a:r>
              <a:rPr sz="2400" b="1">
                <a:solidFill>
                  <a:srgbClr val="FFFFFF"/>
                </a:solidFill>
                <a:latin typeface="DM Sans"/>
              </a:rPr>
              <a:t>Egypt Customs Authority — Destination Regulator</a:t>
            </a:r>
          </a:p>
        </p:txBody>
      </p:sp>
      <p:sp>
        <p:nvSpPr>
          <p:cNvPr id="9" name="Subtitle"/>
          <p:cNvSpPr txBox="1"/>
          <p:nvPr/>
        </p:nvSpPr>
        <p:spPr>
          <a:xfrm>
            <a:off x="411480" y="1600000"/>
            <a:ext cx="9000000" cy="240000"/>
          </a:xfrm>
          <a:prstGeom prst="rect">
            <a:avLst/>
          </a:prstGeom>
          <a:noFill/>
        </p:spPr>
        <p:txBody>
          <a:bodyPr wrap="square" anchor="t"/>
          <a:lstStyle/>
          <a:p>
            <a:pPr algn="l"/>
            <a:r>
              <a:rPr sz="1050" b="0">
                <a:solidFill>
                  <a:srgbClr val="B0BDCC"/>
                </a:solidFill>
                <a:latin typeface="DM Sans"/>
              </a:rPr>
              <a:t>Egypt · Customs &amp; Border Control · Org on Alpha Node</a:t>
            </a:r>
          </a:p>
        </p:txBody>
      </p:sp>
      <p:sp>
        <p:nvSpPr>
          <p:cNvPr id="10" name="ProblemBg"/>
          <p:cNvSpPr/>
          <p:nvPr/>
        </p:nvSpPr>
        <p:spPr>
          <a:xfrm>
            <a:off x="411480" y="1920000"/>
            <a:ext cx="5609280" cy="700000"/>
          </a:xfrm>
          <a:prstGeom prst="rect">
            <a:avLst/>
          </a:prstGeom>
          <a:solidFill>
            <a:srgbClr val="0D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blemAccent"/>
          <p:cNvSpPr/>
          <p:nvPr/>
        </p:nvSpPr>
        <p:spPr>
          <a:xfrm>
            <a:off x="411480" y="1920000"/>
            <a:ext cx="40000" cy="700000"/>
          </a:xfrm>
          <a:prstGeom prst="rect">
            <a:avLst/>
          </a:prstGeom>
          <a:solidFill>
            <a:srgbClr val="FF7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blemHead"/>
          <p:cNvSpPr txBox="1"/>
          <p:nvPr/>
        </p:nvSpPr>
        <p:spPr>
          <a:xfrm>
            <a:off x="491480" y="1980000"/>
            <a:ext cx="5509280" cy="180000"/>
          </a:xfrm>
          <a:prstGeom prst="rect">
            <a:avLst/>
          </a:prstGeom>
          <a:noFill/>
        </p:spPr>
        <p:txBody>
          <a:bodyPr wrap="square" anchor="t"/>
          <a:lstStyle/>
          <a:p>
            <a:pPr algn="l"/>
            <a:r>
              <a:rPr sz="950" b="1">
                <a:solidFill>
                  <a:srgbClr val="FF7200"/>
                </a:solidFill>
                <a:latin typeface="DM Sans"/>
              </a:rPr>
              <a:t>⚠  THE CHALLENGE</a:t>
            </a:r>
          </a:p>
        </p:txBody>
      </p:sp>
      <p:sp>
        <p:nvSpPr>
          <p:cNvPr id="13" name="ProblemBody"/>
          <p:cNvSpPr txBox="1"/>
          <p:nvPr/>
        </p:nvSpPr>
        <p:spPr>
          <a:xfrm>
            <a:off x="491480" y="2170000"/>
            <a:ext cx="5489280" cy="420000"/>
          </a:xfrm>
          <a:prstGeom prst="rect">
            <a:avLst/>
          </a:prstGeom>
          <a:noFill/>
        </p:spPr>
        <p:txBody>
          <a:bodyPr wrap="square" anchor="t"/>
          <a:lstStyle/>
          <a:p>
            <a:pPr algn="l"/>
            <a:r>
              <a:rPr sz="980" b="0">
                <a:solidFill>
                  <a:srgbClr val="B0BDCC"/>
                </a:solidFill>
                <a:latin typeface="DM Sans"/>
              </a:rPr>
              <a:t>Destination customs authorities receive shipment documentation by email or EDI with no way to cryptographically verify authenticity, confirm the exporter's identity, or check that documents haven't been altered since they were issued. Pre-arrival data is incomplete, leading to dwell time, physical inspections and clearance backlogs at ports.</a:t>
            </a:r>
          </a:p>
        </p:txBody>
      </p:sp>
      <p:sp>
        <p:nvSpPr>
          <p:cNvPr id="14" name="SolutionBg"/>
          <p:cNvSpPr/>
          <p:nvPr/>
        </p:nvSpPr>
        <p:spPr>
          <a:xfrm>
            <a:off x="6140760" y="1920000"/>
            <a:ext cx="5609280" cy="700000"/>
          </a:xfrm>
          <a:prstGeom prst="rect">
            <a:avLst/>
          </a:prstGeom>
          <a:solidFill>
            <a:srgbClr val="0D23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olutionAccent"/>
          <p:cNvSpPr/>
          <p:nvPr/>
        </p:nvSpPr>
        <p:spPr>
          <a:xfrm>
            <a:off x="6140760" y="1920000"/>
            <a:ext cx="40000" cy="700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olutionHead"/>
          <p:cNvSpPr txBox="1"/>
          <p:nvPr/>
        </p:nvSpPr>
        <p:spPr>
          <a:xfrm>
            <a:off x="6220760" y="1980000"/>
            <a:ext cx="5509280" cy="180000"/>
          </a:xfrm>
          <a:prstGeom prst="rect">
            <a:avLst/>
          </a:prstGeom>
          <a:noFill/>
        </p:spPr>
        <p:txBody>
          <a:bodyPr wrap="square" anchor="t"/>
          <a:lstStyle/>
          <a:p>
            <a:pPr algn="l"/>
            <a:r>
              <a:rPr sz="950" b="1">
                <a:solidFill>
                  <a:srgbClr val="2ECC71"/>
                </a:solidFill>
                <a:latin typeface="DM Sans"/>
              </a:rPr>
              <a:t>✓  HOW ADAPT HELPS</a:t>
            </a:r>
          </a:p>
        </p:txBody>
      </p:sp>
      <p:sp>
        <p:nvSpPr>
          <p:cNvPr id="17" name="SolutionBody"/>
          <p:cNvSpPr txBox="1"/>
          <p:nvPr/>
        </p:nvSpPr>
        <p:spPr>
          <a:xfrm>
            <a:off x="6220760" y="2170000"/>
            <a:ext cx="5489280" cy="420000"/>
          </a:xfrm>
          <a:prstGeom prst="rect">
            <a:avLst/>
          </a:prstGeom>
          <a:noFill/>
        </p:spPr>
        <p:txBody>
          <a:bodyPr wrap="square" anchor="t"/>
          <a:lstStyle/>
          <a:p>
            <a:pPr algn="l"/>
            <a:r>
              <a:rPr sz="980" b="0">
                <a:solidFill>
                  <a:srgbClr val="B0BDCC"/>
                </a:solidFill>
                <a:latin typeface="DM Sans"/>
              </a:rPr>
              <a:t>ADAPT gives Egypt Customs pre-arrival access to verified consignment data — with the exporter's DID confirmed against their national registry, documents anchored on the ledger, and structured XML available for automated compliance checks. Every decision is recorded, creating a complete bilateral audit trail for both the authority and the exporter.</a:t>
            </a:r>
          </a:p>
        </p:txBody>
      </p:sp>
      <p:sp>
        <p:nvSpPr>
          <p:cNvPr id="18" name="StepBox1"/>
          <p:cNvSpPr/>
          <p:nvPr/>
        </p:nvSpPr>
        <p:spPr>
          <a:xfrm>
            <a:off x="69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epNum1"/>
          <p:cNvSpPr txBox="1"/>
          <p:nvPr/>
        </p:nvSpPr>
        <p:spPr>
          <a:xfrm>
            <a:off x="694476" y="2870000"/>
            <a:ext cx="1650000" cy="200000"/>
          </a:xfrm>
          <a:prstGeom prst="rect">
            <a:avLst/>
          </a:prstGeom>
          <a:noFill/>
        </p:spPr>
        <p:txBody>
          <a:bodyPr wrap="square" anchor="t"/>
          <a:lstStyle/>
          <a:p>
            <a:pPr algn="c"/>
            <a:r>
              <a:rPr sz="900" b="1">
                <a:solidFill>
                  <a:srgbClr val="FF7200"/>
                </a:solidFill>
                <a:latin typeface="DM Sans"/>
              </a:rPr>
              <a:t>01</a:t>
            </a:r>
          </a:p>
        </p:txBody>
      </p:sp>
      <p:sp>
        <p:nvSpPr>
          <p:cNvPr id="20" name="StepLabel1"/>
          <p:cNvSpPr txBox="1"/>
          <p:nvPr/>
        </p:nvSpPr>
        <p:spPr>
          <a:xfrm>
            <a:off x="754476" y="3090000"/>
            <a:ext cx="1530000" cy="300000"/>
          </a:xfrm>
          <a:prstGeom prst="rect">
            <a:avLst/>
          </a:prstGeom>
          <a:noFill/>
        </p:spPr>
        <p:txBody>
          <a:bodyPr wrap="square" anchor="ctr"/>
          <a:lstStyle/>
          <a:p>
            <a:pPr algn="c"/>
            <a:r>
              <a:rPr sz="1000" b="1">
                <a:solidFill>
                  <a:srgbClr val="FFFFFF"/>
                </a:solidFill>
                <a:latin typeface="DM Sans"/>
              </a:rPr>
              <a:t>Receive Consignment Share</a:t>
            </a:r>
          </a:p>
        </p:txBody>
      </p:sp>
      <p:sp>
        <p:nvSpPr>
          <p:cNvPr id="21" name="StepDesc1"/>
          <p:cNvSpPr txBox="1"/>
          <p:nvPr/>
        </p:nvSpPr>
        <p:spPr>
          <a:xfrm>
            <a:off x="754476" y="3440000"/>
            <a:ext cx="1530000" cy="760000"/>
          </a:xfrm>
          <a:prstGeom prst="rect">
            <a:avLst/>
          </a:prstGeom>
          <a:noFill/>
        </p:spPr>
        <p:txBody>
          <a:bodyPr wrap="square" anchor="t"/>
          <a:lstStyle/>
          <a:p>
            <a:pPr algn="c"/>
            <a:r>
              <a:rPr sz="880" b="0">
                <a:solidFill>
                  <a:srgbClr val="B0BDCC"/>
                </a:solidFill>
                <a:latin typeface="DM Sans"/>
              </a:rPr>
              <a:t>Exporter grants Egypt Customs access to the full record.</a:t>
            </a:r>
          </a:p>
        </p:txBody>
      </p:sp>
      <p:sp>
        <p:nvSpPr>
          <p:cNvPr id="22" name="Arrow1"/>
          <p:cNvSpPr txBox="1"/>
          <p:nvPr/>
        </p:nvSpPr>
        <p:spPr>
          <a:xfrm>
            <a:off x="235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23" name="StepBox2"/>
          <p:cNvSpPr/>
          <p:nvPr/>
        </p:nvSpPr>
        <p:spPr>
          <a:xfrm>
            <a:off x="252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tepNum2"/>
          <p:cNvSpPr txBox="1"/>
          <p:nvPr/>
        </p:nvSpPr>
        <p:spPr>
          <a:xfrm>
            <a:off x="2524476" y="2870000"/>
            <a:ext cx="1650000" cy="200000"/>
          </a:xfrm>
          <a:prstGeom prst="rect">
            <a:avLst/>
          </a:prstGeom>
          <a:noFill/>
        </p:spPr>
        <p:txBody>
          <a:bodyPr wrap="square" anchor="t"/>
          <a:lstStyle/>
          <a:p>
            <a:pPr algn="c"/>
            <a:r>
              <a:rPr sz="900" b="1">
                <a:solidFill>
                  <a:srgbClr val="FF7200"/>
                </a:solidFill>
                <a:latin typeface="DM Sans"/>
              </a:rPr>
              <a:t>02</a:t>
            </a:r>
          </a:p>
        </p:txBody>
      </p:sp>
      <p:sp>
        <p:nvSpPr>
          <p:cNvPr id="25" name="StepLabel2"/>
          <p:cNvSpPr txBox="1"/>
          <p:nvPr/>
        </p:nvSpPr>
        <p:spPr>
          <a:xfrm>
            <a:off x="2584476" y="3090000"/>
            <a:ext cx="1530000" cy="300000"/>
          </a:xfrm>
          <a:prstGeom prst="rect">
            <a:avLst/>
          </a:prstGeom>
          <a:noFill/>
        </p:spPr>
        <p:txBody>
          <a:bodyPr wrap="square" anchor="ctr"/>
          <a:lstStyle/>
          <a:p>
            <a:pPr algn="c"/>
            <a:r>
              <a:rPr sz="1000" b="1">
                <a:solidFill>
                  <a:srgbClr val="FFFFFF"/>
                </a:solidFill>
                <a:latin typeface="DM Sans"/>
              </a:rPr>
              <a:t>View Trade Documents</a:t>
            </a:r>
          </a:p>
        </p:txBody>
      </p:sp>
      <p:sp>
        <p:nvSpPr>
          <p:cNvPr id="26" name="StepDesc2"/>
          <p:cNvSpPr txBox="1"/>
          <p:nvPr/>
        </p:nvSpPr>
        <p:spPr>
          <a:xfrm>
            <a:off x="2584476" y="3440000"/>
            <a:ext cx="1530000" cy="760000"/>
          </a:xfrm>
          <a:prstGeom prst="rect">
            <a:avLst/>
          </a:prstGeom>
          <a:noFill/>
        </p:spPr>
        <p:txBody>
          <a:bodyPr wrap="square" anchor="t"/>
          <a:lstStyle/>
          <a:p>
            <a:pPr algn="c"/>
            <a:r>
              <a:rPr sz="880" b="0">
                <a:solidFill>
                  <a:srgbClr val="B0BDCC"/>
                </a:solidFill>
                <a:latin typeface="DM Sans"/>
              </a:rPr>
              <a:t>Authority reviews Invoice, BoL, Certificate of Origin.</a:t>
            </a:r>
          </a:p>
        </p:txBody>
      </p:sp>
      <p:sp>
        <p:nvSpPr>
          <p:cNvPr id="27" name="Arrow2"/>
          <p:cNvSpPr txBox="1"/>
          <p:nvPr/>
        </p:nvSpPr>
        <p:spPr>
          <a:xfrm>
            <a:off x="418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28" name="StepBox3"/>
          <p:cNvSpPr/>
          <p:nvPr/>
        </p:nvSpPr>
        <p:spPr>
          <a:xfrm>
            <a:off x="4354476" y="2800000"/>
            <a:ext cx="1650000" cy="1480000"/>
          </a:xfrm>
          <a:prstGeom prst="roundRect">
            <a:avLst>
              <a:gd name="adj" fmla="val 20000"/>
            </a:avLst>
          </a:prstGeom>
          <a:solidFill>
            <a:srgbClr val="FF7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epNum3"/>
          <p:cNvSpPr txBox="1"/>
          <p:nvPr/>
        </p:nvSpPr>
        <p:spPr>
          <a:xfrm>
            <a:off x="4354476" y="2870000"/>
            <a:ext cx="1650000" cy="200000"/>
          </a:xfrm>
          <a:prstGeom prst="rect">
            <a:avLst/>
          </a:prstGeom>
          <a:noFill/>
        </p:spPr>
        <p:txBody>
          <a:bodyPr wrap="square" anchor="t"/>
          <a:lstStyle/>
          <a:p>
            <a:pPr algn="c"/>
            <a:r>
              <a:rPr sz="900" b="1">
                <a:solidFill>
                  <a:srgbClr val="FFFFFF"/>
                </a:solidFill>
                <a:latin typeface="DM Sans"/>
              </a:rPr>
              <a:t>03</a:t>
            </a:r>
          </a:p>
        </p:txBody>
      </p:sp>
      <p:sp>
        <p:nvSpPr>
          <p:cNvPr id="30" name="StepLabel3"/>
          <p:cNvSpPr txBox="1"/>
          <p:nvPr/>
        </p:nvSpPr>
        <p:spPr>
          <a:xfrm>
            <a:off x="4414476" y="3090000"/>
            <a:ext cx="1530000" cy="300000"/>
          </a:xfrm>
          <a:prstGeom prst="rect">
            <a:avLst/>
          </a:prstGeom>
          <a:noFill/>
        </p:spPr>
        <p:txBody>
          <a:bodyPr wrap="square" anchor="ctr"/>
          <a:lstStyle/>
          <a:p>
            <a:pPr algn="c"/>
            <a:r>
              <a:rPr sz="1000" b="1">
                <a:solidFill>
                  <a:srgbClr val="FFFFFF"/>
                </a:solidFill>
                <a:latin typeface="DM Sans"/>
              </a:rPr>
              <a:t>Check DID Verification</a:t>
            </a:r>
          </a:p>
        </p:txBody>
      </p:sp>
      <p:sp>
        <p:nvSpPr>
          <p:cNvPr id="31" name="StepDesc3"/>
          <p:cNvSpPr txBox="1"/>
          <p:nvPr/>
        </p:nvSpPr>
        <p:spPr>
          <a:xfrm>
            <a:off x="4414476" y="3440000"/>
            <a:ext cx="1530000" cy="760000"/>
          </a:xfrm>
          <a:prstGeom prst="rect">
            <a:avLst/>
          </a:prstGeom>
          <a:noFill/>
        </p:spPr>
        <p:txBody>
          <a:bodyPr wrap="square" anchor="t"/>
          <a:lstStyle/>
          <a:p>
            <a:pPr algn="c"/>
            <a:r>
              <a:rPr sz="880" b="0">
                <a:solidFill>
                  <a:srgbClr val="FFFFFF"/>
                </a:solidFill>
                <a:latin typeface="DM Sans"/>
              </a:rPr>
              <a:t>Exporter DID confirmed against national registry.</a:t>
            </a:r>
          </a:p>
        </p:txBody>
      </p:sp>
      <p:sp>
        <p:nvSpPr>
          <p:cNvPr id="32" name="Arrow3"/>
          <p:cNvSpPr txBox="1"/>
          <p:nvPr/>
        </p:nvSpPr>
        <p:spPr>
          <a:xfrm>
            <a:off x="601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33" name="StepBox4"/>
          <p:cNvSpPr/>
          <p:nvPr/>
        </p:nvSpPr>
        <p:spPr>
          <a:xfrm>
            <a:off x="618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epNum4"/>
          <p:cNvSpPr txBox="1"/>
          <p:nvPr/>
        </p:nvSpPr>
        <p:spPr>
          <a:xfrm>
            <a:off x="6184476" y="2870000"/>
            <a:ext cx="1650000" cy="200000"/>
          </a:xfrm>
          <a:prstGeom prst="rect">
            <a:avLst/>
          </a:prstGeom>
          <a:noFill/>
        </p:spPr>
        <p:txBody>
          <a:bodyPr wrap="square" anchor="t"/>
          <a:lstStyle/>
          <a:p>
            <a:pPr algn="c"/>
            <a:r>
              <a:rPr sz="900" b="1">
                <a:solidFill>
                  <a:srgbClr val="FF7200"/>
                </a:solidFill>
                <a:latin typeface="DM Sans"/>
              </a:rPr>
              <a:t>04</a:t>
            </a:r>
          </a:p>
        </p:txBody>
      </p:sp>
      <p:sp>
        <p:nvSpPr>
          <p:cNvPr id="35" name="StepLabel4"/>
          <p:cNvSpPr txBox="1"/>
          <p:nvPr/>
        </p:nvSpPr>
        <p:spPr>
          <a:xfrm>
            <a:off x="6244476" y="3090000"/>
            <a:ext cx="1530000" cy="300000"/>
          </a:xfrm>
          <a:prstGeom prst="rect">
            <a:avLst/>
          </a:prstGeom>
          <a:noFill/>
        </p:spPr>
        <p:txBody>
          <a:bodyPr wrap="square" anchor="ctr"/>
          <a:lstStyle/>
          <a:p>
            <a:pPr algn="c"/>
            <a:r>
              <a:rPr sz="1000" b="1">
                <a:solidFill>
                  <a:srgbClr val="FFFFFF"/>
                </a:solidFill>
                <a:latin typeface="DM Sans"/>
              </a:rPr>
              <a:t>Inspect XML Documents</a:t>
            </a:r>
          </a:p>
        </p:txBody>
      </p:sp>
      <p:sp>
        <p:nvSpPr>
          <p:cNvPr id="36" name="StepDesc4"/>
          <p:cNvSpPr txBox="1"/>
          <p:nvPr/>
        </p:nvSpPr>
        <p:spPr>
          <a:xfrm>
            <a:off x="6244476" y="3440000"/>
            <a:ext cx="1530000" cy="760000"/>
          </a:xfrm>
          <a:prstGeom prst="rect">
            <a:avLst/>
          </a:prstGeom>
          <a:noFill/>
        </p:spPr>
        <p:txBody>
          <a:bodyPr wrap="square" anchor="t"/>
          <a:lstStyle/>
          <a:p>
            <a:pPr algn="c"/>
            <a:r>
              <a:rPr sz="880" b="0">
                <a:solidFill>
                  <a:srgbClr val="B0BDCC"/>
                </a:solidFill>
                <a:latin typeface="DM Sans"/>
              </a:rPr>
              <a:t>Customs reviews structured data for compliance checks.</a:t>
            </a:r>
          </a:p>
        </p:txBody>
      </p:sp>
      <p:sp>
        <p:nvSpPr>
          <p:cNvPr id="37" name="Arrow4"/>
          <p:cNvSpPr txBox="1"/>
          <p:nvPr/>
        </p:nvSpPr>
        <p:spPr>
          <a:xfrm>
            <a:off x="784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38" name="StepBox5"/>
          <p:cNvSpPr/>
          <p:nvPr/>
        </p:nvSpPr>
        <p:spPr>
          <a:xfrm>
            <a:off x="801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epNum5"/>
          <p:cNvSpPr txBox="1"/>
          <p:nvPr/>
        </p:nvSpPr>
        <p:spPr>
          <a:xfrm>
            <a:off x="8014476" y="2870000"/>
            <a:ext cx="1650000" cy="200000"/>
          </a:xfrm>
          <a:prstGeom prst="rect">
            <a:avLst/>
          </a:prstGeom>
          <a:noFill/>
        </p:spPr>
        <p:txBody>
          <a:bodyPr wrap="square" anchor="t"/>
          <a:lstStyle/>
          <a:p>
            <a:pPr algn="c"/>
            <a:r>
              <a:rPr sz="900" b="1">
                <a:solidFill>
                  <a:srgbClr val="FF7200"/>
                </a:solidFill>
                <a:latin typeface="DM Sans"/>
              </a:rPr>
              <a:t>05</a:t>
            </a:r>
          </a:p>
        </p:txBody>
      </p:sp>
      <p:sp>
        <p:nvSpPr>
          <p:cNvPr id="40" name="StepLabel5"/>
          <p:cNvSpPr txBox="1"/>
          <p:nvPr/>
        </p:nvSpPr>
        <p:spPr>
          <a:xfrm>
            <a:off x="8074476" y="3090000"/>
            <a:ext cx="1530000" cy="300000"/>
          </a:xfrm>
          <a:prstGeom prst="rect">
            <a:avLst/>
          </a:prstGeom>
          <a:noFill/>
        </p:spPr>
        <p:txBody>
          <a:bodyPr wrap="square" anchor="ctr"/>
          <a:lstStyle/>
          <a:p>
            <a:pPr algn="c"/>
            <a:r>
              <a:rPr sz="1000" b="1">
                <a:solidFill>
                  <a:srgbClr val="FFFFFF"/>
                </a:solidFill>
                <a:latin typeface="DM Sans"/>
              </a:rPr>
              <a:t>Approve or Flag</a:t>
            </a:r>
          </a:p>
        </p:txBody>
      </p:sp>
      <p:sp>
        <p:nvSpPr>
          <p:cNvPr id="41" name="StepDesc5"/>
          <p:cNvSpPr txBox="1"/>
          <p:nvPr/>
        </p:nvSpPr>
        <p:spPr>
          <a:xfrm>
            <a:off x="8074476" y="3440000"/>
            <a:ext cx="1530000" cy="760000"/>
          </a:xfrm>
          <a:prstGeom prst="rect">
            <a:avLst/>
          </a:prstGeom>
          <a:noFill/>
        </p:spPr>
        <p:txBody>
          <a:bodyPr wrap="square" anchor="t"/>
          <a:lstStyle/>
          <a:p>
            <a:pPr algn="c"/>
            <a:r>
              <a:rPr sz="880" b="0">
                <a:solidFill>
                  <a:srgbClr val="B0BDCC"/>
                </a:solidFill>
                <a:latin typeface="DM Sans"/>
              </a:rPr>
              <a:t>Shipment approved for clearance or flagged for inspection.</a:t>
            </a:r>
          </a:p>
        </p:txBody>
      </p:sp>
      <p:sp>
        <p:nvSpPr>
          <p:cNvPr id="42" name="Arrow5"/>
          <p:cNvSpPr txBox="1"/>
          <p:nvPr/>
        </p:nvSpPr>
        <p:spPr>
          <a:xfrm>
            <a:off x="9674476" y="3410000"/>
            <a:ext cx="160000" cy="260000"/>
          </a:xfrm>
          <a:prstGeom prst="rect">
            <a:avLst/>
          </a:prstGeom>
          <a:noFill/>
        </p:spPr>
        <p:txBody>
          <a:bodyPr wrap="square" anchor="ctr"/>
          <a:lstStyle/>
          <a:p>
            <a:pPr algn="c"/>
            <a:r>
              <a:rPr sz="1100" b="1">
                <a:solidFill>
                  <a:srgbClr val="FF7200"/>
                </a:solidFill>
                <a:latin typeface="DM Sans"/>
              </a:rPr>
              <a:t>→</a:t>
            </a:r>
          </a:p>
        </p:txBody>
      </p:sp>
      <p:sp>
        <p:nvSpPr>
          <p:cNvPr id="43" name="StepBox6"/>
          <p:cNvSpPr/>
          <p:nvPr/>
        </p:nvSpPr>
        <p:spPr>
          <a:xfrm>
            <a:off x="9844476" y="2800000"/>
            <a:ext cx="1650000" cy="148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tepNum6"/>
          <p:cNvSpPr txBox="1"/>
          <p:nvPr/>
        </p:nvSpPr>
        <p:spPr>
          <a:xfrm>
            <a:off x="9844476" y="2870000"/>
            <a:ext cx="1650000" cy="200000"/>
          </a:xfrm>
          <a:prstGeom prst="rect">
            <a:avLst/>
          </a:prstGeom>
          <a:noFill/>
        </p:spPr>
        <p:txBody>
          <a:bodyPr wrap="square" anchor="t"/>
          <a:lstStyle/>
          <a:p>
            <a:pPr algn="c"/>
            <a:r>
              <a:rPr sz="900" b="1">
                <a:solidFill>
                  <a:srgbClr val="FF7200"/>
                </a:solidFill>
                <a:latin typeface="DM Sans"/>
              </a:rPr>
              <a:t>06</a:t>
            </a:r>
          </a:p>
        </p:txBody>
      </p:sp>
      <p:sp>
        <p:nvSpPr>
          <p:cNvPr id="45" name="StepLabel6"/>
          <p:cNvSpPr txBox="1"/>
          <p:nvPr/>
        </p:nvSpPr>
        <p:spPr>
          <a:xfrm>
            <a:off x="9904476" y="3090000"/>
            <a:ext cx="1530000" cy="300000"/>
          </a:xfrm>
          <a:prstGeom prst="rect">
            <a:avLst/>
          </a:prstGeom>
          <a:noFill/>
        </p:spPr>
        <p:txBody>
          <a:bodyPr wrap="square" anchor="ctr"/>
          <a:lstStyle/>
          <a:p>
            <a:pPr algn="c"/>
            <a:r>
              <a:rPr sz="1000" b="1">
                <a:solidFill>
                  <a:srgbClr val="FFFFFF"/>
                </a:solidFill>
                <a:latin typeface="DM Sans"/>
              </a:rPr>
              <a:t>Ledger Entry Created</a:t>
            </a:r>
          </a:p>
        </p:txBody>
      </p:sp>
      <p:sp>
        <p:nvSpPr>
          <p:cNvPr id="46" name="StepDesc6"/>
          <p:cNvSpPr txBox="1"/>
          <p:nvPr/>
        </p:nvSpPr>
        <p:spPr>
          <a:xfrm>
            <a:off x="9904476" y="3440000"/>
            <a:ext cx="1530000" cy="760000"/>
          </a:xfrm>
          <a:prstGeom prst="rect">
            <a:avLst/>
          </a:prstGeom>
          <a:noFill/>
        </p:spPr>
        <p:txBody>
          <a:bodyPr wrap="square" anchor="t"/>
          <a:lstStyle/>
          <a:p>
            <a:pPr algn="c"/>
            <a:r>
              <a:rPr sz="880" b="0">
                <a:solidFill>
                  <a:srgbClr val="B0BDCC"/>
                </a:solidFill>
                <a:latin typeface="DM Sans"/>
              </a:rPr>
              <a:t>Decision anchored. Full audit trail preserved.</a:t>
            </a:r>
          </a:p>
        </p:txBody>
      </p:sp>
      <p:sp>
        <p:nvSpPr>
          <p:cNvPr id="47" name="OutcomeBg"/>
          <p:cNvSpPr/>
          <p:nvPr/>
        </p:nvSpPr>
        <p:spPr>
          <a:xfrm>
            <a:off x="411480" y="4450000"/>
            <a:ext cx="11365992" cy="300000"/>
          </a:xfrm>
          <a:prstGeom prst="rect">
            <a:avLst/>
          </a:prstGeom>
          <a:solidFill>
            <a:srgbClr val="0C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utcomeArrow"/>
          <p:cNvSpPr txBox="1"/>
          <p:nvPr/>
        </p:nvSpPr>
        <p:spPr>
          <a:xfrm>
            <a:off x="576072" y="4490000"/>
            <a:ext cx="300000" cy="220000"/>
          </a:xfrm>
          <a:prstGeom prst="rect">
            <a:avLst/>
          </a:prstGeom>
          <a:noFill/>
        </p:spPr>
        <p:txBody>
          <a:bodyPr wrap="square" anchor="ctr"/>
          <a:lstStyle/>
          <a:p>
            <a:pPr algn="c"/>
            <a:r>
              <a:rPr sz="1100" b="1">
                <a:solidFill>
                  <a:srgbClr val="FF7200"/>
                </a:solidFill>
                <a:latin typeface="DM Sans"/>
              </a:rPr>
              <a:t>→</a:t>
            </a:r>
          </a:p>
        </p:txBody>
      </p:sp>
      <p:sp>
        <p:nvSpPr>
          <p:cNvPr id="49" name="OutcomeText"/>
          <p:cNvSpPr txBox="1"/>
          <p:nvPr/>
        </p:nvSpPr>
        <p:spPr>
          <a:xfrm>
            <a:off x="950000" y="4490000"/>
            <a:ext cx="10700000" cy="220000"/>
          </a:xfrm>
          <a:prstGeom prst="rect">
            <a:avLst/>
          </a:prstGeom>
          <a:noFill/>
        </p:spPr>
        <p:txBody>
          <a:bodyPr wrap="square" anchor="ctr"/>
          <a:lstStyle/>
          <a:p>
            <a:pPr algn="l"/>
            <a:r>
              <a:rPr sz="1000" b="0">
                <a:solidFill>
                  <a:srgbClr val="B0BDCC"/>
                </a:solidFill>
                <a:latin typeface="DM Sans"/>
              </a:rPr>
              <a:t>Outcome: Destination customs verifies identity and documents digitally — faster clearance, zero document fraud.</a:t>
            </a:r>
          </a:p>
        </p:txBody>
      </p:sp>
      <p:sp>
        <p:nvSpPr>
          <p:cNvPr id="50" name="FooterBg"/>
          <p:cNvSpPr/>
          <p:nvPr/>
        </p:nvSpPr>
        <p:spPr>
          <a:xfrm>
            <a:off x="411480" y="5742432"/>
            <a:ext cx="11365992" cy="7132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ooterArrow"/>
          <p:cNvSpPr txBox="1"/>
          <p:nvPr/>
        </p:nvSpPr>
        <p:spPr>
          <a:xfrm>
            <a:off x="576072" y="5797296"/>
            <a:ext cx="274320" cy="603504"/>
          </a:xfrm>
          <a:prstGeom prst="rect">
            <a:avLst/>
          </a:prstGeom>
          <a:noFill/>
        </p:spPr>
        <p:txBody>
          <a:bodyPr wrap="square" anchor="ctr"/>
          <a:lstStyle/>
          <a:p>
            <a:pPr algn="l"/>
            <a:r>
              <a:rPr sz="1300" b="1">
                <a:solidFill>
                  <a:srgbClr val="FF7200"/>
                </a:solidFill>
                <a:latin typeface="DM Sans"/>
              </a:rPr>
              <a:t>→</a:t>
            </a:r>
          </a:p>
        </p:txBody>
      </p:sp>
      <p:sp>
        <p:nvSpPr>
          <p:cNvPr id="52" name="FooterText"/>
          <p:cNvSpPr txBox="1"/>
          <p:nvPr/>
        </p:nvSpPr>
        <p:spPr>
          <a:xfrm>
            <a:off x="914400" y="5797296"/>
            <a:ext cx="10771632" cy="603504"/>
          </a:xfrm>
          <a:prstGeom prst="rect">
            <a:avLst/>
          </a:prstGeom>
          <a:noFill/>
        </p:spPr>
        <p:txBody>
          <a:bodyPr wrap="square" anchor="ctr"/>
          <a:lstStyle/>
          <a:p>
            <a:pPr algn="l"/>
            <a:r>
              <a:rPr sz="1000" b="0">
                <a:solidFill>
                  <a:srgbClr val="B0BDCC"/>
                </a:solidFill>
                <a:latin typeface="DM Sans"/>
              </a:rPr>
              <a:t>Pre-arrival digital verification on ADAPT reduces customs dwell time and eliminates document fraud at destination ports.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224E"/>
        </a:solidFill>
        <a:effectLst/>
      </p:bgPr>
    </p:bg>
    <p:spTree>
      <p:nvGrpSpPr>
        <p:cNvPr id="1" name=""/>
        <p:cNvGrpSpPr/>
        <p:nvPr/>
      </p:nvGrpSpPr>
      <p:grpSpPr/>
      <p:sp>
        <p:nvSpPr>
          <p:cNvPr id="2" name="LogoBg"/>
          <p:cNvSpPr/>
          <p:nvPr/>
        </p:nvSpPr>
        <p:spPr>
          <a:xfrm>
            <a:off x="411480" y="246888"/>
            <a:ext cx="384048" cy="384048"/>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ogoEmoji"/>
          <p:cNvSpPr txBox="1"/>
          <p:nvPr/>
        </p:nvSpPr>
        <p:spPr>
          <a:xfrm>
            <a:off x="411480" y="246888"/>
            <a:ext cx="384048" cy="384048"/>
          </a:xfrm>
          <a:prstGeom prst="rect">
            <a:avLst/>
          </a:prstGeom>
          <a:noFill/>
        </p:spPr>
        <p:txBody>
          <a:bodyPr wrap="square" anchor="ctr"/>
          <a:lstStyle/>
          <a:p>
            <a:pPr algn="c"/>
            <a:r>
              <a:rPr sz="1400" b="0">
                <a:solidFill>
                  <a:srgbClr val="FFFFFF"/>
                </a:solidFill>
                <a:latin typeface="DM Sans"/>
              </a:rPr>
              <a:t>🌍</a:t>
            </a:r>
          </a:p>
        </p:txBody>
      </p:sp>
      <p:sp>
        <p:nvSpPr>
          <p:cNvPr id="4" name="BrandText"/>
          <p:cNvSpPr txBox="1"/>
          <p:nvPr/>
        </p:nvSpPr>
        <p:spPr>
          <a:xfrm>
            <a:off x="850392" y="256032"/>
            <a:ext cx="1280160" cy="228600"/>
          </a:xfrm>
          <a:prstGeom prst="rect">
            <a:avLst/>
          </a:prstGeom>
          <a:noFill/>
        </p:spPr>
        <p:txBody>
          <a:bodyPr wrap="square" anchor="t"/>
          <a:lstStyle/>
          <a:p>
            <a:pPr algn="l"/>
            <a:r>
              <a:rPr sz="1150" b="1">
                <a:solidFill>
                  <a:srgbClr val="FFFFFF"/>
                </a:solidFill>
                <a:latin typeface="DM Sans"/>
              </a:rPr>
              <a:t>ADAPT</a:t>
            </a:r>
          </a:p>
        </p:txBody>
      </p:sp>
      <p:sp>
        <p:nvSpPr>
          <p:cNvPr id="5" name="PageNum"/>
          <p:cNvSpPr txBox="1"/>
          <p:nvPr/>
        </p:nvSpPr>
        <p:spPr>
          <a:xfrm>
            <a:off x="11064240" y="274320"/>
            <a:ext cx="914400" cy="274320"/>
          </a:xfrm>
          <a:prstGeom prst="rect">
            <a:avLst/>
          </a:prstGeom>
          <a:noFill/>
        </p:spPr>
        <p:txBody>
          <a:bodyPr wrap="none" anchor="t">
            <a:spAutoFit/>
          </a:bodyPr>
          <a:lstStyle/>
          <a:p>
            <a:pPr algn="r"/>
            <a:r>
              <a:rPr sz="1100" b="1">
                <a:solidFill>
                  <a:srgbClr val="FF7200"/>
                </a:solidFill>
                <a:latin typeface="DM Sans"/>
              </a:rPr>
              <a:t>12</a:t>
            </a:r>
            <a:r>
              <a:rPr sz="1100" b="0">
                <a:solidFill>
                  <a:srgbClr val="708299"/>
                </a:solidFill>
                <a:latin typeface="DM Sans"/>
              </a:rPr>
              <a:t xml:space="preserve"> / 12</a:t>
            </a:r>
          </a:p>
        </p:txBody>
      </p:sp>
      <p:sp>
        <p:nvSpPr>
          <p:cNvPr id="6" name="SectionBg"/>
          <p:cNvSpPr/>
          <p:nvPr/>
        </p:nvSpPr>
        <p:spPr>
          <a:xfrm>
            <a:off x="411480" y="804672"/>
            <a:ext cx="2286000" cy="2560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onLabel"/>
          <p:cNvSpPr txBox="1"/>
          <p:nvPr/>
        </p:nvSpPr>
        <p:spPr>
          <a:xfrm>
            <a:off x="484632" y="832104"/>
            <a:ext cx="2286000" cy="219456"/>
          </a:xfrm>
          <a:prstGeom prst="rect">
            <a:avLst/>
          </a:prstGeom>
          <a:noFill/>
        </p:spPr>
        <p:txBody>
          <a:bodyPr wrap="square" anchor="t"/>
          <a:lstStyle/>
          <a:p>
            <a:pPr algn="l"/>
            <a:r>
              <a:rPr sz="950" b="1">
                <a:solidFill>
                  <a:srgbClr val="FF7200"/>
                </a:solidFill>
                <a:latin typeface="DM Sans"/>
              </a:rPr>
              <a:t>● DATA SHARING &amp; PERMISSIONS</a:t>
            </a:r>
          </a:p>
        </p:txBody>
      </p:sp>
      <p:sp>
        <p:nvSpPr>
          <p:cNvPr id="8" name="Title"/>
          <p:cNvSpPr txBox="1"/>
          <p:nvPr/>
        </p:nvSpPr>
        <p:spPr>
          <a:xfrm>
            <a:off x="411480" y="1135000"/>
            <a:ext cx="11338560" cy="440000"/>
          </a:xfrm>
          <a:prstGeom prst="rect">
            <a:avLst/>
          </a:prstGeom>
          <a:noFill/>
        </p:spPr>
        <p:txBody>
          <a:bodyPr wrap="square" anchor="t"/>
          <a:lstStyle/>
          <a:p>
            <a:pPr algn="l"/>
            <a:r>
              <a:rPr sz="2400" b="1">
                <a:solidFill>
                  <a:srgbClr val="FFFFFF"/>
                </a:solidFill>
                <a:latin typeface="DM Sans"/>
              </a:rPr>
              <a:t>Flexible, Policy-Based Data Sharing</a:t>
            </a:r>
          </a:p>
        </p:txBody>
      </p:sp>
      <p:sp>
        <p:nvSpPr>
          <p:cNvPr id="9" name="Subtitle"/>
          <p:cNvSpPr txBox="1"/>
          <p:nvPr/>
        </p:nvSpPr>
        <p:spPr>
          <a:xfrm>
            <a:off x="411480" y="1620000"/>
            <a:ext cx="11000000" cy="240000"/>
          </a:xfrm>
          <a:prstGeom prst="rect">
            <a:avLst/>
          </a:prstGeom>
          <a:noFill/>
        </p:spPr>
        <p:txBody>
          <a:bodyPr wrap="square" anchor="t"/>
          <a:lstStyle/>
          <a:p>
            <a:pPr algn="l"/>
            <a:r>
              <a:rPr sz="1050" b="0">
                <a:solidFill>
                  <a:srgbClr val="B0BDCC"/>
                </a:solidFill>
                <a:latin typeface="DM Sans"/>
              </a:rPr>
              <a:t>Share exactly what you choose — all documents, selected documents, or specific data fields.</a:t>
            </a:r>
          </a:p>
        </p:txBody>
      </p:sp>
      <p:sp>
        <p:nvSpPr>
          <p:cNvPr id="10" name="ColBg1"/>
          <p:cNvSpPr/>
          <p:nvPr/>
        </p:nvSpPr>
        <p:spPr>
          <a:xfrm>
            <a:off x="545236" y="2000000"/>
            <a:ext cx="3566160" cy="290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lIcon1"/>
          <p:cNvSpPr txBox="1"/>
          <p:nvPr/>
        </p:nvSpPr>
        <p:spPr>
          <a:xfrm>
            <a:off x="545236" y="2100000"/>
            <a:ext cx="3566160" cy="400000"/>
          </a:xfrm>
          <a:prstGeom prst="rect">
            <a:avLst/>
          </a:prstGeom>
          <a:noFill/>
        </p:spPr>
        <p:txBody>
          <a:bodyPr wrap="square" anchor="t"/>
          <a:lstStyle/>
          <a:p>
            <a:pPr algn="c"/>
            <a:r>
              <a:rPr sz="2000" b="0">
                <a:solidFill>
                  <a:srgbClr val="FFFFFF"/>
                </a:solidFill>
                <a:latin typeface="DM Sans"/>
              </a:rPr>
              <a:t>📄</a:t>
            </a:r>
          </a:p>
        </p:txBody>
      </p:sp>
      <p:sp>
        <p:nvSpPr>
          <p:cNvPr id="12" name="ColLabel1"/>
          <p:cNvSpPr txBox="1"/>
          <p:nvPr/>
        </p:nvSpPr>
        <p:spPr>
          <a:xfrm>
            <a:off x="625236" y="2560000"/>
            <a:ext cx="3406160" cy="340000"/>
          </a:xfrm>
          <a:prstGeom prst="rect">
            <a:avLst/>
          </a:prstGeom>
          <a:noFill/>
        </p:spPr>
        <p:txBody>
          <a:bodyPr wrap="square" anchor="ctr"/>
          <a:lstStyle/>
          <a:p>
            <a:pPr algn="c"/>
            <a:r>
              <a:rPr sz="1200" b="1">
                <a:solidFill>
                  <a:srgbClr val="FFFFFF"/>
                </a:solidFill>
                <a:latin typeface="DM Sans"/>
              </a:rPr>
              <a:t>Full Consignment Access</a:t>
            </a:r>
          </a:p>
        </p:txBody>
      </p:sp>
      <p:sp>
        <p:nvSpPr>
          <p:cNvPr id="13" name="ColDiv1"/>
          <p:cNvSpPr/>
          <p:nvPr/>
        </p:nvSpPr>
        <p:spPr>
          <a:xfrm>
            <a:off x="705236" y="2960000"/>
            <a:ext cx="3246160" cy="18000"/>
          </a:xfrm>
          <a:prstGeom prst="rect">
            <a:avLst/>
          </a:prstGeom>
          <a:solidFill>
            <a:srgbClr val="2E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olDesc1"/>
          <p:cNvSpPr txBox="1"/>
          <p:nvPr/>
        </p:nvSpPr>
        <p:spPr>
          <a:xfrm>
            <a:off x="625236" y="3040000"/>
            <a:ext cx="3406160" cy="1200000"/>
          </a:xfrm>
          <a:prstGeom prst="rect">
            <a:avLst/>
          </a:prstGeom>
          <a:noFill/>
        </p:spPr>
        <p:txBody>
          <a:bodyPr wrap="square" anchor="t"/>
          <a:lstStyle/>
          <a:p>
            <a:pPr algn="l"/>
            <a:r>
              <a:rPr sz="1000" b="0">
                <a:solidFill>
                  <a:srgbClr val="B0BDCC"/>
                </a:solidFill>
                <a:latin typeface="DM Sans"/>
              </a:rPr>
              <a:t>Share the complete consignment record — all trade documents, metadata, shipment status and history — with a named organisation or role.</a:t>
            </a:r>
          </a:p>
        </p:txBody>
      </p:sp>
      <p:sp>
        <p:nvSpPr>
          <p:cNvPr id="15" name="ColUse1"/>
          <p:cNvSpPr txBox="1"/>
          <p:nvPr/>
        </p:nvSpPr>
        <p:spPr>
          <a:xfrm>
            <a:off x="625236" y="4380000"/>
            <a:ext cx="3406160" cy="450000"/>
          </a:xfrm>
          <a:prstGeom prst="rect">
            <a:avLst/>
          </a:prstGeom>
          <a:noFill/>
        </p:spPr>
        <p:txBody>
          <a:bodyPr wrap="square" anchor="t"/>
          <a:lstStyle/>
          <a:p>
            <a:pPr algn="l"/>
            <a:r>
              <a:rPr sz="900" b="0">
                <a:solidFill>
                  <a:srgbClr val="708299"/>
                </a:solidFill>
                <a:latin typeface="DM Sans"/>
              </a:rPr>
              <a:t>Use case: Sharing with your customs authority or lead financing bank.</a:t>
            </a:r>
          </a:p>
        </p:txBody>
      </p:sp>
      <p:sp>
        <p:nvSpPr>
          <p:cNvPr id="16" name="ColBg2"/>
          <p:cNvSpPr/>
          <p:nvPr/>
        </p:nvSpPr>
        <p:spPr>
          <a:xfrm>
            <a:off x="4311396" y="2000000"/>
            <a:ext cx="3566160" cy="2900000"/>
          </a:xfrm>
          <a:prstGeom prst="roundRect">
            <a:avLst>
              <a:gd name="adj" fmla="val 20000"/>
            </a:avLst>
          </a:prstGeom>
          <a:solidFill>
            <a:srgbClr val="1C3055"/>
          </a:solidFill>
          <a:ln w="19050">
            <a:solidFill>
              <a:srgbClr val="FF72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lIcon2"/>
          <p:cNvSpPr txBox="1"/>
          <p:nvPr/>
        </p:nvSpPr>
        <p:spPr>
          <a:xfrm>
            <a:off x="4311396" y="2100000"/>
            <a:ext cx="3566160" cy="400000"/>
          </a:xfrm>
          <a:prstGeom prst="rect">
            <a:avLst/>
          </a:prstGeom>
          <a:noFill/>
        </p:spPr>
        <p:txBody>
          <a:bodyPr wrap="square" anchor="t"/>
          <a:lstStyle/>
          <a:p>
            <a:pPr algn="c"/>
            <a:r>
              <a:rPr sz="2000" b="0">
                <a:solidFill>
                  <a:srgbClr val="FFFFFF"/>
                </a:solidFill>
                <a:latin typeface="DM Sans"/>
              </a:rPr>
              <a:t>🔍</a:t>
            </a:r>
          </a:p>
        </p:txBody>
      </p:sp>
      <p:sp>
        <p:nvSpPr>
          <p:cNvPr id="18" name="ColLabel2"/>
          <p:cNvSpPr txBox="1"/>
          <p:nvPr/>
        </p:nvSpPr>
        <p:spPr>
          <a:xfrm>
            <a:off x="4391396" y="2560000"/>
            <a:ext cx="3406160" cy="340000"/>
          </a:xfrm>
          <a:prstGeom prst="rect">
            <a:avLst/>
          </a:prstGeom>
          <a:noFill/>
        </p:spPr>
        <p:txBody>
          <a:bodyPr wrap="square" anchor="ctr"/>
          <a:lstStyle/>
          <a:p>
            <a:pPr algn="c"/>
            <a:r>
              <a:rPr sz="1200" b="1">
                <a:solidFill>
                  <a:srgbClr val="FF7200"/>
                </a:solidFill>
                <a:latin typeface="DM Sans"/>
              </a:rPr>
              <a:t>Specific Documents</a:t>
            </a:r>
          </a:p>
        </p:txBody>
      </p:sp>
      <p:sp>
        <p:nvSpPr>
          <p:cNvPr id="19" name="ColDiv2"/>
          <p:cNvSpPr/>
          <p:nvPr/>
        </p:nvSpPr>
        <p:spPr>
          <a:xfrm>
            <a:off x="4471396" y="2960000"/>
            <a:ext cx="3246160" cy="18000"/>
          </a:xfrm>
          <a:prstGeom prst="rect">
            <a:avLst/>
          </a:prstGeom>
          <a:solidFill>
            <a:srgbClr val="2E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olDesc2"/>
          <p:cNvSpPr txBox="1"/>
          <p:nvPr/>
        </p:nvSpPr>
        <p:spPr>
          <a:xfrm>
            <a:off x="4391396" y="3040000"/>
            <a:ext cx="3406160" cy="1200000"/>
          </a:xfrm>
          <a:prstGeom prst="rect">
            <a:avLst/>
          </a:prstGeom>
          <a:noFill/>
        </p:spPr>
        <p:txBody>
          <a:bodyPr wrap="square" anchor="t"/>
          <a:lstStyle/>
          <a:p>
            <a:pPr algn="l"/>
            <a:r>
              <a:rPr sz="1000" b="0">
                <a:solidFill>
                  <a:srgbClr val="B0BDCC"/>
                </a:solidFill>
                <a:latin typeface="DM Sans"/>
              </a:rPr>
              <a:t>Share only selected documents — such as a Certificate of Origin or Commercial Invoice — while keeping other files private.</a:t>
            </a:r>
          </a:p>
        </p:txBody>
      </p:sp>
      <p:sp>
        <p:nvSpPr>
          <p:cNvPr id="21" name="ColUse2"/>
          <p:cNvSpPr txBox="1"/>
          <p:nvPr/>
        </p:nvSpPr>
        <p:spPr>
          <a:xfrm>
            <a:off x="4391396" y="4380000"/>
            <a:ext cx="3406160" cy="450000"/>
          </a:xfrm>
          <a:prstGeom prst="rect">
            <a:avLst/>
          </a:prstGeom>
          <a:noFill/>
        </p:spPr>
        <p:txBody>
          <a:bodyPr wrap="square" anchor="t"/>
          <a:lstStyle/>
          <a:p>
            <a:pPr algn="l"/>
            <a:r>
              <a:rPr sz="900" b="0">
                <a:solidFill>
                  <a:srgbClr val="708299"/>
                </a:solidFill>
                <a:latin typeface="DM Sans"/>
              </a:rPr>
              <a:t>Use case: Sharing proof of origin with a regulator without exposing financials.</a:t>
            </a:r>
          </a:p>
        </p:txBody>
      </p:sp>
      <p:sp>
        <p:nvSpPr>
          <p:cNvPr id="22" name="ColBg3"/>
          <p:cNvSpPr/>
          <p:nvPr/>
        </p:nvSpPr>
        <p:spPr>
          <a:xfrm>
            <a:off x="8077556" y="2000000"/>
            <a:ext cx="3566160" cy="2900000"/>
          </a:xfrm>
          <a:prstGeom prst="roundRect">
            <a:avLst>
              <a:gd name="adj" fmla="val 20000"/>
            </a:avLst>
          </a:prstGeom>
          <a:solidFill>
            <a:srgbClr val="1C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lIcon3"/>
          <p:cNvSpPr txBox="1"/>
          <p:nvPr/>
        </p:nvSpPr>
        <p:spPr>
          <a:xfrm>
            <a:off x="8077556" y="2100000"/>
            <a:ext cx="3566160" cy="400000"/>
          </a:xfrm>
          <a:prstGeom prst="rect">
            <a:avLst/>
          </a:prstGeom>
          <a:noFill/>
        </p:spPr>
        <p:txBody>
          <a:bodyPr wrap="square" anchor="t"/>
          <a:lstStyle/>
          <a:p>
            <a:pPr algn="c"/>
            <a:r>
              <a:rPr sz="2000" b="0">
                <a:solidFill>
                  <a:srgbClr val="FFFFFF"/>
                </a:solidFill>
                <a:latin typeface="DM Sans"/>
              </a:rPr>
              <a:t>⚙️</a:t>
            </a:r>
          </a:p>
        </p:txBody>
      </p:sp>
      <p:sp>
        <p:nvSpPr>
          <p:cNvPr id="24" name="ColLabel3"/>
          <p:cNvSpPr txBox="1"/>
          <p:nvPr/>
        </p:nvSpPr>
        <p:spPr>
          <a:xfrm>
            <a:off x="8157556" y="2560000"/>
            <a:ext cx="3406160" cy="340000"/>
          </a:xfrm>
          <a:prstGeom prst="rect">
            <a:avLst/>
          </a:prstGeom>
          <a:noFill/>
        </p:spPr>
        <p:txBody>
          <a:bodyPr wrap="square" anchor="ctr"/>
          <a:lstStyle/>
          <a:p>
            <a:pPr algn="c"/>
            <a:r>
              <a:rPr sz="1200" b="1">
                <a:solidFill>
                  <a:srgbClr val="FFFFFF"/>
                </a:solidFill>
                <a:latin typeface="DM Sans"/>
              </a:rPr>
              <a:t>Specific Data Fields</a:t>
            </a:r>
          </a:p>
        </p:txBody>
      </p:sp>
      <p:sp>
        <p:nvSpPr>
          <p:cNvPr id="25" name="ColDiv3"/>
          <p:cNvSpPr/>
          <p:nvPr/>
        </p:nvSpPr>
        <p:spPr>
          <a:xfrm>
            <a:off x="8237556" y="2960000"/>
            <a:ext cx="3246160" cy="18000"/>
          </a:xfrm>
          <a:prstGeom prst="rect">
            <a:avLst/>
          </a:prstGeom>
          <a:solidFill>
            <a:srgbClr val="2E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lDesc3"/>
          <p:cNvSpPr txBox="1"/>
          <p:nvPr/>
        </p:nvSpPr>
        <p:spPr>
          <a:xfrm>
            <a:off x="8157556" y="3040000"/>
            <a:ext cx="3406160" cy="1200000"/>
          </a:xfrm>
          <a:prstGeom prst="rect">
            <a:avLst/>
          </a:prstGeom>
          <a:noFill/>
        </p:spPr>
        <p:txBody>
          <a:bodyPr wrap="square" anchor="t"/>
          <a:lstStyle/>
          <a:p>
            <a:pPr algn="l"/>
            <a:r>
              <a:rPr sz="1000" b="0">
                <a:solidFill>
                  <a:srgbClr val="B0BDCC"/>
                </a:solidFill>
                <a:latin typeface="DM Sans"/>
              </a:rPr>
              <a:t>Share a defined subset of data fields — for example, shipment route and product type — without exposing volumes, pricing or counterparty details.</a:t>
            </a:r>
          </a:p>
        </p:txBody>
      </p:sp>
      <p:sp>
        <p:nvSpPr>
          <p:cNvPr id="27" name="ColUse3"/>
          <p:cNvSpPr txBox="1"/>
          <p:nvPr/>
        </p:nvSpPr>
        <p:spPr>
          <a:xfrm>
            <a:off x="8157556" y="4380000"/>
            <a:ext cx="3406160" cy="450000"/>
          </a:xfrm>
          <a:prstGeom prst="rect">
            <a:avLst/>
          </a:prstGeom>
          <a:noFill/>
        </p:spPr>
        <p:txBody>
          <a:bodyPr wrap="square" anchor="t"/>
          <a:lstStyle/>
          <a:p>
            <a:pPr algn="l"/>
            <a:r>
              <a:rPr sz="900" b="0">
                <a:solidFill>
                  <a:srgbClr val="708299"/>
                </a:solidFill>
                <a:latin typeface="DM Sans"/>
              </a:rPr>
              <a:t>Use case: Statistical reporting to a trade regulator or central bank.</a:t>
            </a:r>
          </a:p>
        </p:txBody>
      </p:sp>
      <p:sp>
        <p:nvSpPr>
          <p:cNvPr id="28" name="PolicyBg"/>
          <p:cNvSpPr/>
          <p:nvPr/>
        </p:nvSpPr>
        <p:spPr>
          <a:xfrm>
            <a:off x="411480" y="5080000"/>
            <a:ext cx="11365992" cy="450000"/>
          </a:xfrm>
          <a:prstGeom prst="rect">
            <a:avLst/>
          </a:prstGeom>
          <a:solidFill>
            <a:srgbClr val="13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olicyArrow"/>
          <p:cNvSpPr txBox="1"/>
          <p:nvPr/>
        </p:nvSpPr>
        <p:spPr>
          <a:xfrm>
            <a:off x="576072" y="5140000"/>
            <a:ext cx="300000" cy="330000"/>
          </a:xfrm>
          <a:prstGeom prst="rect">
            <a:avLst/>
          </a:prstGeom>
          <a:noFill/>
        </p:spPr>
        <p:txBody>
          <a:bodyPr wrap="square" anchor="ctr"/>
          <a:lstStyle/>
          <a:p>
            <a:pPr algn="c"/>
            <a:r>
              <a:rPr sz="1200" b="1">
                <a:solidFill>
                  <a:srgbClr val="FF7200"/>
                </a:solidFill>
                <a:latin typeface="DM Sans"/>
              </a:rPr>
              <a:t>→</a:t>
            </a:r>
          </a:p>
        </p:txBody>
      </p:sp>
      <p:sp>
        <p:nvSpPr>
          <p:cNvPr id="30" name="PolicyText"/>
          <p:cNvSpPr txBox="1"/>
          <p:nvPr/>
        </p:nvSpPr>
        <p:spPr>
          <a:xfrm>
            <a:off x="950000" y="5140000"/>
            <a:ext cx="10600000" cy="330000"/>
          </a:xfrm>
          <a:prstGeom prst="rect">
            <a:avLst/>
          </a:prstGeom>
          <a:noFill/>
        </p:spPr>
        <p:txBody>
          <a:bodyPr wrap="square" anchor="ctr"/>
          <a:lstStyle/>
          <a:p>
            <a:pPr algn="l"/>
            <a:r>
              <a:rPr sz="1000" b="0">
                <a:solidFill>
                  <a:srgbClr val="B0BDCC"/>
                </a:solidFill>
                <a:latin typeface="DM Sans"/>
              </a:rPr>
              <a:t>All sharing is governed by machine-readable policies attached to each consignment — permissions can be granted, scoped, and revoked at any time.</a:t>
            </a:r>
          </a:p>
        </p:txBody>
      </p:sp>
      <p:sp>
        <p:nvSpPr>
          <p:cNvPr id="31" name="FooterBg"/>
          <p:cNvSpPr/>
          <p:nvPr/>
        </p:nvSpPr>
        <p:spPr>
          <a:xfrm>
            <a:off x="411480" y="5742432"/>
            <a:ext cx="11365992" cy="713232"/>
          </a:xfrm>
          <a:prstGeom prst="rect">
            <a:avLst/>
          </a:prstGeom>
          <a:solidFill>
            <a:srgbClr val="2B1A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ooterArrow"/>
          <p:cNvSpPr txBox="1"/>
          <p:nvPr/>
        </p:nvSpPr>
        <p:spPr>
          <a:xfrm>
            <a:off x="576072" y="5797296"/>
            <a:ext cx="274320" cy="603504"/>
          </a:xfrm>
          <a:prstGeom prst="rect">
            <a:avLst/>
          </a:prstGeom>
          <a:noFill/>
        </p:spPr>
        <p:txBody>
          <a:bodyPr wrap="square" anchor="ctr"/>
          <a:lstStyle/>
          <a:p>
            <a:pPr algn="l"/>
            <a:r>
              <a:rPr sz="1300" b="1">
                <a:solidFill>
                  <a:srgbClr val="FF7200"/>
                </a:solidFill>
                <a:latin typeface="DM Sans"/>
              </a:rPr>
              <a:t>→</a:t>
            </a:r>
          </a:p>
        </p:txBody>
      </p:sp>
      <p:sp>
        <p:nvSpPr>
          <p:cNvPr id="33" name="FooterText"/>
          <p:cNvSpPr txBox="1"/>
          <p:nvPr/>
        </p:nvSpPr>
        <p:spPr>
          <a:xfrm>
            <a:off x="914400" y="5797296"/>
            <a:ext cx="10771632" cy="603504"/>
          </a:xfrm>
          <a:prstGeom prst="rect">
            <a:avLst/>
          </a:prstGeom>
          <a:noFill/>
        </p:spPr>
        <p:txBody>
          <a:bodyPr wrap="square" anchor="ctr"/>
          <a:lstStyle/>
          <a:p>
            <a:pPr algn="l"/>
            <a:r>
              <a:rPr sz="1000" b="0">
                <a:solidFill>
                  <a:srgbClr val="B0BDCC"/>
                </a:solidFill>
                <a:latin typeface="DM Sans"/>
              </a:rPr>
              <a:t>Permissioning is bilateral and granular — each organisation controls what they share, with whom, and for how long.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