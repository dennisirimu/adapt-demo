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224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>
              <a:gd name="adj" fmla="val 20000"/>
            </a:avLst>
          </a:prstGeom>
          <a:solidFill>
            <a:srgbClr val="2B1A08"/>
          </a:solidFill>
          <a:ln w="12700">
            <a:solidFill>
              <a:srgbClr val="FF7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46888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DM Sans"/>
              </a:rPr>
              <a:t>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256032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DM Sans"/>
              </a:rPr>
              <a:t>ADAPT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2743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7200"/>
                </a:solidFill>
                <a:latin typeface="DM Sans"/>
              </a:rPr>
              <a:t>01</a:t>
            </a:r>
            <a:r>
              <a:rPr sz="1100">
                <a:solidFill>
                  <a:srgbClr val="708299"/>
                </a:solidFill>
                <a:latin typeface="DM Sans"/>
              </a:rPr>
              <a:t> / 04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804672"/>
            <a:ext cx="1918411" cy="256032"/>
          </a:xfrm>
          <a:prstGeom prst="roundRect">
            <a:avLst>
              <a:gd name="adj" fmla="val 40000"/>
            </a:avLst>
          </a:prstGeom>
          <a:solidFill>
            <a:srgbClr val="2B1A08"/>
          </a:solidFill>
          <a:ln w="9525">
            <a:solidFill>
              <a:srgbClr val="FF7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4632" y="832104"/>
            <a:ext cx="191841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7200"/>
                </a:solidFill>
                <a:latin typeface="DM Sans"/>
              </a:rPr>
              <a:t>● THE CURRENT REALITY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170432"/>
            <a:ext cx="113385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DM Sans"/>
              </a:rPr>
              <a:t>The data exists. </a:t>
            </a:r>
            <a:r>
              <a:rPr sz="3200" b="1">
                <a:solidFill>
                  <a:srgbClr val="FF7200"/>
                </a:solidFill>
                <a:latin typeface="DM Sans"/>
              </a:rPr>
              <a:t>It just isn't shared.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331720"/>
            <a:ext cx="11338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B0BDCC"/>
                </a:solidFill>
                <a:latin typeface="DM Sans"/>
              </a:rPr>
              <a:t>Every organisation in this demo already holds the data needed to execute cross-border trade. Identities are registered with national authorities. Documents live in government systems. Payments are processed through banks. But none of these systems talk to each other — creating delays, duplication and disputes at every handoff.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3200400"/>
            <a:ext cx="3566160" cy="2331720"/>
          </a:xfrm>
          <a:prstGeom prst="roundRect">
            <a:avLst>
              <a:gd name="adj" fmla="val 12000"/>
            </a:avLst>
          </a:prstGeom>
          <a:solidFill>
            <a:srgbClr val="1C3055"/>
          </a:solidFill>
          <a:ln w="9525">
            <a:solidFill>
              <a:srgbClr val="2A4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3328416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DM Sans"/>
              </a:rPr>
              <a:t>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767328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M Sans"/>
              </a:rPr>
              <a:t>Identities Exist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096512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B0BDCC"/>
                </a:solidFill>
                <a:latin typeface="DM Sans"/>
              </a:rPr>
              <a:t>Every exporter, importer and customs authority has a legal registration — Business Registration Numbers, Tax IDs, licences — recorded in national government databases. But these registries are siloed. A Moroccan exporter cannot verify a Nigerian importer's credentials without going through manual, paper-based checks.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239512"/>
            <a:ext cx="1371600" cy="219456"/>
          </a:xfrm>
          <a:prstGeom prst="roundRect">
            <a:avLst>
              <a:gd name="adj" fmla="val 10000"/>
            </a:avLst>
          </a:prstGeom>
          <a:solidFill>
            <a:srgbClr val="2B1010"/>
          </a:solidFill>
          <a:ln w="7620">
            <a:solidFill>
              <a:srgbClr val="7F1D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6072" y="525780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EF4444"/>
                </a:solidFill>
                <a:latin typeface="DM Sans"/>
              </a:rPr>
              <a:t>✕  Not shared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15968" y="3200400"/>
            <a:ext cx="3566160" cy="2331720"/>
          </a:xfrm>
          <a:prstGeom prst="roundRect">
            <a:avLst>
              <a:gd name="adj" fmla="val 12000"/>
            </a:avLst>
          </a:prstGeom>
          <a:solidFill>
            <a:srgbClr val="1C3055"/>
          </a:solidFill>
          <a:ln w="9525">
            <a:solidFill>
              <a:srgbClr val="2A4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15968" y="3328416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DM Sans"/>
              </a:rPr>
              <a:t>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07408" y="3767328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M Sans"/>
              </a:rPr>
              <a:t>Documents Exist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53128" y="4096512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B0BDCC"/>
                </a:solidFill>
                <a:latin typeface="DM Sans"/>
              </a:rPr>
              <a:t>Certificates of Origin, Export Declarations, Bills of Lading and Commercial Invoices are issued by government agencies and shipping lines every day. But each document lives in a different system — emailed as PDFs, re-keyed into portals, re-verified by every party in the chain independently.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53128" y="5239512"/>
            <a:ext cx="1371600" cy="219456"/>
          </a:xfrm>
          <a:prstGeom prst="roundRect">
            <a:avLst>
              <a:gd name="adj" fmla="val 10000"/>
            </a:avLst>
          </a:prstGeom>
          <a:solidFill>
            <a:srgbClr val="2B1010"/>
          </a:solidFill>
          <a:ln w="7620">
            <a:solidFill>
              <a:srgbClr val="7F1D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80560" y="525780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EF4444"/>
                </a:solidFill>
                <a:latin typeface="DM Sans"/>
              </a:rPr>
              <a:t>✕  Not shared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11312" y="3200400"/>
            <a:ext cx="3566160" cy="2331720"/>
          </a:xfrm>
          <a:prstGeom prst="roundRect">
            <a:avLst>
              <a:gd name="adj" fmla="val 12000"/>
            </a:avLst>
          </a:prstGeom>
          <a:solidFill>
            <a:srgbClr val="1C3055"/>
          </a:solidFill>
          <a:ln w="9525">
            <a:solidFill>
              <a:srgbClr val="2A4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11312" y="3328416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DM Sans"/>
              </a:rPr>
              <a:t>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02752" y="3767328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M Sans"/>
              </a:rPr>
              <a:t>Finance Exists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48472" y="4096512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B0BDCC"/>
                </a:solidFill>
                <a:latin typeface="DM Sans"/>
              </a:rPr>
              <a:t>Letters of Credit, payment terms and trade finance instruments are already in use — processed through correspondent banking networks. But banks cannot automatically verify document compliance or trigger conditional release because they have no trusted access to the underlying trade documents.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348472" y="5239512"/>
            <a:ext cx="1371600" cy="219456"/>
          </a:xfrm>
          <a:prstGeom prst="roundRect">
            <a:avLst>
              <a:gd name="adj" fmla="val 10000"/>
            </a:avLst>
          </a:prstGeom>
          <a:solidFill>
            <a:srgbClr val="2B1010"/>
          </a:solidFill>
          <a:ln w="7620">
            <a:solidFill>
              <a:srgbClr val="7F1D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75904" y="525780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EF4444"/>
                </a:solidFill>
                <a:latin typeface="DM Sans"/>
              </a:rPr>
              <a:t>✕  Not shared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5650992"/>
            <a:ext cx="11365992" cy="713232"/>
          </a:xfrm>
          <a:prstGeom prst="roundRect">
            <a:avLst>
              <a:gd name="adj" fmla="val 10000"/>
            </a:avLst>
          </a:prstGeom>
          <a:solidFill>
            <a:srgbClr val="2B1A08"/>
          </a:solidFill>
          <a:ln w="9525">
            <a:solidFill>
              <a:srgbClr val="FF7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6072" y="5705856"/>
            <a:ext cx="27432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DM Sans"/>
              </a:rPr>
              <a:t>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705856"/>
            <a:ext cx="10771632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BDCC"/>
                </a:solidFill>
                <a:latin typeface="DM Sans"/>
              </a:rPr>
              <a:t>ADAPT does not create new data. It creates the permissioned, verified channel through which existing data can be shared — on the terms of the organisation that owns it, with a distributed ledger as the trust anchor.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224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>
              <a:gd name="adj" fmla="val 20000"/>
            </a:avLst>
          </a:prstGeom>
          <a:solidFill>
            <a:srgbClr val="2B1A08"/>
          </a:solidFill>
          <a:ln w="12700">
            <a:solidFill>
              <a:srgbClr val="FF7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46888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DM Sans"/>
              </a:rPr>
              <a:t>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256032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DM Sans"/>
              </a:rPr>
              <a:t>ADAPT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2743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7200"/>
                </a:solidFill>
                <a:latin typeface="DM Sans"/>
              </a:rPr>
              <a:t>02</a:t>
            </a:r>
            <a:r>
              <a:rPr sz="1100">
                <a:solidFill>
                  <a:srgbClr val="708299"/>
                </a:solidFill>
                <a:latin typeface="DM Sans"/>
              </a:rPr>
              <a:t> / 04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804672"/>
            <a:ext cx="1834286" cy="256032"/>
          </a:xfrm>
          <a:prstGeom prst="roundRect">
            <a:avLst>
              <a:gd name="adj" fmla="val 40000"/>
            </a:avLst>
          </a:prstGeom>
          <a:solidFill>
            <a:srgbClr val="2B1A08"/>
          </a:solidFill>
          <a:ln w="9525">
            <a:solidFill>
              <a:srgbClr val="FF7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4632" y="832104"/>
            <a:ext cx="183428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7200"/>
                </a:solidFill>
                <a:latin typeface="DM Sans"/>
              </a:rPr>
              <a:t>● FRAMEWORK OVERVIEW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170432"/>
            <a:ext cx="113385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DM Sans"/>
              </a:rPr>
              <a:t>ADAPT is a </a:t>
            </a:r>
            <a:r>
              <a:rPr sz="3200" b="1">
                <a:solidFill>
                  <a:srgbClr val="FF7200"/>
                </a:solidFill>
                <a:latin typeface="DM Sans"/>
              </a:rPr>
              <a:t>framework</a:t>
            </a:r>
            <a:r>
              <a:rPr sz="3200" b="1">
                <a:solidFill>
                  <a:srgbClr val="FFFFFF"/>
                </a:solidFill>
                <a:latin typeface="DM Sans"/>
              </a:rPr>
              <a:t>,
not a replacement for what exists.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542032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B0BDCC"/>
                </a:solidFill>
                <a:latin typeface="DM Sans"/>
              </a:rPr>
              <a:t>ADAPT — Africa Digital Access and Public Infrastructure for Trade — is an open interoperability layer that connects governments, traders and financiers, enabling the data that already exists to flow securely between parties — with permission, with proof, and with full data sovereignty.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3291840"/>
            <a:ext cx="3749039" cy="2487168"/>
          </a:xfrm>
          <a:prstGeom prst="roundRect">
            <a:avLst>
              <a:gd name="adj" fmla="val 12000"/>
            </a:avLst>
          </a:prstGeom>
          <a:solidFill>
            <a:srgbClr val="1C3055"/>
          </a:solidFill>
          <a:ln w="9525">
            <a:solidFill>
              <a:srgbClr val="2A4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76072" y="3456432"/>
            <a:ext cx="347472" cy="347472"/>
          </a:xfrm>
          <a:prstGeom prst="roundRect">
            <a:avLst>
              <a:gd name="adj" fmla="val 15000"/>
            </a:avLst>
          </a:prstGeom>
          <a:solidFill>
            <a:srgbClr val="2B1A08"/>
          </a:solidFill>
          <a:ln w="7620">
            <a:solidFill>
              <a:srgbClr val="FF7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72" y="3419856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DM Sans"/>
              </a:rPr>
              <a:t>🏛️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3858768"/>
            <a:ext cx="34198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DM Sans"/>
              </a:rPr>
              <a:t>Government Systems Stay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" y="4133088"/>
            <a:ext cx="341985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B0BDCC"/>
                </a:solidFill>
                <a:latin typeface="DM Sans"/>
              </a:rPr>
              <a:t>ADAPT connects to national trade portals, customs systems and identity registries via API. Nothing is replaced — data flows out of existing systems and is presented through a shared, permissioned layer.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6072" y="5504688"/>
            <a:ext cx="1234440" cy="201168"/>
          </a:xfrm>
          <a:prstGeom prst="roundRect">
            <a:avLst>
              <a:gd name="adj" fmla="val 10000"/>
            </a:avLst>
          </a:prstGeom>
          <a:solidFill>
            <a:srgbClr val="2B1A08"/>
          </a:solidFill>
          <a:ln w="7620">
            <a:solidFill>
              <a:srgbClr val="FF7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" y="5522976"/>
            <a:ext cx="1234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7200"/>
                </a:solidFill>
                <a:latin typeface="DM Sans"/>
              </a:rPr>
              <a:t>Non-disruptive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15384" y="3291840"/>
            <a:ext cx="3749039" cy="2487168"/>
          </a:xfrm>
          <a:prstGeom prst="roundRect">
            <a:avLst>
              <a:gd name="adj" fmla="val 12000"/>
            </a:avLst>
          </a:prstGeom>
          <a:solidFill>
            <a:srgbClr val="1C3055"/>
          </a:solidFill>
          <a:ln w="9525">
            <a:solidFill>
              <a:srgbClr val="2A4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79976" y="3456432"/>
            <a:ext cx="347472" cy="347472"/>
          </a:xfrm>
          <a:prstGeom prst="roundRect">
            <a:avLst>
              <a:gd name="adj" fmla="val 15000"/>
            </a:avLst>
          </a:prstGeom>
          <a:solidFill>
            <a:srgbClr val="2B1A08"/>
          </a:solidFill>
          <a:ln w="7620">
            <a:solidFill>
              <a:srgbClr val="FF7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79976" y="3419856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DM Sans"/>
              </a:rPr>
              <a:t>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9976" y="3858768"/>
            <a:ext cx="34198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DM Sans"/>
              </a:rPr>
              <a:t>Distributed Ledger as Trust Anchor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79976" y="4133088"/>
            <a:ext cx="341985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B0BDCC"/>
                </a:solidFill>
                <a:latin typeface="DM Sans"/>
              </a:rPr>
              <a:t>Every document, status change and transaction is anchored on a distributed ledger — creating an immutable, tamper-evident audit trail shared only with parties who have been explicitly granted access.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79976" y="5504688"/>
            <a:ext cx="1097280" cy="201168"/>
          </a:xfrm>
          <a:prstGeom prst="roundRect">
            <a:avLst>
              <a:gd name="adj" fmla="val 10000"/>
            </a:avLst>
          </a:prstGeom>
          <a:solidFill>
            <a:srgbClr val="2B1A08"/>
          </a:solidFill>
          <a:ln w="7620">
            <a:solidFill>
              <a:srgbClr val="FF7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16552" y="5522976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7200"/>
                </a:solidFill>
                <a:latin typeface="DM Sans"/>
              </a:rPr>
              <a:t>Permissioned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28431" y="3291840"/>
            <a:ext cx="3749039" cy="2487168"/>
          </a:xfrm>
          <a:prstGeom prst="roundRect">
            <a:avLst>
              <a:gd name="adj" fmla="val 12000"/>
            </a:avLst>
          </a:prstGeom>
          <a:solidFill>
            <a:srgbClr val="1C3055"/>
          </a:solidFill>
          <a:ln w="9525">
            <a:solidFill>
              <a:srgbClr val="2A4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93023" y="3456432"/>
            <a:ext cx="347472" cy="347472"/>
          </a:xfrm>
          <a:prstGeom prst="roundRect">
            <a:avLst>
              <a:gd name="adj" fmla="val 15000"/>
            </a:avLst>
          </a:prstGeom>
          <a:solidFill>
            <a:srgbClr val="2B1A08"/>
          </a:solidFill>
          <a:ln w="7620">
            <a:solidFill>
              <a:srgbClr val="FF7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93023" y="3419856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DM Sans"/>
              </a:rPr>
              <a:t>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93023" y="3858768"/>
            <a:ext cx="34198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DM Sans"/>
              </a:rPr>
              <a:t>Node Sovereignty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93023" y="4133088"/>
            <a:ext cx="341985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B0BDCC"/>
                </a:solidFill>
                <a:latin typeface="DM Sans"/>
              </a:rPr>
              <a:t>Each participating country or institution runs its own node. Data never leaves a node without the owner's explicit permission — sovereignty and data protection are built into the architecture.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93023" y="5504688"/>
            <a:ext cx="1371600" cy="201168"/>
          </a:xfrm>
          <a:prstGeom prst="roundRect">
            <a:avLst>
              <a:gd name="adj" fmla="val 10000"/>
            </a:avLst>
          </a:prstGeom>
          <a:solidFill>
            <a:srgbClr val="2B1A08"/>
          </a:solidFill>
          <a:ln w="7620">
            <a:solidFill>
              <a:srgbClr val="FF7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599" y="5522976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7200"/>
                </a:solidFill>
                <a:latin typeface="DM Sans"/>
              </a:rPr>
              <a:t>Data Sovereignty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5897880"/>
            <a:ext cx="11365992" cy="749808"/>
          </a:xfrm>
          <a:prstGeom prst="roundRect">
            <a:avLst>
              <a:gd name="adj" fmla="val 10000"/>
            </a:avLst>
          </a:prstGeom>
          <a:solidFill>
            <a:srgbClr val="2B1A08"/>
          </a:solidFill>
          <a:ln w="9525">
            <a:solidFill>
              <a:srgbClr val="FF7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76072" y="5952744"/>
            <a:ext cx="274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DM Sans"/>
              </a:rPr>
              <a:t>💡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5952744"/>
            <a:ext cx="1077163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BDCC"/>
                </a:solidFill>
                <a:latin typeface="DM Sans"/>
              </a:rPr>
              <a:t>What you're watching in this demo: two nodes (exporters &amp; customs + importers) communicating in real time — sharing consignment data, documents and financial records only when permission is explicitly granted. Every action is anchored on the distributed ledger as proof.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224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>
              <a:gd name="adj" fmla="val 20000"/>
            </a:avLst>
          </a:prstGeom>
          <a:solidFill>
            <a:srgbClr val="2B1A08"/>
          </a:solidFill>
          <a:ln w="12700">
            <a:solidFill>
              <a:srgbClr val="FF7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46888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DM Sans"/>
              </a:rPr>
              <a:t>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256032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DM Sans"/>
              </a:rPr>
              <a:t>ADAPT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2743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7200"/>
                </a:solidFill>
                <a:latin typeface="DM Sans"/>
              </a:rPr>
              <a:t>03</a:t>
            </a:r>
            <a:r>
              <a:rPr sz="1100">
                <a:solidFill>
                  <a:srgbClr val="708299"/>
                </a:solidFill>
                <a:latin typeface="DM Sans"/>
              </a:rPr>
              <a:t> / 04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804672"/>
            <a:ext cx="2759659" cy="256032"/>
          </a:xfrm>
          <a:prstGeom prst="roundRect">
            <a:avLst>
              <a:gd name="adj" fmla="val 40000"/>
            </a:avLst>
          </a:prstGeom>
          <a:solidFill>
            <a:srgbClr val="2B1A08"/>
          </a:solidFill>
          <a:ln w="9525">
            <a:solidFill>
              <a:srgbClr val="FF7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4632" y="832104"/>
            <a:ext cx="2759659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7200"/>
                </a:solidFill>
                <a:latin typeface="DM Sans"/>
              </a:rPr>
              <a:t>● IDENTITY · DOCUMENTS · LEDGER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170432"/>
            <a:ext cx="113385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DM Sans"/>
              </a:rPr>
              <a:t>Trust begins with </a:t>
            </a:r>
            <a:r>
              <a:rPr sz="2800" b="1">
                <a:solidFill>
                  <a:srgbClr val="FF7200"/>
                </a:solidFill>
                <a:latin typeface="DM Sans"/>
              </a:rPr>
              <a:t>verified identity</a:t>
            </a:r>
            <a:r>
              <a:rPr sz="2800" b="1">
                <a:solidFill>
                  <a:srgbClr val="FFFFFF"/>
                </a:solidFill>
                <a:latin typeface="DM Sans"/>
              </a:rPr>
              <a:t>
and government-issued data.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2331720"/>
            <a:ext cx="5577840" cy="1920240"/>
          </a:xfrm>
          <a:prstGeom prst="roundRect">
            <a:avLst>
              <a:gd name="adj" fmla="val 12000"/>
            </a:avLst>
          </a:prstGeom>
          <a:solidFill>
            <a:srgbClr val="1C3055"/>
          </a:solidFill>
          <a:ln w="9525">
            <a:solidFill>
              <a:srgbClr val="2A4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76072" y="2496312"/>
            <a:ext cx="347472" cy="347472"/>
          </a:xfrm>
          <a:prstGeom prst="roundRect">
            <a:avLst>
              <a:gd name="adj" fmla="val 15000"/>
            </a:avLst>
          </a:prstGeom>
          <a:solidFill>
            <a:srgbClr val="2B1A08"/>
          </a:solidFill>
          <a:ln w="7620">
            <a:solidFill>
              <a:srgbClr val="FF7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72" y="2459736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DM Sans"/>
              </a:rPr>
              <a:t>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" y="2898648"/>
            <a:ext cx="52486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DM Sans"/>
              </a:rPr>
              <a:t>Identity Interoperability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3172968"/>
            <a:ext cx="524865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B0BDCC"/>
                </a:solidFill>
                <a:latin typeface="DM Sans"/>
              </a:rPr>
              <a:t>Each organisation registers with a national credential — Business Registration Number, Tax ID or Legal Entity Identifier. ADAPT validates against the national registry (e.g. Nigeria's CAC, Morocco's RC) and issues a Decentralised Identifier (DID) anchored on the ledger. A Nigerian importer's identity can be cryptographically verified by a Moroccan exporter — without any shared intermediary system.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6072" y="3977640"/>
            <a:ext cx="1920239" cy="201168"/>
          </a:xfrm>
          <a:prstGeom prst="roundRect">
            <a:avLst>
              <a:gd name="adj" fmla="val 10000"/>
            </a:avLst>
          </a:prstGeom>
          <a:solidFill>
            <a:srgbClr val="2B1A08"/>
          </a:solidFill>
          <a:ln w="7620">
            <a:solidFill>
              <a:srgbClr val="FF7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" y="3995928"/>
            <a:ext cx="19202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7200"/>
                </a:solidFill>
                <a:latin typeface="DM Sans"/>
              </a:rPr>
              <a:t>Verified · DID on ledger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4361688"/>
            <a:ext cx="5577840" cy="1920240"/>
          </a:xfrm>
          <a:prstGeom prst="roundRect">
            <a:avLst>
              <a:gd name="adj" fmla="val 12000"/>
            </a:avLst>
          </a:prstGeom>
          <a:solidFill>
            <a:srgbClr val="1C3055"/>
          </a:solidFill>
          <a:ln w="9525">
            <a:solidFill>
              <a:srgbClr val="2A4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76072" y="4526280"/>
            <a:ext cx="347472" cy="347472"/>
          </a:xfrm>
          <a:prstGeom prst="roundRect">
            <a:avLst>
              <a:gd name="adj" fmla="val 15000"/>
            </a:avLst>
          </a:prstGeom>
          <a:solidFill>
            <a:srgbClr val="2B1A08"/>
          </a:solidFill>
          <a:ln w="7620">
            <a:solidFill>
              <a:srgbClr val="FF7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6072" y="4489704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DM Sans"/>
              </a:rPr>
              <a:t>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6072" y="4928616"/>
            <a:ext cx="52486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DM Sans"/>
              </a:rPr>
              <a:t>Documents from Government APIs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6072" y="5202936"/>
            <a:ext cx="524865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B0BDCC"/>
                </a:solidFill>
                <a:latin typeface="DM Sans"/>
              </a:rPr>
              <a:t>Export Declarations, Certificates of Origin and Customs Clearances are not uploaded manually. They are pulled directly from government systems via API — Nigeria Customs, Morocco MAEX, AfCFTA origin portals — and attached to the consignment's digital twin. ADAPT is a conduit, not a repository.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76072" y="6007608"/>
            <a:ext cx="2194560" cy="201168"/>
          </a:xfrm>
          <a:prstGeom prst="roundRect">
            <a:avLst>
              <a:gd name="adj" fmla="val 10000"/>
            </a:avLst>
          </a:prstGeom>
          <a:solidFill>
            <a:srgbClr val="2B1A08"/>
          </a:solidFill>
          <a:ln w="7620">
            <a:solidFill>
              <a:srgbClr val="FF7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2648" y="6025896"/>
            <a:ext cx="2194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7200"/>
                </a:solidFill>
                <a:latin typeface="DM Sans"/>
              </a:rPr>
              <a:t>API-native · Source-verified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4768" y="2331720"/>
            <a:ext cx="5632704" cy="3017520"/>
          </a:xfrm>
          <a:prstGeom prst="roundRect">
            <a:avLst>
              <a:gd name="adj" fmla="val 12000"/>
            </a:avLst>
          </a:prstGeom>
          <a:solidFill>
            <a:srgbClr val="1C3055"/>
          </a:solidFill>
          <a:ln w="9525">
            <a:solidFill>
              <a:srgbClr val="2A4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09360" y="2496312"/>
            <a:ext cx="347472" cy="347472"/>
          </a:xfrm>
          <a:prstGeom prst="roundRect">
            <a:avLst>
              <a:gd name="adj" fmla="val 15000"/>
            </a:avLst>
          </a:prstGeom>
          <a:solidFill>
            <a:srgbClr val="2B1A08"/>
          </a:solidFill>
          <a:ln w="7620">
            <a:solidFill>
              <a:srgbClr val="FF7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459736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DM Sans"/>
              </a:rPr>
              <a:t>⛓️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2898648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DM Sans"/>
              </a:rPr>
              <a:t>Distributed Ledger — The Trust Layer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172968"/>
            <a:ext cx="5303520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B0BDCC"/>
                </a:solidFill>
                <a:latin typeface="DM Sans"/>
              </a:rPr>
              <a:t>The ledger serves one purpose in ADAPT: proof of event.
Every time a document is issued, a status changes, a permission is granted or a payment is released, a cryptographic hash of that event is written to the distributed ledger.
No single party controls it — not any government, bank or technology vendor. This makes the audit trail trustworthy to all parties without requiring a central authority.
This eliminates disputes over "was this document presented?" or "when did customs clear?" — the answer is on the ledger, timestamped and tamper-proof.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9360" y="5074920"/>
            <a:ext cx="3017520" cy="201168"/>
          </a:xfrm>
          <a:prstGeom prst="roundRect">
            <a:avLst>
              <a:gd name="adj" fmla="val 10000"/>
            </a:avLst>
          </a:prstGeom>
          <a:solidFill>
            <a:srgbClr val="2B1A08"/>
          </a:solidFill>
          <a:ln w="7620">
            <a:solidFill>
              <a:srgbClr val="FF7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45936" y="5093208"/>
            <a:ext cx="3017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7200"/>
                </a:solidFill>
                <a:latin typeface="DM Sans"/>
              </a:rPr>
              <a:t>Immutable · Decentralised · Permissioned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44768" y="5458968"/>
            <a:ext cx="5632704" cy="804672"/>
          </a:xfrm>
          <a:prstGeom prst="roundRect">
            <a:avLst>
              <a:gd name="adj" fmla="val 10000"/>
            </a:avLst>
          </a:prstGeom>
          <a:solidFill>
            <a:srgbClr val="2B1A08"/>
          </a:solidFill>
          <a:ln w="9525">
            <a:solidFill>
              <a:srgbClr val="FF7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5513832"/>
            <a:ext cx="2743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DM Sans"/>
              </a:rPr>
              <a:t>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47688" y="5513832"/>
            <a:ext cx="5038344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BDCC"/>
                </a:solidFill>
                <a:latin typeface="DM Sans"/>
              </a:rPr>
              <a:t>Key distinction: The ledger does not store documents or personal data. It stores only cryptographic proofs — so sensitive trade data never leaves the node that owns 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224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>
              <a:gd name="adj" fmla="val 20000"/>
            </a:avLst>
          </a:prstGeom>
          <a:solidFill>
            <a:srgbClr val="2B1A08"/>
          </a:solidFill>
          <a:ln w="12700">
            <a:solidFill>
              <a:srgbClr val="FF7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46888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DM Sans"/>
              </a:rPr>
              <a:t>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256032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DM Sans"/>
              </a:rPr>
              <a:t>ADAPT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2743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7200"/>
                </a:solidFill>
                <a:latin typeface="DM Sans"/>
              </a:rPr>
              <a:t>04</a:t>
            </a:r>
            <a:r>
              <a:rPr sz="1100">
                <a:solidFill>
                  <a:srgbClr val="708299"/>
                </a:solidFill>
                <a:latin typeface="DM Sans"/>
              </a:rPr>
              <a:t> / 04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804672"/>
            <a:ext cx="3012033" cy="256032"/>
          </a:xfrm>
          <a:prstGeom prst="roundRect">
            <a:avLst>
              <a:gd name="adj" fmla="val 40000"/>
            </a:avLst>
          </a:prstGeom>
          <a:solidFill>
            <a:srgbClr val="2B1A08"/>
          </a:solidFill>
          <a:ln w="9525">
            <a:solidFill>
              <a:srgbClr val="FF7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4632" y="832104"/>
            <a:ext cx="3012033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7200"/>
                </a:solidFill>
                <a:latin typeface="DM Sans"/>
              </a:rPr>
              <a:t>● PAYMENTS · TRADE FINANCE · NODES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170432"/>
            <a:ext cx="113385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DM Sans"/>
              </a:rPr>
              <a:t>From shipment to </a:t>
            </a:r>
            <a:r>
              <a:rPr sz="3000" b="1">
                <a:solidFill>
                  <a:srgbClr val="FF7200"/>
                </a:solidFill>
                <a:latin typeface="DM Sans"/>
              </a:rPr>
              <a:t>settlement</a:t>
            </a:r>
            <a:r>
              <a:rPr sz="3000" b="1">
                <a:solidFill>
                  <a:srgbClr val="FFFFFF"/>
                </a:solidFill>
                <a:latin typeface="DM Sans"/>
              </a:rPr>
              <a:t> — on one permissioned rail.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2103120"/>
            <a:ext cx="2788920" cy="2240280"/>
          </a:xfrm>
          <a:prstGeom prst="roundRect">
            <a:avLst>
              <a:gd name="adj" fmla="val 12000"/>
            </a:avLst>
          </a:prstGeom>
          <a:solidFill>
            <a:srgbClr val="1C3055"/>
          </a:solidFill>
          <a:ln w="9525">
            <a:solidFill>
              <a:srgbClr val="2A4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76072" y="2267712"/>
            <a:ext cx="347472" cy="347472"/>
          </a:xfrm>
          <a:prstGeom prst="roundRect">
            <a:avLst>
              <a:gd name="adj" fmla="val 15000"/>
            </a:avLst>
          </a:prstGeom>
          <a:solidFill>
            <a:srgbClr val="2B1A08"/>
          </a:solidFill>
          <a:ln w="7620">
            <a:solidFill>
              <a:srgbClr val="FF7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72" y="2231136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DM Sans"/>
              </a:rPr>
              <a:t>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" y="2670048"/>
            <a:ext cx="24597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DM Sans"/>
              </a:rPr>
              <a:t>Payment Tracking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2944368"/>
            <a:ext cx="2459736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B0BDCC"/>
                </a:solidFill>
                <a:latin typeface="DM Sans"/>
              </a:rPr>
              <a:t>Exporters raise payment records linked to commercial invoices. Status moves Unpaid → Partially Paid → Paid, with every confirmation anchored on the ledger. All parties with finance access see a live, tamper-proof payment trail.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6072" y="4069080"/>
            <a:ext cx="1234440" cy="201168"/>
          </a:xfrm>
          <a:prstGeom prst="roundRect">
            <a:avLst>
              <a:gd name="adj" fmla="val 10000"/>
            </a:avLst>
          </a:prstGeom>
          <a:solidFill>
            <a:srgbClr val="2B1A08"/>
          </a:solidFill>
          <a:ln w="7620">
            <a:solidFill>
              <a:srgbClr val="FF7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" y="4087368"/>
            <a:ext cx="1234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7200"/>
                </a:solidFill>
                <a:latin typeface="DM Sans"/>
              </a:rPr>
              <a:t>Invoice-linked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64408" y="2103120"/>
            <a:ext cx="2788920" cy="2240280"/>
          </a:xfrm>
          <a:prstGeom prst="roundRect">
            <a:avLst>
              <a:gd name="adj" fmla="val 12000"/>
            </a:avLst>
          </a:prstGeom>
          <a:solidFill>
            <a:srgbClr val="1C3055"/>
          </a:solidFill>
          <a:ln w="9525">
            <a:solidFill>
              <a:srgbClr val="2A4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29000" y="2267712"/>
            <a:ext cx="347472" cy="347472"/>
          </a:xfrm>
          <a:prstGeom prst="roundRect">
            <a:avLst>
              <a:gd name="adj" fmla="val 15000"/>
            </a:avLst>
          </a:prstGeom>
          <a:solidFill>
            <a:srgbClr val="2B1A08"/>
          </a:solidFill>
          <a:ln w="7620">
            <a:solidFill>
              <a:srgbClr val="FF7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29000" y="2231136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DM Sans"/>
              </a:rPr>
              <a:t>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9000" y="2670048"/>
            <a:ext cx="24597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DM Sans"/>
              </a:rPr>
              <a:t>Letters of Credit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29000" y="2944368"/>
            <a:ext cx="2459736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B0BDCC"/>
                </a:solidFill>
                <a:latin typeface="DM Sans"/>
              </a:rPr>
              <a:t>LCs are created on-framework, linked to the consignment's document set. Each stage — Draft through to Drawn — is progressed by the relevant party and anchored. Document compliance is checked automatically against submitted docs.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29000" y="4069080"/>
            <a:ext cx="1097280" cy="201168"/>
          </a:xfrm>
          <a:prstGeom prst="roundRect">
            <a:avLst>
              <a:gd name="adj" fmla="val 10000"/>
            </a:avLst>
          </a:prstGeom>
          <a:solidFill>
            <a:srgbClr val="2B1A08"/>
          </a:solidFill>
          <a:ln w="7620">
            <a:solidFill>
              <a:srgbClr val="FF7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65576" y="4087368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7200"/>
                </a:solidFill>
                <a:latin typeface="DM Sans"/>
              </a:rPr>
              <a:t>Bank-bridged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17336" y="2103120"/>
            <a:ext cx="2788920" cy="2240280"/>
          </a:xfrm>
          <a:prstGeom prst="roundRect">
            <a:avLst>
              <a:gd name="adj" fmla="val 12000"/>
            </a:avLst>
          </a:prstGeom>
          <a:solidFill>
            <a:srgbClr val="1C3055"/>
          </a:solidFill>
          <a:ln w="9525">
            <a:solidFill>
              <a:srgbClr val="2A4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81928" y="2267712"/>
            <a:ext cx="347472" cy="347472"/>
          </a:xfrm>
          <a:prstGeom prst="roundRect">
            <a:avLst>
              <a:gd name="adj" fmla="val 15000"/>
            </a:avLst>
          </a:prstGeom>
          <a:solidFill>
            <a:srgbClr val="2B1A08"/>
          </a:solidFill>
          <a:ln w="7620">
            <a:solidFill>
              <a:srgbClr val="FF7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81928" y="2231136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DM Sans"/>
              </a:rPr>
              <a:t>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81928" y="2670048"/>
            <a:ext cx="24597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DM Sans"/>
              </a:rPr>
              <a:t>Smart Contract Simulation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81928" y="2944368"/>
            <a:ext cx="2459736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B0BDCC"/>
                </a:solidFill>
                <a:latin typeface="DM Sans"/>
              </a:rPr>
              <a:t>Payment release conditions are encoded in a contract. When all conditions are met — e.g. Bill of Lading and Certificate of Origin verified — payment is automatically released and anchored with the contract hash.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81928" y="4069080"/>
            <a:ext cx="1097280" cy="201168"/>
          </a:xfrm>
          <a:prstGeom prst="roundRect">
            <a:avLst>
              <a:gd name="adj" fmla="val 10000"/>
            </a:avLst>
          </a:prstGeom>
          <a:solidFill>
            <a:srgbClr val="2B1A08"/>
          </a:solidFill>
          <a:ln w="7620">
            <a:solidFill>
              <a:srgbClr val="FF7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18504" y="4087368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7200"/>
                </a:solidFill>
                <a:latin typeface="DM Sans"/>
              </a:rPr>
              <a:t>Auto-release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970264" y="2103120"/>
            <a:ext cx="2788920" cy="2240280"/>
          </a:xfrm>
          <a:prstGeom prst="roundRect">
            <a:avLst>
              <a:gd name="adj" fmla="val 12000"/>
            </a:avLst>
          </a:prstGeom>
          <a:solidFill>
            <a:srgbClr val="1C3055"/>
          </a:solidFill>
          <a:ln w="9525">
            <a:solidFill>
              <a:srgbClr val="2A4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134856" y="2267712"/>
            <a:ext cx="347472" cy="347472"/>
          </a:xfrm>
          <a:prstGeom prst="roundRect">
            <a:avLst>
              <a:gd name="adj" fmla="val 15000"/>
            </a:avLst>
          </a:prstGeom>
          <a:solidFill>
            <a:srgbClr val="2B1A08"/>
          </a:solidFill>
          <a:ln w="7620">
            <a:solidFill>
              <a:srgbClr val="FF7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34856" y="2231136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DM Sans"/>
              </a:rPr>
              <a:t>🛡️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34856" y="2670048"/>
            <a:ext cx="24597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DM Sans"/>
              </a:rPr>
              <a:t>Finance Permissions Layer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34856" y="2944368"/>
            <a:ext cx="2459736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B0BDCC"/>
                </a:solidFill>
                <a:latin typeface="DM Sans"/>
              </a:rPr>
              <a:t>Financial data has its own separate permission layer from trade data. A customs officer who can see a consignment cannot see its payment records unless the exporter explicitly shares finance access.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34856" y="4069080"/>
            <a:ext cx="1234440" cy="201168"/>
          </a:xfrm>
          <a:prstGeom prst="roundRect">
            <a:avLst>
              <a:gd name="adj" fmla="val 10000"/>
            </a:avLst>
          </a:prstGeom>
          <a:solidFill>
            <a:srgbClr val="2B1A08"/>
          </a:solidFill>
          <a:ln w="7620">
            <a:solidFill>
              <a:srgbClr val="FF7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71432" y="4087368"/>
            <a:ext cx="1234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7200"/>
                </a:solidFill>
                <a:latin typeface="DM Sans"/>
              </a:rPr>
              <a:t>Separate layer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4480560"/>
            <a:ext cx="11365992" cy="2103120"/>
          </a:xfrm>
          <a:prstGeom prst="roundRect">
            <a:avLst>
              <a:gd name="adj" fmla="val 10000"/>
            </a:avLst>
          </a:prstGeom>
          <a:solidFill>
            <a:srgbClr val="1C3055"/>
          </a:solidFill>
          <a:ln w="9525">
            <a:solidFill>
              <a:srgbClr val="2A4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" y="46177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DM Sans"/>
              </a:rPr>
              <a:t>🖥️  Node Architecture — Data Stays Where It Belongs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4956048"/>
            <a:ext cx="3566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FF7200"/>
                </a:solidFill>
                <a:latin typeface="DM Sans"/>
              </a:rPr>
              <a:t>Ownership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" y="5175504"/>
            <a:ext cx="35661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B0BDCC"/>
                </a:solidFill>
                <a:latin typeface="DM Sans"/>
              </a:rPr>
              <a:t>Each node is operated by its owner — a government ministry, customs authority or trade institution. They control what data enters, who can see it and when access is revoked.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215384" y="4892040"/>
            <a:ext cx="9144" cy="1554480"/>
          </a:xfrm>
          <a:prstGeom prst="rect">
            <a:avLst/>
          </a:prstGeom>
          <a:solidFill>
            <a:srgbClr val="2A4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361688" y="4956048"/>
            <a:ext cx="3566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FF7200"/>
                </a:solidFill>
                <a:latin typeface="DM Sans"/>
              </a:rPr>
              <a:t>Peer Sync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61688" y="5175504"/>
            <a:ext cx="35661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B0BDCC"/>
                </a:solidFill>
                <a:latin typeface="DM Sans"/>
              </a:rPr>
              <a:t>Nodes connect peer-to-peer to share organisation directories and permitted data. In this demo, Node Alpha (exporters &amp; customs) connects to Node Beta (importers) to enable cross-party visibility.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982712" y="4892040"/>
            <a:ext cx="9144" cy="1554480"/>
          </a:xfrm>
          <a:prstGeom prst="rect">
            <a:avLst/>
          </a:prstGeom>
          <a:solidFill>
            <a:srgbClr val="2A4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129016" y="4956048"/>
            <a:ext cx="3566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FF7200"/>
                </a:solidFill>
                <a:latin typeface="DM Sans"/>
              </a:rPr>
              <a:t>Data Protection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29016" y="5175504"/>
            <a:ext cx="35661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B0BDCC"/>
                </a:solidFill>
                <a:latin typeface="DM Sans"/>
              </a:rPr>
              <a:t>A consignment's documents, payments and contracts are visible only to organisations that have been granted explicit access. No party sees data they have not been invited to — even on the same node.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224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246888"/>
            <a:ext cx="384048" cy="384048"/>
          </a:xfrm>
          <a:prstGeom prst="rect">
            <a:avLst/>
          </a:prstGeom>
          <a:solidFill>
            <a:srgbClr val="2B1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46888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0">
                <a:solidFill>
                  <a:srgbClr val="FFFFFF"/>
                </a:solidFill>
                <a:latin typeface="DM Sans"/>
              </a:rPr>
              <a:t>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256032"/>
            <a:ext cx="128016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50" b="1">
                <a:solidFill>
                  <a:srgbClr val="FFFFFF"/>
                </a:solidFill>
                <a:latin typeface="DM Sans"/>
              </a:rPr>
              <a:t>ADAPT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274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7200"/>
                </a:solidFill>
                <a:latin typeface="DM Sans"/>
              </a:rPr>
              <a:t>05</a:t>
            </a:r>
            <a:r>
              <a:rPr sz="1100">
                <a:solidFill>
                  <a:srgbClr val="708299"/>
                </a:solidFill>
                <a:latin typeface="DM Sans"/>
              </a:rPr>
              <a:t> / 05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804672"/>
            <a:ext cx="2286000" cy="256032"/>
          </a:xfrm>
          <a:prstGeom prst="rect">
            <a:avLst/>
          </a:prstGeom>
          <a:solidFill>
            <a:srgbClr val="2B1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4632" y="832104"/>
            <a:ext cx="22860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50" b="1">
                <a:solidFill>
                  <a:srgbClr val="FF7200"/>
                </a:solidFill>
                <a:latin typeface="DM Sans"/>
              </a:rPr>
              <a:t>● HOW TO PARTICIPATE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170432"/>
            <a:ext cx="113385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>
                <a:solidFill>
                  <a:srgbClr val="FFFFFF"/>
                </a:solidFill>
                <a:latin typeface="DM Sans"/>
              </a:rPr>
              <a:t>Three ways to connect your organisation to ADAPT.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783080"/>
            <a:ext cx="1133856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B0BDCC"/>
                </a:solidFill>
                <a:latin typeface="DM Sans"/>
              </a:rPr>
              <a:t>Whether you're a government authority, a large trader, or a small importer — there is an integration path that fits your capacity.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450592"/>
            <a:ext cx="3566160" cy="3108960"/>
          </a:xfrm>
          <a:prstGeom prst="rect">
            <a:avLst/>
          </a:prstGeom>
          <a:solidFill>
            <a:srgbClr val="1C3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2560320"/>
            <a:ext cx="356616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0">
                <a:solidFill>
                  <a:srgbClr val="FFFFFF"/>
                </a:solidFill>
                <a:latin typeface="DM Sans"/>
              </a:rPr>
              <a:t>🖥️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" y="3017520"/>
            <a:ext cx="3383279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FFFFFF"/>
                </a:solidFill>
                <a:latin typeface="DM Sans"/>
              </a:rPr>
              <a:t>Host a Node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" y="3383280"/>
            <a:ext cx="3346704" cy="1417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B0BDCC"/>
                </a:solidFill>
                <a:latin typeface="DM Sans"/>
              </a:rPr>
              <a:t>Run your own ADAPT node on your infrastructure. Publish and manage your organisation's data locally — consignments, identities, documents. Sync automatically with peer nodes via P2P when you grant permission.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1208" y="5175504"/>
            <a:ext cx="3346704" cy="274320"/>
          </a:xfrm>
          <a:prstGeom prst="rect">
            <a:avLst/>
          </a:prstGeom>
          <a:solidFill>
            <a:srgbClr val="0F2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9496" y="5184648"/>
            <a:ext cx="3310128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>
                <a:solidFill>
                  <a:srgbClr val="708299"/>
                </a:solidFill>
                <a:latin typeface="DM Sans"/>
              </a:rPr>
              <a:t>Best for: governments, customs authorities, major trade institutions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15968" y="2450592"/>
            <a:ext cx="3566160" cy="3108960"/>
          </a:xfrm>
          <a:prstGeom prst="rect">
            <a:avLst/>
          </a:prstGeom>
          <a:solidFill>
            <a:srgbClr val="1C3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15968" y="2560320"/>
            <a:ext cx="356616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0">
                <a:solidFill>
                  <a:srgbClr val="FFFFFF"/>
                </a:solidFill>
                <a:latin typeface="DM Sans"/>
              </a:rPr>
              <a:t>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25696" y="3017520"/>
            <a:ext cx="3383279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FFFFFF"/>
                </a:solidFill>
                <a:latin typeface="DM Sans"/>
              </a:rPr>
              <a:t>API Integration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25696" y="3383280"/>
            <a:ext cx="3346704" cy="1417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B0BDCC"/>
                </a:solidFill>
                <a:latin typeface="DM Sans"/>
              </a:rPr>
              <a:t>Connect your existing ERP, customs portal, or port management system directly to the framework via REST API. Push and pull consignment data, documents, and events programmatically — no UI required.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25696" y="5175504"/>
            <a:ext cx="3346704" cy="274320"/>
          </a:xfrm>
          <a:prstGeom prst="rect">
            <a:avLst/>
          </a:prstGeom>
          <a:solidFill>
            <a:srgbClr val="0F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43983" y="5184648"/>
            <a:ext cx="3310128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>
                <a:solidFill>
                  <a:srgbClr val="708299"/>
                </a:solidFill>
                <a:latin typeface="DM Sans"/>
              </a:rPr>
              <a:t>Best for: national agencies, banks, logistics platforms with existing systems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11312" y="2450592"/>
            <a:ext cx="3566160" cy="3108960"/>
          </a:xfrm>
          <a:prstGeom prst="rect">
            <a:avLst/>
          </a:prstGeom>
          <a:solidFill>
            <a:srgbClr val="1C3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11312" y="2560320"/>
            <a:ext cx="356616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0">
                <a:solidFill>
                  <a:srgbClr val="FFFFFF"/>
                </a:solidFill>
                <a:latin typeface="DM Sans"/>
              </a:rPr>
              <a:t>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3017520"/>
            <a:ext cx="3383279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FFFFFF"/>
                </a:solidFill>
                <a:latin typeface="DM Sans"/>
              </a:rPr>
              <a:t>Upload via UI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3383280"/>
            <a:ext cx="3346704" cy="1417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B0BDCC"/>
                </a:solidFill>
                <a:latin typeface="DM Sans"/>
              </a:rPr>
              <a:t>Use the web interface directly. Upload documents, register your organisation's DID, create consignments, and share trade data with partners — all from a browser. No technical integration needed.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321040" y="5175504"/>
            <a:ext cx="3346704" cy="274320"/>
          </a:xfrm>
          <a:prstGeom prst="rect">
            <a:avLst/>
          </a:prstGeom>
          <a:solidFill>
            <a:srgbClr val="1E10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39328" y="5184648"/>
            <a:ext cx="3310128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>
                <a:solidFill>
                  <a:srgbClr val="708299"/>
                </a:solidFill>
                <a:latin typeface="DM Sans"/>
              </a:rPr>
              <a:t>Best for: SMEs, importers, exporters with no dedicated IT team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5742432"/>
            <a:ext cx="11365992" cy="713232"/>
          </a:xfrm>
          <a:prstGeom prst="rect">
            <a:avLst/>
          </a:prstGeom>
          <a:solidFill>
            <a:srgbClr val="2B1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6072" y="5797296"/>
            <a:ext cx="274320" cy="60350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>
                <a:solidFill>
                  <a:srgbClr val="FF7200"/>
                </a:solidFill>
                <a:latin typeface="DM Sans"/>
              </a:rPr>
              <a:t>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797296"/>
            <a:ext cx="10771632" cy="60350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50" b="0">
                <a:solidFill>
                  <a:srgbClr val="B0BDCC"/>
                </a:solidFill>
                <a:latin typeface="DM Sans"/>
              </a:rPr>
              <a:t>All three paths produce the same result: your data on the ADAPT network, permissioned, verified, and anchored on the distributed ledger.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